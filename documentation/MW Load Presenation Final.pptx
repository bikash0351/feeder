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79" r:id="rId1"/>
  </p:sldMasterIdLst>
  <p:notesMasterIdLst>
    <p:notesMasterId r:id="rId31"/>
  </p:notesMasterIdLst>
  <p:sldIdLst>
    <p:sldId id="256" r:id="rId2"/>
    <p:sldId id="258" r:id="rId3"/>
    <p:sldId id="259" r:id="rId4"/>
    <p:sldId id="308" r:id="rId5"/>
    <p:sldId id="335" r:id="rId6"/>
    <p:sldId id="309" r:id="rId7"/>
    <p:sldId id="337" r:id="rId8"/>
    <p:sldId id="333" r:id="rId9"/>
    <p:sldId id="261" r:id="rId10"/>
    <p:sldId id="310" r:id="rId11"/>
    <p:sldId id="319" r:id="rId12"/>
    <p:sldId id="346" r:id="rId13"/>
    <p:sldId id="342" r:id="rId14"/>
    <p:sldId id="344" r:id="rId15"/>
    <p:sldId id="343" r:id="rId16"/>
    <p:sldId id="345" r:id="rId17"/>
    <p:sldId id="347" r:id="rId18"/>
    <p:sldId id="318" r:id="rId19"/>
    <p:sldId id="321" r:id="rId20"/>
    <p:sldId id="322" r:id="rId21"/>
    <p:sldId id="336" r:id="rId22"/>
    <p:sldId id="323" r:id="rId23"/>
    <p:sldId id="324" r:id="rId24"/>
    <p:sldId id="325" r:id="rId25"/>
    <p:sldId id="330" r:id="rId26"/>
    <p:sldId id="332" r:id="rId27"/>
    <p:sldId id="339" r:id="rId28"/>
    <p:sldId id="331" r:id="rId29"/>
    <p:sldId id="271" r:id="rId30"/>
  </p:sldIdLst>
  <p:sldSz cx="9144000" cy="5143500" type="screen16x9"/>
  <p:notesSz cx="6858000" cy="9144000"/>
  <p:embeddedFontLst>
    <p:embeddedFont>
      <p:font typeface="Cambria Math" panose="02040503050406030204" pitchFamily="18" charset="0"/>
      <p:regular r:id="rId32"/>
    </p:embeddedFont>
    <p:embeddedFont>
      <p:font typeface="Figtree Black" panose="020B0604020202020204" charset="0"/>
      <p:bold r:id="rId33"/>
      <p:boldItalic r:id="rId34"/>
    </p:embeddedFont>
    <p:embeddedFont>
      <p:font typeface="Hanken Grotesk" panose="020B0604020202020204" charset="0"/>
      <p:regular r:id="rId35"/>
      <p:bold r:id="rId36"/>
      <p:italic r:id="rId37"/>
      <p:boldItalic r:id="rId38"/>
    </p:embeddedFont>
    <p:embeddedFont>
      <p:font typeface="Lato" panose="020F0502020204030203" pitchFamily="34" charset="0"/>
      <p:regular r:id="rId39"/>
      <p:bold r:id="rId40"/>
      <p:italic r:id="rId41"/>
      <p:boldItalic r:id="rId42"/>
    </p:embeddedFont>
    <p:embeddedFont>
      <p:font typeface="Nunito Light" pitchFamily="2" charset="0"/>
      <p:regular r:id="rId43"/>
      <p:italic r:id="rId4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67C124C-4383-4433-BF00-F876295D7A82}">
  <a:tblStyle styleId="{E67C124C-4383-4433-BF00-F876295D7A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60"/>
  </p:normalViewPr>
  <p:slideViewPr>
    <p:cSldViewPr snapToGrid="0">
      <p:cViewPr varScale="1">
        <p:scale>
          <a:sx n="103" d="100"/>
          <a:sy n="103" d="100"/>
        </p:scale>
        <p:origin x="346"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2768bdccc6f_2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2768bdccc6f_2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161ca7da69_2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161ca7da69_2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64437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g133f6155f6d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4" name="Google Shape;334;g133f6155f6d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74743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79489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ed9256fe6f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ed9256fe6f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430430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742D4C-8EE3-A6AD-C65B-D0A5C91936EF}"/>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C90E6170-FDA2-E36B-152A-4C6382710C01}"/>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5A223DB-3045-E4BD-767C-44FB4FAA9BFA}"/>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5" name="Footer Placeholder 4">
            <a:extLst>
              <a:ext uri="{FF2B5EF4-FFF2-40B4-BE49-F238E27FC236}">
                <a16:creationId xmlns:a16="http://schemas.microsoft.com/office/drawing/2014/main" id="{8B45DC75-E4B3-2082-BB2C-B7EE198F17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6D67A1-13C4-9CCC-6EB5-E57F712F890B}"/>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2451367"/>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C3A5F3-DE4E-BA6C-5A8E-ADD556B69A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A38B5F-B404-F4DF-8D76-64E55E6F90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BE3024-D6E7-683B-7EBD-FFC670564E5F}"/>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5" name="Footer Placeholder 4">
            <a:extLst>
              <a:ext uri="{FF2B5EF4-FFF2-40B4-BE49-F238E27FC236}">
                <a16:creationId xmlns:a16="http://schemas.microsoft.com/office/drawing/2014/main" id="{62A8526E-AAA7-B25C-8AA7-F55B705BB3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29D90A-0FEE-94CC-BA8D-0DD38ED0B5A7}"/>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1253692305"/>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ED5512-999C-1C07-9FC3-4DC28B452135}"/>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0538F529-819A-B935-DC4D-1649C62F8EBD}"/>
              </a:ext>
            </a:extLst>
          </p:cNvPr>
          <p:cNvSpPr>
            <a:spLocks noGrp="1"/>
          </p:cNvSpPr>
          <p:nvPr>
            <p:ph type="body" idx="1"/>
          </p:nvPr>
        </p:nvSpPr>
        <p:spPr>
          <a:xfrm>
            <a:off x="623888" y="3442098"/>
            <a:ext cx="7886700" cy="1125140"/>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5599BF5-CC82-7875-285F-146DEBAD462C}"/>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5" name="Footer Placeholder 4">
            <a:extLst>
              <a:ext uri="{FF2B5EF4-FFF2-40B4-BE49-F238E27FC236}">
                <a16:creationId xmlns:a16="http://schemas.microsoft.com/office/drawing/2014/main" id="{5752D0DF-4554-4457-12DE-B61FFA6DA7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BFD5EF-39F9-FE0D-6C6D-A46D98A4F49E}"/>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547901571"/>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DF2B4-CAFF-AE39-BA0F-AA1739F1F1D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59DF2E-B626-3F10-4AEC-9445221743F8}"/>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3D31370-0CFE-A2FC-FB1E-47D8D3D4AD33}"/>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2EF9FFD-19DF-1DB5-E39C-F67D0DEC7ED4}"/>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6" name="Footer Placeholder 5">
            <a:extLst>
              <a:ext uri="{FF2B5EF4-FFF2-40B4-BE49-F238E27FC236}">
                <a16:creationId xmlns:a16="http://schemas.microsoft.com/office/drawing/2014/main" id="{29D3006B-FAC3-D0E5-E8B4-2EA128C0CED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CE07AE-24F8-D81F-7E71-44B4D6A3D231}"/>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94825758"/>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5AE63-D470-49A6-2F08-82E2EAFF1E66}"/>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00F0700-5E8D-4C58-D59C-0470A7DE580F}"/>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F819F389-204E-F76C-1334-3E496D07C6B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DA30ACF-F07E-0391-93ED-2E4B836BD90A}"/>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114D5C9-8654-A4E6-026D-2CB64A940B02}"/>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9D903C-5275-1624-4F9A-42E8D201847D}"/>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8" name="Footer Placeholder 7">
            <a:extLst>
              <a:ext uri="{FF2B5EF4-FFF2-40B4-BE49-F238E27FC236}">
                <a16:creationId xmlns:a16="http://schemas.microsoft.com/office/drawing/2014/main" id="{C5FD18CC-27E2-AA72-E42D-8EBA25278A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44EC9D5-6B47-43EB-DF86-3A52FF3C2146}"/>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526599390"/>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81796-2814-6C47-5104-98092995936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5C6620A-10B4-98FC-C3F6-1FEBF43B4444}"/>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4" name="Footer Placeholder 3">
            <a:extLst>
              <a:ext uri="{FF2B5EF4-FFF2-40B4-BE49-F238E27FC236}">
                <a16:creationId xmlns:a16="http://schemas.microsoft.com/office/drawing/2014/main" id="{2E44CA1A-B67D-DCA1-D3B4-B32849F4922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BCF95B9-0BB5-B726-02DF-77B335445541}"/>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329902304"/>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B7C6EB-A8AF-D16D-3CB8-74672C7334B9}"/>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3" name="Footer Placeholder 2">
            <a:extLst>
              <a:ext uri="{FF2B5EF4-FFF2-40B4-BE49-F238E27FC236}">
                <a16:creationId xmlns:a16="http://schemas.microsoft.com/office/drawing/2014/main" id="{2ED1DC6D-7424-BB0C-C1E0-5AE16D571A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A00B01-E4B7-6A35-9BE1-D70D758EA647}"/>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21847057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81C76F-3534-1887-9759-C76DCFE03571}"/>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C01F0F21-B3D2-B467-E1F5-9EF430A596CC}"/>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5989D4-8885-B203-E942-5D9802AD777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7CE943CD-B7CD-D1CB-27D0-55278A6E8BDB}"/>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6" name="Footer Placeholder 5">
            <a:extLst>
              <a:ext uri="{FF2B5EF4-FFF2-40B4-BE49-F238E27FC236}">
                <a16:creationId xmlns:a16="http://schemas.microsoft.com/office/drawing/2014/main" id="{2C1DFCD3-EC09-F41B-E689-01AF331597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A84C7D-C741-5817-CED4-F1D556DE156E}"/>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2164557841"/>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733B7-DFB6-5C6E-E93C-1485B74AAA97}"/>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F1F494B0-8F93-A15F-FBA4-CC4A5707871D}"/>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3873FAB-565C-D2B9-9E6F-304391240FA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017F11F2-EBC6-7634-AFEB-EFFF06C0E682}"/>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6" name="Footer Placeholder 5">
            <a:extLst>
              <a:ext uri="{FF2B5EF4-FFF2-40B4-BE49-F238E27FC236}">
                <a16:creationId xmlns:a16="http://schemas.microsoft.com/office/drawing/2014/main" id="{74BC3A7B-0A27-A080-CEFA-85CAEF6751E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17DAE9-6A7A-1A35-0E68-40747F279531}"/>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3220928044"/>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C03B3-18D8-F28B-AD9D-3BBA0F9C53A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A5B9052-630D-A4A9-CEA0-C8F1AF052D9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0970DAF-741A-7664-279A-331C15A4CC5F}"/>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5" name="Footer Placeholder 4">
            <a:extLst>
              <a:ext uri="{FF2B5EF4-FFF2-40B4-BE49-F238E27FC236}">
                <a16:creationId xmlns:a16="http://schemas.microsoft.com/office/drawing/2014/main" id="{84EEB1CE-8201-DF79-1AF3-E532F9692C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1CBAB4-805A-906F-639E-396A6CBEC8EB}"/>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2546306365"/>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7B2EF3-016C-B681-1A3C-19DD50424914}"/>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867FB8B-52D3-7A34-0D4D-0C6EDE51390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6182FE-1BF4-334F-54CC-996C2DF739CD}"/>
              </a:ext>
            </a:extLst>
          </p:cNvPr>
          <p:cNvSpPr>
            <a:spLocks noGrp="1"/>
          </p:cNvSpPr>
          <p:nvPr>
            <p:ph type="dt" sz="half" idx="10"/>
          </p:nvPr>
        </p:nvSpPr>
        <p:spPr/>
        <p:txBody>
          <a:bodyPr/>
          <a:lstStyle/>
          <a:p>
            <a:fld id="{1A90A598-0175-4F4C-B315-95405EC9EDA1}" type="datetimeFigureOut">
              <a:rPr lang="en-US" smtClean="0"/>
              <a:t>1/16/2026</a:t>
            </a:fld>
            <a:endParaRPr lang="en-US"/>
          </a:p>
        </p:txBody>
      </p:sp>
      <p:sp>
        <p:nvSpPr>
          <p:cNvPr id="5" name="Footer Placeholder 4">
            <a:extLst>
              <a:ext uri="{FF2B5EF4-FFF2-40B4-BE49-F238E27FC236}">
                <a16:creationId xmlns:a16="http://schemas.microsoft.com/office/drawing/2014/main" id="{B5AC9995-7F4A-B827-29B9-6406C2F6C7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7A8DB9-6BE0-4330-16A9-4F1BDD98C488}"/>
              </a:ext>
            </a:extLst>
          </p:cNvPr>
          <p:cNvSpPr>
            <a:spLocks noGrp="1"/>
          </p:cNvSpPr>
          <p:nvPr>
            <p:ph type="sldNum" sz="quarter" idx="12"/>
          </p:nvPr>
        </p:nvSpPr>
        <p:spPr/>
        <p:txBody>
          <a:bodyPr/>
          <a:lstStyle/>
          <a:p>
            <a:fld id="{72306B76-16F9-4795-AD14-3B8AE7C42EDF}" type="slidenum">
              <a:rPr lang="en-US" smtClean="0"/>
              <a:t>‹#›</a:t>
            </a:fld>
            <a:endParaRPr lang="en-US"/>
          </a:p>
        </p:txBody>
      </p:sp>
    </p:spTree>
    <p:extLst>
      <p:ext uri="{BB962C8B-B14F-4D97-AF65-F5344CB8AC3E}">
        <p14:creationId xmlns:p14="http://schemas.microsoft.com/office/powerpoint/2010/main" val="4222180054"/>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88"/>
        <p:cNvGrpSpPr/>
        <p:nvPr/>
      </p:nvGrpSpPr>
      <p:grpSpPr>
        <a:xfrm>
          <a:off x="0" y="0"/>
          <a:ext cx="0" cy="0"/>
          <a:chOff x="0" y="0"/>
          <a:chExt cx="0" cy="0"/>
        </a:xfrm>
      </p:grpSpPr>
      <p:sp>
        <p:nvSpPr>
          <p:cNvPr id="94" name="Google Shape;94;p13"/>
          <p:cNvSpPr txBox="1">
            <a:spLocks noGrp="1"/>
          </p:cNvSpPr>
          <p:nvPr>
            <p:ph type="title"/>
          </p:nvPr>
        </p:nvSpPr>
        <p:spPr>
          <a:xfrm>
            <a:off x="6632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95" name="Google Shape;95;p13"/>
          <p:cNvSpPr txBox="1">
            <a:spLocks noGrp="1"/>
          </p:cNvSpPr>
          <p:nvPr>
            <p:ph type="subTitle" idx="1"/>
          </p:nvPr>
        </p:nvSpPr>
        <p:spPr>
          <a:xfrm>
            <a:off x="78867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6" name="Google Shape;96;p13"/>
          <p:cNvSpPr txBox="1">
            <a:spLocks noGrp="1"/>
          </p:cNvSpPr>
          <p:nvPr>
            <p:ph type="subTitle" idx="2"/>
          </p:nvPr>
        </p:nvSpPr>
        <p:spPr>
          <a:xfrm>
            <a:off x="78867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7" name="Google Shape;97;p13"/>
          <p:cNvSpPr txBox="1">
            <a:spLocks noGrp="1"/>
          </p:cNvSpPr>
          <p:nvPr>
            <p:ph type="subTitle" idx="3"/>
          </p:nvPr>
        </p:nvSpPr>
        <p:spPr>
          <a:xfrm>
            <a:off x="3418500"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8" name="Google Shape;98;p13"/>
          <p:cNvSpPr txBox="1">
            <a:spLocks noGrp="1"/>
          </p:cNvSpPr>
          <p:nvPr>
            <p:ph type="subTitle" idx="4"/>
          </p:nvPr>
        </p:nvSpPr>
        <p:spPr>
          <a:xfrm>
            <a:off x="3418500"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99" name="Google Shape;99;p13"/>
          <p:cNvSpPr txBox="1">
            <a:spLocks noGrp="1"/>
          </p:cNvSpPr>
          <p:nvPr>
            <p:ph type="title" idx="5" hasCustomPrompt="1"/>
          </p:nvPr>
        </p:nvSpPr>
        <p:spPr>
          <a:xfrm>
            <a:off x="9195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0" name="Google Shape;100;p13"/>
          <p:cNvSpPr txBox="1">
            <a:spLocks noGrp="1"/>
          </p:cNvSpPr>
          <p:nvPr>
            <p:ph type="title" idx="6" hasCustomPrompt="1"/>
          </p:nvPr>
        </p:nvSpPr>
        <p:spPr>
          <a:xfrm>
            <a:off x="3509050"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1" name="Google Shape;101;p13"/>
          <p:cNvSpPr txBox="1">
            <a:spLocks noGrp="1"/>
          </p:cNvSpPr>
          <p:nvPr>
            <p:ph type="title" idx="7" hasCustomPrompt="1"/>
          </p:nvPr>
        </p:nvSpPr>
        <p:spPr>
          <a:xfrm>
            <a:off x="9195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2" name="Google Shape;102;p13"/>
          <p:cNvSpPr txBox="1">
            <a:spLocks noGrp="1"/>
          </p:cNvSpPr>
          <p:nvPr>
            <p:ph type="title" idx="8" hasCustomPrompt="1"/>
          </p:nvPr>
        </p:nvSpPr>
        <p:spPr>
          <a:xfrm>
            <a:off x="35282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3" name="Google Shape;103;p13"/>
          <p:cNvSpPr txBox="1">
            <a:spLocks noGrp="1"/>
          </p:cNvSpPr>
          <p:nvPr>
            <p:ph type="subTitle" idx="9"/>
          </p:nvPr>
        </p:nvSpPr>
        <p:spPr>
          <a:xfrm>
            <a:off x="6048325" y="3772552"/>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4" name="Google Shape;104;p13"/>
          <p:cNvSpPr txBox="1">
            <a:spLocks noGrp="1"/>
          </p:cNvSpPr>
          <p:nvPr>
            <p:ph type="subTitle" idx="13"/>
          </p:nvPr>
        </p:nvSpPr>
        <p:spPr>
          <a:xfrm>
            <a:off x="6048325" y="2105875"/>
            <a:ext cx="2305500" cy="572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None/>
              <a:defRPr/>
            </a:lvl2pPr>
            <a:lvl3pPr lvl="2" algn="ctr" rtl="0">
              <a:lnSpc>
                <a:spcPct val="115000"/>
              </a:lnSpc>
              <a:spcBef>
                <a:spcPts val="0"/>
              </a:spcBef>
              <a:spcAft>
                <a:spcPts val="0"/>
              </a:spcAft>
              <a:buSzPts val="1400"/>
              <a:buNone/>
              <a:defRPr/>
            </a:lvl3pPr>
            <a:lvl4pPr lvl="3" algn="ctr" rtl="0">
              <a:lnSpc>
                <a:spcPct val="115000"/>
              </a:lnSpc>
              <a:spcBef>
                <a:spcPts val="0"/>
              </a:spcBef>
              <a:spcAft>
                <a:spcPts val="0"/>
              </a:spcAft>
              <a:buSzPts val="1400"/>
              <a:buNone/>
              <a:defRPr/>
            </a:lvl4pPr>
            <a:lvl5pPr lvl="4" algn="ctr" rtl="0">
              <a:lnSpc>
                <a:spcPct val="115000"/>
              </a:lnSpc>
              <a:spcBef>
                <a:spcPts val="0"/>
              </a:spcBef>
              <a:spcAft>
                <a:spcPts val="0"/>
              </a:spcAft>
              <a:buSzPts val="1400"/>
              <a:buNone/>
              <a:defRPr/>
            </a:lvl5pPr>
            <a:lvl6pPr lvl="5" algn="ctr" rtl="0">
              <a:lnSpc>
                <a:spcPct val="115000"/>
              </a:lnSpc>
              <a:spcBef>
                <a:spcPts val="0"/>
              </a:spcBef>
              <a:spcAft>
                <a:spcPts val="0"/>
              </a:spcAft>
              <a:buSzPts val="1400"/>
              <a:buNone/>
              <a:defRPr/>
            </a:lvl6pPr>
            <a:lvl7pPr lvl="6" algn="ctr" rtl="0">
              <a:lnSpc>
                <a:spcPct val="115000"/>
              </a:lnSpc>
              <a:spcBef>
                <a:spcPts val="0"/>
              </a:spcBef>
              <a:spcAft>
                <a:spcPts val="0"/>
              </a:spcAft>
              <a:buSzPts val="1400"/>
              <a:buNone/>
              <a:defRPr/>
            </a:lvl7pPr>
            <a:lvl8pPr lvl="7" algn="ctr" rtl="0">
              <a:lnSpc>
                <a:spcPct val="115000"/>
              </a:lnSpc>
              <a:spcBef>
                <a:spcPts val="0"/>
              </a:spcBef>
              <a:spcAft>
                <a:spcPts val="0"/>
              </a:spcAft>
              <a:buSzPts val="1400"/>
              <a:buNone/>
              <a:defRPr/>
            </a:lvl8pPr>
            <a:lvl9pPr lvl="8" algn="ctr" rtl="0">
              <a:lnSpc>
                <a:spcPct val="115000"/>
              </a:lnSpc>
              <a:spcBef>
                <a:spcPts val="0"/>
              </a:spcBef>
              <a:spcAft>
                <a:spcPts val="0"/>
              </a:spcAft>
              <a:buSzPts val="1400"/>
              <a:buNone/>
              <a:defRPr/>
            </a:lvl9pPr>
          </a:lstStyle>
          <a:p>
            <a:endParaRPr/>
          </a:p>
        </p:txBody>
      </p:sp>
      <p:sp>
        <p:nvSpPr>
          <p:cNvPr id="105" name="Google Shape;105;p13"/>
          <p:cNvSpPr txBox="1">
            <a:spLocks noGrp="1"/>
          </p:cNvSpPr>
          <p:nvPr>
            <p:ph type="title" idx="14" hasCustomPrompt="1"/>
          </p:nvPr>
        </p:nvSpPr>
        <p:spPr>
          <a:xfrm>
            <a:off x="6136975" y="2977575"/>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6" name="Google Shape;106;p13"/>
          <p:cNvSpPr txBox="1">
            <a:spLocks noGrp="1"/>
          </p:cNvSpPr>
          <p:nvPr>
            <p:ph type="title" idx="15" hasCustomPrompt="1"/>
          </p:nvPr>
        </p:nvSpPr>
        <p:spPr>
          <a:xfrm>
            <a:off x="6136975" y="1319650"/>
            <a:ext cx="365700" cy="365700"/>
          </a:xfrm>
          <a:prstGeom prst="rect">
            <a:avLst/>
          </a:prstGeom>
          <a:solidFill>
            <a:schemeClr val="dk1"/>
          </a:solidFill>
        </p:spPr>
        <p:txBody>
          <a:bodyPr spcFirstLastPara="1" wrap="square" lIns="91425" tIns="91425" rIns="91425" bIns="91425" anchor="ctr" anchorCtr="0">
            <a:noAutofit/>
          </a:bodyPr>
          <a:lstStyle>
            <a:lvl1pPr lvl="0" algn="ctr" rtl="0">
              <a:lnSpc>
                <a:spcPct val="115000"/>
              </a:lnSpc>
              <a:spcBef>
                <a:spcPts val="0"/>
              </a:spcBef>
              <a:spcAft>
                <a:spcPts val="0"/>
              </a:spcAft>
              <a:buSzPts val="3000"/>
              <a:buNone/>
              <a:defRPr sz="1100">
                <a:solidFill>
                  <a:schemeClr val="l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107" name="Google Shape;107;p13"/>
          <p:cNvSpPr txBox="1">
            <a:spLocks noGrp="1"/>
          </p:cNvSpPr>
          <p:nvPr>
            <p:ph type="subTitle" idx="16"/>
          </p:nvPr>
        </p:nvSpPr>
        <p:spPr>
          <a:xfrm>
            <a:off x="78867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8" name="Google Shape;108;p13"/>
          <p:cNvSpPr txBox="1">
            <a:spLocks noGrp="1"/>
          </p:cNvSpPr>
          <p:nvPr>
            <p:ph type="subTitle" idx="17"/>
          </p:nvPr>
        </p:nvSpPr>
        <p:spPr>
          <a:xfrm>
            <a:off x="78867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09" name="Google Shape;109;p13"/>
          <p:cNvSpPr txBox="1">
            <a:spLocks noGrp="1"/>
          </p:cNvSpPr>
          <p:nvPr>
            <p:ph type="subTitle" idx="18"/>
          </p:nvPr>
        </p:nvSpPr>
        <p:spPr>
          <a:xfrm>
            <a:off x="3418500"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0" name="Google Shape;110;p13"/>
          <p:cNvSpPr txBox="1">
            <a:spLocks noGrp="1"/>
          </p:cNvSpPr>
          <p:nvPr>
            <p:ph type="subTitle" idx="19"/>
          </p:nvPr>
        </p:nvSpPr>
        <p:spPr>
          <a:xfrm>
            <a:off x="3418500"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1" name="Google Shape;111;p13"/>
          <p:cNvSpPr txBox="1">
            <a:spLocks noGrp="1"/>
          </p:cNvSpPr>
          <p:nvPr>
            <p:ph type="subTitle" idx="20"/>
          </p:nvPr>
        </p:nvSpPr>
        <p:spPr>
          <a:xfrm>
            <a:off x="6048325" y="3503023"/>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12" name="Google Shape;112;p13"/>
          <p:cNvSpPr txBox="1">
            <a:spLocks noGrp="1"/>
          </p:cNvSpPr>
          <p:nvPr>
            <p:ph type="subTitle" idx="21"/>
          </p:nvPr>
        </p:nvSpPr>
        <p:spPr>
          <a:xfrm>
            <a:off x="6048325" y="1848775"/>
            <a:ext cx="2305500" cy="3852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800">
                <a:latin typeface="Figtree Black"/>
                <a:ea typeface="Figtree Black"/>
                <a:cs typeface="Figtree Black"/>
                <a:sym typeface="Figtree Black"/>
              </a:defRPr>
            </a:lvl1pPr>
            <a:lvl2pPr lvl="1"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algn="ctr"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extLst>
      <p:ext uri="{BB962C8B-B14F-4D97-AF65-F5344CB8AC3E}">
        <p14:creationId xmlns:p14="http://schemas.microsoft.com/office/powerpoint/2010/main" val="32099417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1_Section header">
    <p:spTree>
      <p:nvGrpSpPr>
        <p:cNvPr id="1" name="Shape 16"/>
        <p:cNvGrpSpPr/>
        <p:nvPr/>
      </p:nvGrpSpPr>
      <p:grpSpPr>
        <a:xfrm>
          <a:off x="0" y="0"/>
          <a:ext cx="0" cy="0"/>
          <a:chOff x="0" y="0"/>
          <a:chExt cx="0" cy="0"/>
        </a:xfrm>
      </p:grpSpPr>
      <p:sp>
        <p:nvSpPr>
          <p:cNvPr id="22" name="Google Shape;22;p3"/>
          <p:cNvSpPr txBox="1">
            <a:spLocks noGrp="1"/>
          </p:cNvSpPr>
          <p:nvPr>
            <p:ph type="title"/>
          </p:nvPr>
        </p:nvSpPr>
        <p:spPr>
          <a:xfrm>
            <a:off x="1216475" y="1977150"/>
            <a:ext cx="50676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23" name="Google Shape;23;p3"/>
          <p:cNvSpPr txBox="1">
            <a:spLocks noGrp="1"/>
          </p:cNvSpPr>
          <p:nvPr>
            <p:ph type="title" idx="2" hasCustomPrompt="1"/>
          </p:nvPr>
        </p:nvSpPr>
        <p:spPr>
          <a:xfrm>
            <a:off x="720000" y="533550"/>
            <a:ext cx="824400" cy="705000"/>
          </a:xfrm>
          <a:prstGeom prst="rect">
            <a:avLst/>
          </a:prstGeom>
          <a:solidFill>
            <a:schemeClr val="dk1"/>
          </a:solidFill>
        </p:spPr>
        <p:txBody>
          <a:bodyPr spcFirstLastPara="1" wrap="square" lIns="91425" tIns="91425" rIns="91425" bIns="91425" anchor="ctr" anchorCtr="0">
            <a:noAutofit/>
          </a:bodyPr>
          <a:lstStyle>
            <a:lvl1pPr lvl="0" algn="ctr" rtl="0">
              <a:spcBef>
                <a:spcPts val="0"/>
              </a:spcBef>
              <a:spcAft>
                <a:spcPts val="0"/>
              </a:spcAft>
              <a:buSzPts val="6000"/>
              <a:buNone/>
              <a:defRPr sz="3300">
                <a:solidFill>
                  <a:schemeClr val="lt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24" name="Google Shape;24;p3"/>
          <p:cNvSpPr txBox="1">
            <a:spLocks noGrp="1"/>
          </p:cNvSpPr>
          <p:nvPr>
            <p:ph type="subTitle" idx="1"/>
          </p:nvPr>
        </p:nvSpPr>
        <p:spPr>
          <a:xfrm>
            <a:off x="1216475" y="2730750"/>
            <a:ext cx="5067600" cy="435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dk1"/>
              </a:buClr>
              <a:buSzPts val="1400"/>
              <a:buNone/>
              <a:defRPr>
                <a:solidFill>
                  <a:schemeClr val="dk1"/>
                </a:solidFill>
                <a:latin typeface="Hanken Grotesk"/>
                <a:ea typeface="Hanken Grotesk"/>
                <a:cs typeface="Hanken Grotesk"/>
                <a:sym typeface="Hanken Grotesk"/>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None/>
              <a:defRPr>
                <a:solidFill>
                  <a:schemeClr val="dk1"/>
                </a:solidFill>
              </a:defRPr>
            </a:lvl4pPr>
            <a:lvl5pPr lvl="4" algn="ctr" rtl="0">
              <a:lnSpc>
                <a:spcPct val="100000"/>
              </a:lnSpc>
              <a:spcBef>
                <a:spcPts val="0"/>
              </a:spcBef>
              <a:spcAft>
                <a:spcPts val="0"/>
              </a:spcAft>
              <a:buClr>
                <a:schemeClr val="dk1"/>
              </a:buClr>
              <a:buSzPts val="1400"/>
              <a:buNone/>
              <a:defRPr>
                <a:solidFill>
                  <a:schemeClr val="dk1"/>
                </a:solidFill>
              </a:defRPr>
            </a:lvl5pPr>
            <a:lvl6pPr lvl="5" algn="ctr" rtl="0">
              <a:lnSpc>
                <a:spcPct val="100000"/>
              </a:lnSpc>
              <a:spcBef>
                <a:spcPts val="0"/>
              </a:spcBef>
              <a:spcAft>
                <a:spcPts val="0"/>
              </a:spcAft>
              <a:buClr>
                <a:schemeClr val="dk1"/>
              </a:buClr>
              <a:buSzPts val="1400"/>
              <a:buNone/>
              <a:defRPr>
                <a:solidFill>
                  <a:schemeClr val="dk1"/>
                </a:solidFill>
              </a:defRPr>
            </a:lvl6pPr>
            <a:lvl7pPr lvl="6" algn="ctr" rtl="0">
              <a:lnSpc>
                <a:spcPct val="100000"/>
              </a:lnSpc>
              <a:spcBef>
                <a:spcPts val="0"/>
              </a:spcBef>
              <a:spcAft>
                <a:spcPts val="0"/>
              </a:spcAft>
              <a:buClr>
                <a:schemeClr val="dk1"/>
              </a:buClr>
              <a:buSzPts val="1400"/>
              <a:buNone/>
              <a:defRPr>
                <a:solidFill>
                  <a:schemeClr val="dk1"/>
                </a:solidFill>
              </a:defRPr>
            </a:lvl7pPr>
            <a:lvl8pPr lvl="7" algn="ctr" rtl="0">
              <a:lnSpc>
                <a:spcPct val="100000"/>
              </a:lnSpc>
              <a:spcBef>
                <a:spcPts val="0"/>
              </a:spcBef>
              <a:spcAft>
                <a:spcPts val="0"/>
              </a:spcAft>
              <a:buClr>
                <a:schemeClr val="dk1"/>
              </a:buClr>
              <a:buSzPts val="1400"/>
              <a:buNone/>
              <a:defRPr>
                <a:solidFill>
                  <a:schemeClr val="dk1"/>
                </a:solidFill>
              </a:defRPr>
            </a:lvl8pPr>
            <a:lvl9pPr lvl="8" algn="ctr" rtl="0">
              <a:lnSpc>
                <a:spcPct val="100000"/>
              </a:lnSpc>
              <a:spcBef>
                <a:spcPts val="0"/>
              </a:spcBef>
              <a:spcAft>
                <a:spcPts val="0"/>
              </a:spcAft>
              <a:buClr>
                <a:schemeClr val="dk1"/>
              </a:buClr>
              <a:buSzPts val="1400"/>
              <a:buNone/>
              <a:defRPr>
                <a:solidFill>
                  <a:schemeClr val="dk1"/>
                </a:solidFill>
              </a:defRPr>
            </a:lvl9pPr>
          </a:lstStyle>
          <a:p>
            <a:endParaRPr/>
          </a:p>
        </p:txBody>
      </p:sp>
    </p:spTree>
    <p:extLst>
      <p:ext uri="{BB962C8B-B14F-4D97-AF65-F5344CB8AC3E}">
        <p14:creationId xmlns:p14="http://schemas.microsoft.com/office/powerpoint/2010/main" val="26266465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13"/>
        <p:cNvGrpSpPr/>
        <p:nvPr/>
      </p:nvGrpSpPr>
      <p:grpSpPr>
        <a:xfrm>
          <a:off x="0" y="0"/>
          <a:ext cx="0" cy="0"/>
          <a:chOff x="0" y="0"/>
          <a:chExt cx="0" cy="0"/>
        </a:xfrm>
      </p:grpSpPr>
      <p:sp>
        <p:nvSpPr>
          <p:cNvPr id="119" name="Google Shape;119;p14"/>
          <p:cNvSpPr txBox="1">
            <a:spLocks noGrp="1"/>
          </p:cNvSpPr>
          <p:nvPr>
            <p:ph type="title"/>
          </p:nvPr>
        </p:nvSpPr>
        <p:spPr>
          <a:xfrm>
            <a:off x="2212125" y="2464650"/>
            <a:ext cx="5913900" cy="531900"/>
          </a:xfrm>
          <a:prstGeom prst="rect">
            <a:avLst/>
          </a:prstGeom>
        </p:spPr>
        <p:txBody>
          <a:bodyPr spcFirstLastPara="1" wrap="square" lIns="91425" tIns="91425" rIns="91425" bIns="91425" anchor="t" anchorCtr="0">
            <a:noAutofit/>
          </a:bodyPr>
          <a:lstStyle>
            <a:lvl1pPr lvl="0" algn="r" rtl="0">
              <a:lnSpc>
                <a:spcPct val="115000"/>
              </a:lnSpc>
              <a:spcBef>
                <a:spcPts val="0"/>
              </a:spcBef>
              <a:spcAft>
                <a:spcPts val="0"/>
              </a:spcAft>
              <a:buSzPts val="3000"/>
              <a:buNone/>
              <a:defRPr sz="28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120" name="Google Shape;120;p14"/>
          <p:cNvSpPr txBox="1">
            <a:spLocks noGrp="1"/>
          </p:cNvSpPr>
          <p:nvPr>
            <p:ph type="subTitle" idx="1"/>
          </p:nvPr>
        </p:nvSpPr>
        <p:spPr>
          <a:xfrm>
            <a:off x="2212125" y="838350"/>
            <a:ext cx="5913900" cy="16263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000"/>
              <a:buNone/>
              <a:defRPr sz="2500">
                <a:latin typeface="Hanken Grotesk"/>
                <a:ea typeface="Hanken Grotesk"/>
                <a:cs typeface="Hanken Grotesk"/>
                <a:sym typeface="Hanken Grotesk"/>
              </a:defRPr>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extLst>
      <p:ext uri="{BB962C8B-B14F-4D97-AF65-F5344CB8AC3E}">
        <p14:creationId xmlns:p14="http://schemas.microsoft.com/office/powerpoint/2010/main" val="10837388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166"/>
        <p:cNvGrpSpPr/>
        <p:nvPr/>
      </p:nvGrpSpPr>
      <p:grpSpPr>
        <a:xfrm>
          <a:off x="0" y="0"/>
          <a:ext cx="0" cy="0"/>
          <a:chOff x="0" y="0"/>
          <a:chExt cx="0" cy="0"/>
        </a:xfrm>
      </p:grpSpPr>
      <p:sp>
        <p:nvSpPr>
          <p:cNvPr id="176" name="Google Shape;176;p20"/>
          <p:cNvSpPr txBox="1">
            <a:spLocks noGrp="1"/>
          </p:cNvSpPr>
          <p:nvPr>
            <p:ph type="title"/>
          </p:nvPr>
        </p:nvSpPr>
        <p:spPr>
          <a:xfrm>
            <a:off x="713225" y="445025"/>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77" name="Google Shape;177;p20"/>
          <p:cNvSpPr txBox="1">
            <a:spLocks noGrp="1"/>
          </p:cNvSpPr>
          <p:nvPr>
            <p:ph type="subTitle" idx="1"/>
          </p:nvPr>
        </p:nvSpPr>
        <p:spPr>
          <a:xfrm>
            <a:off x="1731050" y="1640570"/>
            <a:ext cx="6613200" cy="5304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8" name="Google Shape;178;p20"/>
          <p:cNvSpPr txBox="1">
            <a:spLocks noGrp="1"/>
          </p:cNvSpPr>
          <p:nvPr>
            <p:ph type="subTitle" idx="2"/>
          </p:nvPr>
        </p:nvSpPr>
        <p:spPr>
          <a:xfrm>
            <a:off x="1731050" y="280036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79" name="Google Shape;179;p20"/>
          <p:cNvSpPr txBox="1">
            <a:spLocks noGrp="1"/>
          </p:cNvSpPr>
          <p:nvPr>
            <p:ph type="subTitle" idx="3"/>
          </p:nvPr>
        </p:nvSpPr>
        <p:spPr>
          <a:xfrm>
            <a:off x="1731050" y="3957450"/>
            <a:ext cx="6613200" cy="5277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400"/>
              <a:buNone/>
              <a:defRPr sz="1400">
                <a:latin typeface="Hanken Grotesk"/>
                <a:ea typeface="Hanken Grotesk"/>
                <a:cs typeface="Hanken Grotesk"/>
                <a:sym typeface="Hanken Grotesk"/>
              </a:defRPr>
            </a:lvl1pPr>
            <a:lvl2pPr lvl="1" rtl="0">
              <a:lnSpc>
                <a:spcPct val="115000"/>
              </a:lnSpc>
              <a:spcBef>
                <a:spcPts val="0"/>
              </a:spcBef>
              <a:spcAft>
                <a:spcPts val="0"/>
              </a:spcAft>
              <a:buSzPts val="1400"/>
              <a:buNone/>
              <a:defRPr/>
            </a:lvl2pPr>
            <a:lvl3pPr lvl="2" rtl="0">
              <a:lnSpc>
                <a:spcPct val="115000"/>
              </a:lnSpc>
              <a:spcBef>
                <a:spcPts val="0"/>
              </a:spcBef>
              <a:spcAft>
                <a:spcPts val="0"/>
              </a:spcAft>
              <a:buSzPts val="1400"/>
              <a:buNone/>
              <a:defRPr/>
            </a:lvl3pPr>
            <a:lvl4pPr lvl="3" rtl="0">
              <a:lnSpc>
                <a:spcPct val="115000"/>
              </a:lnSpc>
              <a:spcBef>
                <a:spcPts val="0"/>
              </a:spcBef>
              <a:spcAft>
                <a:spcPts val="0"/>
              </a:spcAft>
              <a:buSzPts val="1400"/>
              <a:buNone/>
              <a:defRPr/>
            </a:lvl4pPr>
            <a:lvl5pPr lvl="4" rtl="0">
              <a:lnSpc>
                <a:spcPct val="115000"/>
              </a:lnSpc>
              <a:spcBef>
                <a:spcPts val="0"/>
              </a:spcBef>
              <a:spcAft>
                <a:spcPts val="0"/>
              </a:spcAft>
              <a:buSzPts val="1400"/>
              <a:buNone/>
              <a:defRPr/>
            </a:lvl5pPr>
            <a:lvl6pPr lvl="5" rtl="0">
              <a:lnSpc>
                <a:spcPct val="115000"/>
              </a:lnSpc>
              <a:spcBef>
                <a:spcPts val="0"/>
              </a:spcBef>
              <a:spcAft>
                <a:spcPts val="0"/>
              </a:spcAft>
              <a:buSzPts val="1400"/>
              <a:buNone/>
              <a:defRPr/>
            </a:lvl6pPr>
            <a:lvl7pPr lvl="6" rtl="0">
              <a:lnSpc>
                <a:spcPct val="115000"/>
              </a:lnSpc>
              <a:spcBef>
                <a:spcPts val="0"/>
              </a:spcBef>
              <a:spcAft>
                <a:spcPts val="0"/>
              </a:spcAft>
              <a:buSzPts val="1400"/>
              <a:buNone/>
              <a:defRPr/>
            </a:lvl7pPr>
            <a:lvl8pPr lvl="7" rtl="0">
              <a:lnSpc>
                <a:spcPct val="115000"/>
              </a:lnSpc>
              <a:spcBef>
                <a:spcPts val="0"/>
              </a:spcBef>
              <a:spcAft>
                <a:spcPts val="0"/>
              </a:spcAft>
              <a:buSzPts val="1400"/>
              <a:buNone/>
              <a:defRPr/>
            </a:lvl8pPr>
            <a:lvl9pPr lvl="8" rtl="0">
              <a:lnSpc>
                <a:spcPct val="115000"/>
              </a:lnSpc>
              <a:spcBef>
                <a:spcPts val="0"/>
              </a:spcBef>
              <a:spcAft>
                <a:spcPts val="0"/>
              </a:spcAft>
              <a:buSzPts val="1400"/>
              <a:buNone/>
              <a:defRPr/>
            </a:lvl9pPr>
          </a:lstStyle>
          <a:p>
            <a:endParaRPr/>
          </a:p>
        </p:txBody>
      </p:sp>
      <p:sp>
        <p:nvSpPr>
          <p:cNvPr id="180" name="Google Shape;180;p20"/>
          <p:cNvSpPr txBox="1">
            <a:spLocks noGrp="1"/>
          </p:cNvSpPr>
          <p:nvPr>
            <p:ph type="subTitle" idx="4"/>
          </p:nvPr>
        </p:nvSpPr>
        <p:spPr>
          <a:xfrm>
            <a:off x="1731050" y="1241275"/>
            <a:ext cx="6613200" cy="5304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1" name="Google Shape;181;p20"/>
          <p:cNvSpPr txBox="1">
            <a:spLocks noGrp="1"/>
          </p:cNvSpPr>
          <p:nvPr>
            <p:ph type="subTitle" idx="5"/>
          </p:nvPr>
        </p:nvSpPr>
        <p:spPr>
          <a:xfrm>
            <a:off x="1731050" y="2395400"/>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
        <p:nvSpPr>
          <p:cNvPr id="182" name="Google Shape;182;p20"/>
          <p:cNvSpPr txBox="1">
            <a:spLocks noGrp="1"/>
          </p:cNvSpPr>
          <p:nvPr>
            <p:ph type="subTitle" idx="6"/>
          </p:nvPr>
        </p:nvSpPr>
        <p:spPr>
          <a:xfrm>
            <a:off x="1731050" y="3546826"/>
            <a:ext cx="6613200" cy="527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2pPr>
            <a:lvl3pPr lvl="2"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3pPr>
            <a:lvl4pPr lvl="3"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4pPr>
            <a:lvl5pPr lvl="4"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5pPr>
            <a:lvl6pPr lvl="5"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6pPr>
            <a:lvl7pPr lvl="6"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7pPr>
            <a:lvl8pPr lvl="7"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8pPr>
            <a:lvl9pPr lvl="8" rtl="0">
              <a:lnSpc>
                <a:spcPct val="115000"/>
              </a:lnSpc>
              <a:spcBef>
                <a:spcPts val="0"/>
              </a:spcBef>
              <a:spcAft>
                <a:spcPts val="0"/>
              </a:spcAft>
              <a:buSzPts val="2400"/>
              <a:buFont typeface="Figtree Black"/>
              <a:buNone/>
              <a:defRPr sz="2400">
                <a:latin typeface="Figtree Black"/>
                <a:ea typeface="Figtree Black"/>
                <a:cs typeface="Figtree Black"/>
                <a:sym typeface="Figtree Black"/>
              </a:defRPr>
            </a:lvl9pPr>
          </a:lstStyle>
          <a:p>
            <a:endParaRPr/>
          </a:p>
        </p:txBody>
      </p:sp>
    </p:spTree>
    <p:extLst>
      <p:ext uri="{BB962C8B-B14F-4D97-AF65-F5344CB8AC3E}">
        <p14:creationId xmlns:p14="http://schemas.microsoft.com/office/powerpoint/2010/main" val="11732337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137"/>
        <p:cNvGrpSpPr/>
        <p:nvPr/>
      </p:nvGrpSpPr>
      <p:grpSpPr>
        <a:xfrm>
          <a:off x="0" y="0"/>
          <a:ext cx="0" cy="0"/>
          <a:chOff x="0" y="0"/>
          <a:chExt cx="0" cy="0"/>
        </a:xfrm>
      </p:grpSpPr>
      <p:sp>
        <p:nvSpPr>
          <p:cNvPr id="143" name="Google Shape;143;p17"/>
          <p:cNvSpPr txBox="1">
            <a:spLocks noGrp="1"/>
          </p:cNvSpPr>
          <p:nvPr>
            <p:ph type="title"/>
          </p:nvPr>
        </p:nvSpPr>
        <p:spPr>
          <a:xfrm>
            <a:off x="722376" y="445025"/>
            <a:ext cx="77085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sz="2800"/>
            </a:lvl1pPr>
            <a:lvl2pPr lvl="1">
              <a:spcBef>
                <a:spcPts val="0"/>
              </a:spcBef>
              <a:spcAft>
                <a:spcPts val="0"/>
              </a:spcAft>
              <a:buSzPts val="3000"/>
              <a:buNone/>
              <a:defRPr>
                <a:latin typeface="Lato"/>
                <a:ea typeface="Lato"/>
                <a:cs typeface="Lato"/>
                <a:sym typeface="Lato"/>
              </a:defRPr>
            </a:lvl2pPr>
            <a:lvl3pPr lvl="2">
              <a:spcBef>
                <a:spcPts val="0"/>
              </a:spcBef>
              <a:spcAft>
                <a:spcPts val="0"/>
              </a:spcAft>
              <a:buSzPts val="3000"/>
              <a:buNone/>
              <a:defRPr>
                <a:latin typeface="Lato"/>
                <a:ea typeface="Lato"/>
                <a:cs typeface="Lato"/>
                <a:sym typeface="Lato"/>
              </a:defRPr>
            </a:lvl3pPr>
            <a:lvl4pPr lvl="3">
              <a:spcBef>
                <a:spcPts val="0"/>
              </a:spcBef>
              <a:spcAft>
                <a:spcPts val="0"/>
              </a:spcAft>
              <a:buSzPts val="3000"/>
              <a:buNone/>
              <a:defRPr>
                <a:latin typeface="Lato"/>
                <a:ea typeface="Lato"/>
                <a:cs typeface="Lato"/>
                <a:sym typeface="Lato"/>
              </a:defRPr>
            </a:lvl4pPr>
            <a:lvl5pPr lvl="4">
              <a:spcBef>
                <a:spcPts val="0"/>
              </a:spcBef>
              <a:spcAft>
                <a:spcPts val="0"/>
              </a:spcAft>
              <a:buSzPts val="3000"/>
              <a:buNone/>
              <a:defRPr>
                <a:latin typeface="Lato"/>
                <a:ea typeface="Lato"/>
                <a:cs typeface="Lato"/>
                <a:sym typeface="Lato"/>
              </a:defRPr>
            </a:lvl5pPr>
            <a:lvl6pPr lvl="5">
              <a:spcBef>
                <a:spcPts val="0"/>
              </a:spcBef>
              <a:spcAft>
                <a:spcPts val="0"/>
              </a:spcAft>
              <a:buSzPts val="3000"/>
              <a:buNone/>
              <a:defRPr>
                <a:latin typeface="Lato"/>
                <a:ea typeface="Lato"/>
                <a:cs typeface="Lato"/>
                <a:sym typeface="Lato"/>
              </a:defRPr>
            </a:lvl6pPr>
            <a:lvl7pPr lvl="6">
              <a:spcBef>
                <a:spcPts val="0"/>
              </a:spcBef>
              <a:spcAft>
                <a:spcPts val="0"/>
              </a:spcAft>
              <a:buSzPts val="3000"/>
              <a:buNone/>
              <a:defRPr>
                <a:latin typeface="Lato"/>
                <a:ea typeface="Lato"/>
                <a:cs typeface="Lato"/>
                <a:sym typeface="Lato"/>
              </a:defRPr>
            </a:lvl7pPr>
            <a:lvl8pPr lvl="7">
              <a:spcBef>
                <a:spcPts val="0"/>
              </a:spcBef>
              <a:spcAft>
                <a:spcPts val="0"/>
              </a:spcAft>
              <a:buSzPts val="3000"/>
              <a:buNone/>
              <a:defRPr>
                <a:latin typeface="Lato"/>
                <a:ea typeface="Lato"/>
                <a:cs typeface="Lato"/>
                <a:sym typeface="Lato"/>
              </a:defRPr>
            </a:lvl8pPr>
            <a:lvl9pPr lvl="8">
              <a:spcBef>
                <a:spcPts val="0"/>
              </a:spcBef>
              <a:spcAft>
                <a:spcPts val="0"/>
              </a:spcAft>
              <a:buSzPts val="3000"/>
              <a:buNone/>
              <a:defRPr>
                <a:latin typeface="Lato"/>
                <a:ea typeface="Lato"/>
                <a:cs typeface="Lato"/>
                <a:sym typeface="Lato"/>
              </a:defRPr>
            </a:lvl9pPr>
          </a:lstStyle>
          <a:p>
            <a:endParaRPr/>
          </a:p>
        </p:txBody>
      </p:sp>
      <p:sp>
        <p:nvSpPr>
          <p:cNvPr id="144" name="Google Shape;144;p17"/>
          <p:cNvSpPr txBox="1">
            <a:spLocks noGrp="1"/>
          </p:cNvSpPr>
          <p:nvPr>
            <p:ph type="subTitle" idx="1"/>
          </p:nvPr>
        </p:nvSpPr>
        <p:spPr>
          <a:xfrm>
            <a:off x="713250" y="1017725"/>
            <a:ext cx="7717500" cy="889800"/>
          </a:xfrm>
          <a:prstGeom prst="rect">
            <a:avLst/>
          </a:prstGeom>
        </p:spPr>
        <p:txBody>
          <a:bodyPr spcFirstLastPara="1" wrap="square" lIns="91425" tIns="91425" rIns="91425" bIns="91425" anchor="t" anchorCtr="0">
            <a:noAutofit/>
          </a:bodyPr>
          <a:lstStyle>
            <a:lvl1pPr lvl="0" rtl="0">
              <a:spcBef>
                <a:spcPts val="0"/>
              </a:spcBef>
              <a:spcAft>
                <a:spcPts val="0"/>
              </a:spcAft>
              <a:buSzPts val="1200"/>
              <a:buChar char="●"/>
              <a:defRPr/>
            </a:lvl1pPr>
            <a:lvl2pPr lvl="1" algn="ctr" rtl="0">
              <a:lnSpc>
                <a:spcPct val="100000"/>
              </a:lnSpc>
              <a:spcBef>
                <a:spcPts val="0"/>
              </a:spcBef>
              <a:spcAft>
                <a:spcPts val="0"/>
              </a:spcAft>
              <a:buSzPts val="1400"/>
              <a:buChar char="○"/>
              <a:defRPr/>
            </a:lvl2pPr>
            <a:lvl3pPr lvl="2" algn="ctr" rtl="0">
              <a:lnSpc>
                <a:spcPct val="100000"/>
              </a:lnSpc>
              <a:spcBef>
                <a:spcPts val="0"/>
              </a:spcBef>
              <a:spcAft>
                <a:spcPts val="0"/>
              </a:spcAft>
              <a:buSzPts val="1400"/>
              <a:buChar char="■"/>
              <a:defRPr/>
            </a:lvl3pPr>
            <a:lvl4pPr lvl="3" algn="ctr" rtl="0">
              <a:lnSpc>
                <a:spcPct val="100000"/>
              </a:lnSpc>
              <a:spcBef>
                <a:spcPts val="0"/>
              </a:spcBef>
              <a:spcAft>
                <a:spcPts val="0"/>
              </a:spcAft>
              <a:buSzPts val="1400"/>
              <a:buChar char="●"/>
              <a:defRPr/>
            </a:lvl4pPr>
            <a:lvl5pPr lvl="4" algn="ctr" rtl="0">
              <a:lnSpc>
                <a:spcPct val="100000"/>
              </a:lnSpc>
              <a:spcBef>
                <a:spcPts val="0"/>
              </a:spcBef>
              <a:spcAft>
                <a:spcPts val="0"/>
              </a:spcAft>
              <a:buSzPts val="1400"/>
              <a:buChar char="○"/>
              <a:defRPr/>
            </a:lvl5pPr>
            <a:lvl6pPr lvl="5" algn="ctr" rtl="0">
              <a:lnSpc>
                <a:spcPct val="100000"/>
              </a:lnSpc>
              <a:spcBef>
                <a:spcPts val="0"/>
              </a:spcBef>
              <a:spcAft>
                <a:spcPts val="0"/>
              </a:spcAft>
              <a:buSzPts val="1400"/>
              <a:buChar char="■"/>
              <a:defRPr/>
            </a:lvl6pPr>
            <a:lvl7pPr lvl="6" algn="ctr" rtl="0">
              <a:lnSpc>
                <a:spcPct val="100000"/>
              </a:lnSpc>
              <a:spcBef>
                <a:spcPts val="0"/>
              </a:spcBef>
              <a:spcAft>
                <a:spcPts val="0"/>
              </a:spcAft>
              <a:buSzPts val="1400"/>
              <a:buChar char="●"/>
              <a:defRPr/>
            </a:lvl7pPr>
            <a:lvl8pPr lvl="7" algn="ctr" rtl="0">
              <a:lnSpc>
                <a:spcPct val="100000"/>
              </a:lnSpc>
              <a:spcBef>
                <a:spcPts val="0"/>
              </a:spcBef>
              <a:spcAft>
                <a:spcPts val="0"/>
              </a:spcAft>
              <a:buSzPts val="1400"/>
              <a:buChar char="○"/>
              <a:defRPr/>
            </a:lvl8pPr>
            <a:lvl9pPr lvl="8" algn="ctr" rtl="0">
              <a:lnSpc>
                <a:spcPct val="100000"/>
              </a:lnSpc>
              <a:spcBef>
                <a:spcPts val="0"/>
              </a:spcBef>
              <a:spcAft>
                <a:spcPts val="0"/>
              </a:spcAft>
              <a:buSzPts val="1400"/>
              <a:buChar char="■"/>
              <a:defRPr/>
            </a:lvl9pPr>
          </a:lstStyle>
          <a:p>
            <a:endParaRPr/>
          </a:p>
        </p:txBody>
      </p:sp>
    </p:spTree>
    <p:extLst>
      <p:ext uri="{BB962C8B-B14F-4D97-AF65-F5344CB8AC3E}">
        <p14:creationId xmlns:p14="http://schemas.microsoft.com/office/powerpoint/2010/main" val="36372977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33"/>
        <p:cNvGrpSpPr/>
        <p:nvPr/>
      </p:nvGrpSpPr>
      <p:grpSpPr>
        <a:xfrm>
          <a:off x="0" y="0"/>
          <a:ext cx="0" cy="0"/>
          <a:chOff x="0" y="0"/>
          <a:chExt cx="0" cy="0"/>
        </a:xfrm>
      </p:grpSpPr>
      <p:sp>
        <p:nvSpPr>
          <p:cNvPr id="39" name="Google Shape;39;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40" name="Google Shape;40;p5"/>
          <p:cNvSpPr txBox="1">
            <a:spLocks noGrp="1"/>
          </p:cNvSpPr>
          <p:nvPr>
            <p:ph type="subTitle" idx="1"/>
          </p:nvPr>
        </p:nvSpPr>
        <p:spPr>
          <a:xfrm>
            <a:off x="4651268"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2800"/>
              <a:buChar char="○"/>
              <a:defRPr sz="2800"/>
            </a:lvl2pPr>
            <a:lvl3pPr lvl="2" algn="ctr" rtl="0">
              <a:lnSpc>
                <a:spcPct val="115000"/>
              </a:lnSpc>
              <a:spcBef>
                <a:spcPts val="0"/>
              </a:spcBef>
              <a:spcAft>
                <a:spcPts val="0"/>
              </a:spcAft>
              <a:buSzPts val="2800"/>
              <a:buChar char="■"/>
              <a:defRPr sz="2800"/>
            </a:lvl3pPr>
            <a:lvl4pPr lvl="3" algn="ctr" rtl="0">
              <a:lnSpc>
                <a:spcPct val="115000"/>
              </a:lnSpc>
              <a:spcBef>
                <a:spcPts val="0"/>
              </a:spcBef>
              <a:spcAft>
                <a:spcPts val="0"/>
              </a:spcAft>
              <a:buSzPts val="2800"/>
              <a:buChar char="●"/>
              <a:defRPr sz="2800"/>
            </a:lvl4pPr>
            <a:lvl5pPr lvl="4" algn="ctr" rtl="0">
              <a:lnSpc>
                <a:spcPct val="115000"/>
              </a:lnSpc>
              <a:spcBef>
                <a:spcPts val="0"/>
              </a:spcBef>
              <a:spcAft>
                <a:spcPts val="0"/>
              </a:spcAft>
              <a:buSzPts val="2800"/>
              <a:buChar char="○"/>
              <a:defRPr sz="2800"/>
            </a:lvl5pPr>
            <a:lvl6pPr lvl="5" algn="ctr" rtl="0">
              <a:lnSpc>
                <a:spcPct val="115000"/>
              </a:lnSpc>
              <a:spcBef>
                <a:spcPts val="0"/>
              </a:spcBef>
              <a:spcAft>
                <a:spcPts val="0"/>
              </a:spcAft>
              <a:buSzPts val="2800"/>
              <a:buChar char="■"/>
              <a:defRPr sz="2800"/>
            </a:lvl6pPr>
            <a:lvl7pPr lvl="6" algn="ctr" rtl="0">
              <a:lnSpc>
                <a:spcPct val="115000"/>
              </a:lnSpc>
              <a:spcBef>
                <a:spcPts val="0"/>
              </a:spcBef>
              <a:spcAft>
                <a:spcPts val="0"/>
              </a:spcAft>
              <a:buSzPts val="2800"/>
              <a:buChar char="●"/>
              <a:defRPr sz="2800"/>
            </a:lvl7pPr>
            <a:lvl8pPr lvl="7" algn="ctr" rtl="0">
              <a:lnSpc>
                <a:spcPct val="115000"/>
              </a:lnSpc>
              <a:spcBef>
                <a:spcPts val="0"/>
              </a:spcBef>
              <a:spcAft>
                <a:spcPts val="0"/>
              </a:spcAft>
              <a:buSzPts val="2800"/>
              <a:buChar char="○"/>
              <a:defRPr sz="2800"/>
            </a:lvl8pPr>
            <a:lvl9pPr lvl="8" algn="ctr" rtl="0">
              <a:lnSpc>
                <a:spcPct val="115000"/>
              </a:lnSpc>
              <a:spcBef>
                <a:spcPts val="0"/>
              </a:spcBef>
              <a:spcAft>
                <a:spcPts val="0"/>
              </a:spcAft>
              <a:buSzPts val="2800"/>
              <a:buChar char="■"/>
              <a:defRPr sz="2800"/>
            </a:lvl9pPr>
          </a:lstStyle>
          <a:p>
            <a:endParaRPr/>
          </a:p>
        </p:txBody>
      </p:sp>
      <p:sp>
        <p:nvSpPr>
          <p:cNvPr id="41" name="Google Shape;41;p5"/>
          <p:cNvSpPr txBox="1">
            <a:spLocks noGrp="1"/>
          </p:cNvSpPr>
          <p:nvPr>
            <p:ph type="subTitle" idx="2"/>
          </p:nvPr>
        </p:nvSpPr>
        <p:spPr>
          <a:xfrm>
            <a:off x="720000" y="1736553"/>
            <a:ext cx="3772800" cy="2736300"/>
          </a:xfrm>
          <a:prstGeom prst="rect">
            <a:avLst/>
          </a:prstGeom>
        </p:spPr>
        <p:txBody>
          <a:bodyPr spcFirstLastPara="1" wrap="square" lIns="91425" tIns="91425" rIns="91425" bIns="91425" anchor="t" anchorCtr="0">
            <a:noAutofit/>
          </a:bodyPr>
          <a:lstStyle>
            <a:lvl1pPr lvl="0" rtl="0">
              <a:lnSpc>
                <a:spcPct val="115000"/>
              </a:lnSpc>
              <a:spcBef>
                <a:spcPts val="0"/>
              </a:spcBef>
              <a:spcAft>
                <a:spcPts val="0"/>
              </a:spcAft>
              <a:buSzPts val="1200"/>
              <a:buChar char="●"/>
              <a:defRPr sz="1400">
                <a:latin typeface="Hanken Grotesk"/>
                <a:ea typeface="Hanken Grotesk"/>
                <a:cs typeface="Hanken Grotesk"/>
                <a:sym typeface="Hanken Grotesk"/>
              </a:defRPr>
            </a:lvl1pPr>
            <a:lvl2pPr lvl="1" algn="ctr" rtl="0">
              <a:lnSpc>
                <a:spcPct val="115000"/>
              </a:lnSpc>
              <a:spcBef>
                <a:spcPts val="0"/>
              </a:spcBef>
              <a:spcAft>
                <a:spcPts val="0"/>
              </a:spcAft>
              <a:buSzPts val="1400"/>
              <a:buChar char="○"/>
              <a:defRPr sz="2800"/>
            </a:lvl2pPr>
            <a:lvl3pPr lvl="2" algn="ctr" rtl="0">
              <a:lnSpc>
                <a:spcPct val="115000"/>
              </a:lnSpc>
              <a:spcBef>
                <a:spcPts val="0"/>
              </a:spcBef>
              <a:spcAft>
                <a:spcPts val="0"/>
              </a:spcAft>
              <a:buSzPts val="1400"/>
              <a:buChar char="■"/>
              <a:defRPr sz="2800"/>
            </a:lvl3pPr>
            <a:lvl4pPr lvl="3" algn="ctr" rtl="0">
              <a:lnSpc>
                <a:spcPct val="115000"/>
              </a:lnSpc>
              <a:spcBef>
                <a:spcPts val="0"/>
              </a:spcBef>
              <a:spcAft>
                <a:spcPts val="0"/>
              </a:spcAft>
              <a:buSzPts val="1400"/>
              <a:buChar char="●"/>
              <a:defRPr sz="2800"/>
            </a:lvl4pPr>
            <a:lvl5pPr lvl="4" algn="ctr" rtl="0">
              <a:lnSpc>
                <a:spcPct val="115000"/>
              </a:lnSpc>
              <a:spcBef>
                <a:spcPts val="0"/>
              </a:spcBef>
              <a:spcAft>
                <a:spcPts val="0"/>
              </a:spcAft>
              <a:buSzPts val="1400"/>
              <a:buChar char="○"/>
              <a:defRPr sz="2800"/>
            </a:lvl5pPr>
            <a:lvl6pPr lvl="5" algn="ctr" rtl="0">
              <a:lnSpc>
                <a:spcPct val="115000"/>
              </a:lnSpc>
              <a:spcBef>
                <a:spcPts val="0"/>
              </a:spcBef>
              <a:spcAft>
                <a:spcPts val="0"/>
              </a:spcAft>
              <a:buSzPts val="1400"/>
              <a:buChar char="■"/>
              <a:defRPr sz="2800"/>
            </a:lvl6pPr>
            <a:lvl7pPr lvl="6" algn="ctr" rtl="0">
              <a:lnSpc>
                <a:spcPct val="115000"/>
              </a:lnSpc>
              <a:spcBef>
                <a:spcPts val="0"/>
              </a:spcBef>
              <a:spcAft>
                <a:spcPts val="0"/>
              </a:spcAft>
              <a:buSzPts val="1400"/>
              <a:buChar char="●"/>
              <a:defRPr sz="2800"/>
            </a:lvl7pPr>
            <a:lvl8pPr lvl="7" algn="ctr" rtl="0">
              <a:lnSpc>
                <a:spcPct val="115000"/>
              </a:lnSpc>
              <a:spcBef>
                <a:spcPts val="0"/>
              </a:spcBef>
              <a:spcAft>
                <a:spcPts val="0"/>
              </a:spcAft>
              <a:buSzPts val="1400"/>
              <a:buChar char="○"/>
              <a:defRPr sz="2800"/>
            </a:lvl8pPr>
            <a:lvl9pPr lvl="8" algn="ctr" rtl="0">
              <a:lnSpc>
                <a:spcPct val="115000"/>
              </a:lnSpc>
              <a:spcBef>
                <a:spcPts val="0"/>
              </a:spcBef>
              <a:spcAft>
                <a:spcPts val="0"/>
              </a:spcAft>
              <a:buSzPts val="1400"/>
              <a:buChar char="■"/>
              <a:defRPr sz="2800"/>
            </a:lvl9pPr>
          </a:lstStyle>
          <a:p>
            <a:endParaRPr/>
          </a:p>
        </p:txBody>
      </p:sp>
      <p:sp>
        <p:nvSpPr>
          <p:cNvPr id="42" name="Google Shape;42;p5"/>
          <p:cNvSpPr txBox="1">
            <a:spLocks noGrp="1"/>
          </p:cNvSpPr>
          <p:nvPr>
            <p:ph type="subTitle" idx="3"/>
          </p:nvPr>
        </p:nvSpPr>
        <p:spPr>
          <a:xfrm>
            <a:off x="720000" y="1451250"/>
            <a:ext cx="3772800" cy="3615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
        <p:nvSpPr>
          <p:cNvPr id="43" name="Google Shape;43;p5"/>
          <p:cNvSpPr txBox="1">
            <a:spLocks noGrp="1"/>
          </p:cNvSpPr>
          <p:nvPr>
            <p:ph type="subTitle" idx="4"/>
          </p:nvPr>
        </p:nvSpPr>
        <p:spPr>
          <a:xfrm>
            <a:off x="4651268" y="1451250"/>
            <a:ext cx="3772800" cy="361500"/>
          </a:xfrm>
          <a:prstGeom prst="rect">
            <a:avLst/>
          </a:prstGeom>
        </p:spPr>
        <p:txBody>
          <a:bodyPr spcFirstLastPara="1" wrap="square" lIns="91425" tIns="91425" rIns="91425" bIns="91425" anchor="b" anchorCtr="0">
            <a:noAutofit/>
          </a:bodyPr>
          <a:lstStyle>
            <a:lvl1pPr lvl="0" rtl="0">
              <a:lnSpc>
                <a:spcPct val="115000"/>
              </a:lnSpc>
              <a:spcBef>
                <a:spcPts val="0"/>
              </a:spcBef>
              <a:spcAft>
                <a:spcPts val="0"/>
              </a:spcAft>
              <a:buSzPts val="2400"/>
              <a:buFont typeface="Figtree Black"/>
              <a:buNone/>
              <a:defRPr sz="1900">
                <a:latin typeface="Figtree Black"/>
                <a:ea typeface="Figtree Black"/>
                <a:cs typeface="Figtree Black"/>
                <a:sym typeface="Figtree Black"/>
              </a:defRPr>
            </a:lvl1pPr>
            <a:lvl2pPr lvl="1" rtl="0">
              <a:lnSpc>
                <a:spcPct val="115000"/>
              </a:lnSpc>
              <a:spcBef>
                <a:spcPts val="0"/>
              </a:spcBef>
              <a:spcAft>
                <a:spcPts val="0"/>
              </a:spcAft>
              <a:buSzPts val="1400"/>
              <a:buFont typeface="Figtree Black"/>
              <a:buNone/>
              <a:defRPr>
                <a:latin typeface="Figtree Black"/>
                <a:ea typeface="Figtree Black"/>
                <a:cs typeface="Figtree Black"/>
                <a:sym typeface="Figtree Black"/>
              </a:defRPr>
            </a:lvl2pPr>
            <a:lvl3pPr lvl="2" rtl="0">
              <a:lnSpc>
                <a:spcPct val="115000"/>
              </a:lnSpc>
              <a:spcBef>
                <a:spcPts val="0"/>
              </a:spcBef>
              <a:spcAft>
                <a:spcPts val="0"/>
              </a:spcAft>
              <a:buSzPts val="1400"/>
              <a:buFont typeface="Figtree Black"/>
              <a:buNone/>
              <a:defRPr>
                <a:latin typeface="Figtree Black"/>
                <a:ea typeface="Figtree Black"/>
                <a:cs typeface="Figtree Black"/>
                <a:sym typeface="Figtree Black"/>
              </a:defRPr>
            </a:lvl3pPr>
            <a:lvl4pPr lvl="3" rtl="0">
              <a:lnSpc>
                <a:spcPct val="115000"/>
              </a:lnSpc>
              <a:spcBef>
                <a:spcPts val="0"/>
              </a:spcBef>
              <a:spcAft>
                <a:spcPts val="0"/>
              </a:spcAft>
              <a:buSzPts val="1400"/>
              <a:buFont typeface="Figtree Black"/>
              <a:buNone/>
              <a:defRPr>
                <a:latin typeface="Figtree Black"/>
                <a:ea typeface="Figtree Black"/>
                <a:cs typeface="Figtree Black"/>
                <a:sym typeface="Figtree Black"/>
              </a:defRPr>
            </a:lvl4pPr>
            <a:lvl5pPr lvl="4" rtl="0">
              <a:lnSpc>
                <a:spcPct val="115000"/>
              </a:lnSpc>
              <a:spcBef>
                <a:spcPts val="0"/>
              </a:spcBef>
              <a:spcAft>
                <a:spcPts val="0"/>
              </a:spcAft>
              <a:buSzPts val="1400"/>
              <a:buFont typeface="Figtree Black"/>
              <a:buNone/>
              <a:defRPr>
                <a:latin typeface="Figtree Black"/>
                <a:ea typeface="Figtree Black"/>
                <a:cs typeface="Figtree Black"/>
                <a:sym typeface="Figtree Black"/>
              </a:defRPr>
            </a:lvl5pPr>
            <a:lvl6pPr lvl="5" rtl="0">
              <a:lnSpc>
                <a:spcPct val="115000"/>
              </a:lnSpc>
              <a:spcBef>
                <a:spcPts val="0"/>
              </a:spcBef>
              <a:spcAft>
                <a:spcPts val="0"/>
              </a:spcAft>
              <a:buSzPts val="1400"/>
              <a:buFont typeface="Figtree Black"/>
              <a:buNone/>
              <a:defRPr>
                <a:latin typeface="Figtree Black"/>
                <a:ea typeface="Figtree Black"/>
                <a:cs typeface="Figtree Black"/>
                <a:sym typeface="Figtree Black"/>
              </a:defRPr>
            </a:lvl6pPr>
            <a:lvl7pPr lvl="6" rtl="0">
              <a:lnSpc>
                <a:spcPct val="115000"/>
              </a:lnSpc>
              <a:spcBef>
                <a:spcPts val="0"/>
              </a:spcBef>
              <a:spcAft>
                <a:spcPts val="0"/>
              </a:spcAft>
              <a:buSzPts val="1400"/>
              <a:buFont typeface="Figtree Black"/>
              <a:buNone/>
              <a:defRPr>
                <a:latin typeface="Figtree Black"/>
                <a:ea typeface="Figtree Black"/>
                <a:cs typeface="Figtree Black"/>
                <a:sym typeface="Figtree Black"/>
              </a:defRPr>
            </a:lvl7pPr>
            <a:lvl8pPr lvl="7" rtl="0">
              <a:lnSpc>
                <a:spcPct val="115000"/>
              </a:lnSpc>
              <a:spcBef>
                <a:spcPts val="0"/>
              </a:spcBef>
              <a:spcAft>
                <a:spcPts val="0"/>
              </a:spcAft>
              <a:buSzPts val="1400"/>
              <a:buFont typeface="Figtree Black"/>
              <a:buNone/>
              <a:defRPr>
                <a:latin typeface="Figtree Black"/>
                <a:ea typeface="Figtree Black"/>
                <a:cs typeface="Figtree Black"/>
                <a:sym typeface="Figtree Black"/>
              </a:defRPr>
            </a:lvl8pPr>
            <a:lvl9pPr lvl="8" rtl="0">
              <a:lnSpc>
                <a:spcPct val="115000"/>
              </a:lnSpc>
              <a:spcBef>
                <a:spcPts val="0"/>
              </a:spcBef>
              <a:spcAft>
                <a:spcPts val="0"/>
              </a:spcAft>
              <a:buSzPts val="1400"/>
              <a:buFont typeface="Figtree Black"/>
              <a:buNone/>
              <a:defRPr>
                <a:latin typeface="Figtree Black"/>
                <a:ea typeface="Figtree Black"/>
                <a:cs typeface="Figtree Black"/>
                <a:sym typeface="Figtree Black"/>
              </a:defRPr>
            </a:lvl9pPr>
          </a:lstStyle>
          <a:p>
            <a:endParaRPr/>
          </a:p>
        </p:txBody>
      </p:sp>
    </p:spTree>
    <p:extLst>
      <p:ext uri="{BB962C8B-B14F-4D97-AF65-F5344CB8AC3E}">
        <p14:creationId xmlns:p14="http://schemas.microsoft.com/office/powerpoint/2010/main" val="389506528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53"/>
        <p:cNvGrpSpPr/>
        <p:nvPr/>
      </p:nvGrpSpPr>
      <p:grpSpPr>
        <a:xfrm>
          <a:off x="0" y="0"/>
          <a:ext cx="0" cy="0"/>
          <a:chOff x="0" y="0"/>
          <a:chExt cx="0" cy="0"/>
        </a:xfrm>
      </p:grpSpPr>
      <p:sp>
        <p:nvSpPr>
          <p:cNvPr id="59" name="Google Shape;59;p7"/>
          <p:cNvSpPr txBox="1">
            <a:spLocks noGrp="1"/>
          </p:cNvSpPr>
          <p:nvPr>
            <p:ph type="title"/>
          </p:nvPr>
        </p:nvSpPr>
        <p:spPr>
          <a:xfrm>
            <a:off x="720000" y="448050"/>
            <a:ext cx="77109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28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60" name="Google Shape;60;p7"/>
          <p:cNvSpPr txBox="1">
            <a:spLocks noGrp="1"/>
          </p:cNvSpPr>
          <p:nvPr>
            <p:ph type="subTitle" idx="1"/>
          </p:nvPr>
        </p:nvSpPr>
        <p:spPr>
          <a:xfrm>
            <a:off x="1733625" y="1361025"/>
            <a:ext cx="6580200" cy="29061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Char char="●"/>
              <a:defRPr sz="1600">
                <a:latin typeface="Hanken Grotesk"/>
                <a:ea typeface="Hanken Grotesk"/>
                <a:cs typeface="Hanken Grotesk"/>
                <a:sym typeface="Hanken Grotesk"/>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0"/>
              </a:spcBef>
              <a:spcAft>
                <a:spcPts val="0"/>
              </a:spcAft>
              <a:buClr>
                <a:srgbClr val="E76A28"/>
              </a:buClr>
              <a:buSzPts val="1500"/>
              <a:buFont typeface="Nunito Light"/>
              <a:buChar char="■"/>
              <a:defRPr/>
            </a:lvl3pPr>
            <a:lvl4pPr lvl="3" algn="ctr" rtl="0">
              <a:lnSpc>
                <a:spcPct val="100000"/>
              </a:lnSpc>
              <a:spcBef>
                <a:spcPts val="0"/>
              </a:spcBef>
              <a:spcAft>
                <a:spcPts val="0"/>
              </a:spcAft>
              <a:buClr>
                <a:srgbClr val="E76A28"/>
              </a:buClr>
              <a:buSzPts val="15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300"/>
              <a:buFont typeface="Nunito Light"/>
              <a:buChar char="●"/>
              <a:defRPr/>
            </a:lvl7pPr>
            <a:lvl8pPr lvl="7" algn="ctr" rtl="0">
              <a:lnSpc>
                <a:spcPct val="100000"/>
              </a:lnSpc>
              <a:spcBef>
                <a:spcPts val="0"/>
              </a:spcBef>
              <a:spcAft>
                <a:spcPts val="0"/>
              </a:spcAft>
              <a:buClr>
                <a:srgbClr val="999999"/>
              </a:buClr>
              <a:buSzPts val="13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Tree>
    <p:extLst>
      <p:ext uri="{BB962C8B-B14F-4D97-AF65-F5344CB8AC3E}">
        <p14:creationId xmlns:p14="http://schemas.microsoft.com/office/powerpoint/2010/main" val="12259891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31"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2" name="Google Shape;3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Char char="●"/>
              <a:defRPr>
                <a:latin typeface="Hanken Grotesk"/>
                <a:ea typeface="Hanken Grotesk"/>
                <a:cs typeface="Hanken Grotesk"/>
                <a:sym typeface="Hanken Grotesk"/>
              </a:defRPr>
            </a:lvl1pPr>
            <a:lvl2pPr marL="914400" lvl="1" indent="-304800" rtl="0">
              <a:spcBef>
                <a:spcPts val="0"/>
              </a:spcBef>
              <a:spcAft>
                <a:spcPts val="0"/>
              </a:spcAft>
              <a:buSzPts val="1200"/>
              <a:buChar char="○"/>
              <a:defRPr>
                <a:latin typeface="Hanken Grotesk"/>
                <a:ea typeface="Hanken Grotesk"/>
                <a:cs typeface="Hanken Grotesk"/>
                <a:sym typeface="Hanken Grotesk"/>
              </a:defRPr>
            </a:lvl2pPr>
            <a:lvl3pPr marL="1371600" lvl="2" indent="-304800" rtl="0">
              <a:lnSpc>
                <a:spcPct val="115000"/>
              </a:lnSpc>
              <a:spcBef>
                <a:spcPts val="0"/>
              </a:spcBef>
              <a:spcAft>
                <a:spcPts val="0"/>
              </a:spcAft>
              <a:buSzPts val="1200"/>
              <a:buChar char="■"/>
              <a:defRPr/>
            </a:lvl3pPr>
            <a:lvl4pPr marL="1828800" lvl="3" indent="-304800" rtl="0">
              <a:lnSpc>
                <a:spcPct val="115000"/>
              </a:lnSpc>
              <a:spcBef>
                <a:spcPts val="0"/>
              </a:spcBef>
              <a:spcAft>
                <a:spcPts val="0"/>
              </a:spcAft>
              <a:buSzPts val="1200"/>
              <a:buChar char="●"/>
              <a:defRPr/>
            </a:lvl4pPr>
            <a:lvl5pPr marL="2286000" lvl="4" indent="-304800" rtl="0">
              <a:lnSpc>
                <a:spcPct val="115000"/>
              </a:lnSpc>
              <a:spcBef>
                <a:spcPts val="0"/>
              </a:spcBef>
              <a:spcAft>
                <a:spcPts val="0"/>
              </a:spcAft>
              <a:buSzPts val="1200"/>
              <a:buChar char="○"/>
              <a:defRPr/>
            </a:lvl5pPr>
            <a:lvl6pPr marL="2743200" lvl="5" indent="-304800" rtl="0">
              <a:lnSpc>
                <a:spcPct val="115000"/>
              </a:lnSpc>
              <a:spcBef>
                <a:spcPts val="0"/>
              </a:spcBef>
              <a:spcAft>
                <a:spcPts val="0"/>
              </a:spcAft>
              <a:buSzPts val="1200"/>
              <a:buChar char="■"/>
              <a:defRPr/>
            </a:lvl6pPr>
            <a:lvl7pPr marL="3200400" lvl="6" indent="-304800" rtl="0">
              <a:lnSpc>
                <a:spcPct val="115000"/>
              </a:lnSpc>
              <a:spcBef>
                <a:spcPts val="0"/>
              </a:spcBef>
              <a:spcAft>
                <a:spcPts val="0"/>
              </a:spcAft>
              <a:buSzPts val="1200"/>
              <a:buChar char="●"/>
              <a:defRPr/>
            </a:lvl7pPr>
            <a:lvl8pPr marL="3657600" lvl="7" indent="-304800" rtl="0">
              <a:lnSpc>
                <a:spcPct val="115000"/>
              </a:lnSpc>
              <a:spcBef>
                <a:spcPts val="0"/>
              </a:spcBef>
              <a:spcAft>
                <a:spcPts val="0"/>
              </a:spcAft>
              <a:buSzPts val="1200"/>
              <a:buChar char="○"/>
              <a:defRPr/>
            </a:lvl8pPr>
            <a:lvl9pPr marL="4114800" lvl="8" indent="-304800" rtl="0">
              <a:lnSpc>
                <a:spcPct val="115000"/>
              </a:lnSpc>
              <a:spcBef>
                <a:spcPts val="0"/>
              </a:spcBef>
              <a:spcAft>
                <a:spcPts val="0"/>
              </a:spcAft>
              <a:buSzPts val="1200"/>
              <a:buChar char="■"/>
              <a:defRPr/>
            </a:lvl9pPr>
          </a:lstStyle>
          <a:p>
            <a:endParaRPr/>
          </a:p>
        </p:txBody>
      </p:sp>
    </p:spTree>
    <p:extLst>
      <p:ext uri="{BB962C8B-B14F-4D97-AF65-F5344CB8AC3E}">
        <p14:creationId xmlns:p14="http://schemas.microsoft.com/office/powerpoint/2010/main" val="37642645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32FD9C-60FE-800C-DF4A-CB606F620ED4}"/>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7851F58-320A-99CA-D67F-0A98558485F4}"/>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20A17D-47D3-B8EF-EBFB-CF4316A8CA66}"/>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82000"/>
                  </a:schemeClr>
                </a:solidFill>
              </a:defRPr>
            </a:lvl1pPr>
          </a:lstStyle>
          <a:p>
            <a:fld id="{1A90A598-0175-4F4C-B315-95405EC9EDA1}" type="datetimeFigureOut">
              <a:rPr lang="en-US" smtClean="0"/>
              <a:t>1/16/2026</a:t>
            </a:fld>
            <a:endParaRPr lang="en-US"/>
          </a:p>
        </p:txBody>
      </p:sp>
      <p:sp>
        <p:nvSpPr>
          <p:cNvPr id="5" name="Footer Placeholder 4">
            <a:extLst>
              <a:ext uri="{FF2B5EF4-FFF2-40B4-BE49-F238E27FC236}">
                <a16:creationId xmlns:a16="http://schemas.microsoft.com/office/drawing/2014/main" id="{865C5F51-D9B7-46CA-6A66-F6330B72B6F7}"/>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73596BA-118D-33B3-8CC4-CBC50B562EBA}"/>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82000"/>
                  </a:schemeClr>
                </a:solidFill>
              </a:defRPr>
            </a:lvl1pPr>
          </a:lstStyle>
          <a:p>
            <a:fld id="{72306B76-16F9-4795-AD14-3B8AE7C42EDF}" type="slidenum">
              <a:rPr lang="en-US" smtClean="0"/>
              <a:t>‹#›</a:t>
            </a:fld>
            <a:endParaRPr lang="en-US"/>
          </a:p>
        </p:txBody>
      </p:sp>
    </p:spTree>
    <p:extLst>
      <p:ext uri="{BB962C8B-B14F-4D97-AF65-F5344CB8AC3E}">
        <p14:creationId xmlns:p14="http://schemas.microsoft.com/office/powerpoint/2010/main" val="315300592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 id="2147483696" r:id="rId17"/>
    <p:sldLayoutId id="2147483697" r:id="rId18"/>
    <p:sldLayoutId id="2147483698" r:id="rId19"/>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1.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9.png"/><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3"/>
          <p:cNvSpPr txBox="1">
            <a:spLocks noGrp="1"/>
          </p:cNvSpPr>
          <p:nvPr>
            <p:ph type="ctrTitle"/>
          </p:nvPr>
        </p:nvSpPr>
        <p:spPr>
          <a:xfrm>
            <a:off x="1087125" y="994060"/>
            <a:ext cx="5897400" cy="1392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800" b="1" dirty="0"/>
              <a:t>SHORT-TERM ELECTRICAL LOAD FORECASTING FOR BANESHWOR FEEDER USING MACHINE AND DEEP LEARNING MODELS</a:t>
            </a:r>
            <a:endParaRPr sz="2800" b="1" dirty="0"/>
          </a:p>
        </p:txBody>
      </p:sp>
      <p:sp>
        <p:nvSpPr>
          <p:cNvPr id="290" name="Google Shape;290;p33"/>
          <p:cNvSpPr txBox="1">
            <a:spLocks noGrp="1"/>
          </p:cNvSpPr>
          <p:nvPr>
            <p:ph type="subTitle" idx="1"/>
          </p:nvPr>
        </p:nvSpPr>
        <p:spPr>
          <a:xfrm>
            <a:off x="1087125" y="2630927"/>
            <a:ext cx="5897400" cy="206502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Presenter,</a:t>
            </a:r>
          </a:p>
          <a:p>
            <a:pPr marL="0" lvl="0" indent="0" algn="l" rtl="0">
              <a:spcBef>
                <a:spcPts val="0"/>
              </a:spcBef>
              <a:spcAft>
                <a:spcPts val="0"/>
              </a:spcAft>
              <a:buNone/>
            </a:pPr>
            <a:r>
              <a:rPr lang="en-US" b="1" dirty="0"/>
              <a:t>Sujit Koirala </a:t>
            </a:r>
          </a:p>
          <a:p>
            <a:pPr marL="0" lvl="0" indent="0" algn="l" rtl="0">
              <a:spcBef>
                <a:spcPts val="0"/>
              </a:spcBef>
              <a:spcAft>
                <a:spcPts val="0"/>
              </a:spcAft>
              <a:buNone/>
            </a:pPr>
            <a:endParaRPr lang="en-US" dirty="0"/>
          </a:p>
          <a:p>
            <a:pPr marL="0" lvl="0" indent="0" algn="l" rtl="0">
              <a:spcBef>
                <a:spcPts val="0"/>
              </a:spcBef>
              <a:spcAft>
                <a:spcPts val="0"/>
              </a:spcAft>
              <a:buNone/>
            </a:pPr>
            <a:r>
              <a:rPr lang="en-US" sz="1100" dirty="0"/>
              <a:t>The Department Of Electrical Engineering </a:t>
            </a:r>
          </a:p>
          <a:p>
            <a:pPr marL="0" lvl="0" indent="0" algn="l" rtl="0">
              <a:spcBef>
                <a:spcPts val="0"/>
              </a:spcBef>
              <a:spcAft>
                <a:spcPts val="0"/>
              </a:spcAft>
              <a:buNone/>
            </a:pPr>
            <a:r>
              <a:rPr lang="en-US" sz="1100" b="1" dirty="0"/>
              <a:t>Masters Of Science In Power System Engineering</a:t>
            </a:r>
          </a:p>
          <a:p>
            <a:pPr marL="0" lvl="0" indent="0" algn="l" rtl="0">
              <a:spcBef>
                <a:spcPts val="0"/>
              </a:spcBef>
              <a:spcAft>
                <a:spcPts val="0"/>
              </a:spcAft>
              <a:buNone/>
            </a:pPr>
            <a:endParaRPr lang="en-US" sz="1100" dirty="0"/>
          </a:p>
          <a:p>
            <a:pPr marL="0" lvl="0" indent="0" algn="l" rtl="0">
              <a:spcBef>
                <a:spcPts val="0"/>
              </a:spcBef>
              <a:spcAft>
                <a:spcPts val="0"/>
              </a:spcAft>
              <a:buNone/>
            </a:pPr>
            <a:r>
              <a:rPr lang="en-US" sz="1100" b="1" dirty="0"/>
              <a:t>Tribhuvan University</a:t>
            </a:r>
          </a:p>
          <a:p>
            <a:pPr marL="0" lvl="0" indent="0" algn="l" rtl="0">
              <a:spcBef>
                <a:spcPts val="0"/>
              </a:spcBef>
              <a:spcAft>
                <a:spcPts val="0"/>
              </a:spcAft>
              <a:buNone/>
            </a:pPr>
            <a:r>
              <a:rPr lang="en-US" sz="1100" dirty="0"/>
              <a:t>Institute of Engineering</a:t>
            </a:r>
          </a:p>
          <a:p>
            <a:pPr marL="0" lvl="0" indent="0" algn="l" rtl="0">
              <a:spcBef>
                <a:spcPts val="0"/>
              </a:spcBef>
              <a:spcAft>
                <a:spcPts val="0"/>
              </a:spcAft>
              <a:buNone/>
            </a:pPr>
            <a:r>
              <a:rPr lang="en-US" sz="1100" dirty="0" err="1"/>
              <a:t>Pulchowk</a:t>
            </a:r>
            <a:r>
              <a:rPr lang="en-US" sz="1100" dirty="0"/>
              <a:t> Campus</a:t>
            </a:r>
            <a:endParaRPr lang="en-US" dirty="0">
              <a:latin typeface="Hanken Grotesk"/>
              <a:ea typeface="Hanken Grotesk"/>
              <a:cs typeface="Hanken Grotesk"/>
              <a:sym typeface="Hanken Grotes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cxnSp>
        <p:nvCxnSpPr>
          <p:cNvPr id="4" name="Google Shape;304;p35">
            <a:extLst>
              <a:ext uri="{FF2B5EF4-FFF2-40B4-BE49-F238E27FC236}">
                <a16:creationId xmlns:a16="http://schemas.microsoft.com/office/drawing/2014/main" id="{FB236A20-72CD-716F-3322-199C97C839AD}"/>
              </a:ext>
            </a:extLst>
          </p:cNvPr>
          <p:cNvCxnSpPr>
            <a:cxnSpLocks/>
          </p:cNvCxnSpPr>
          <p:nvPr/>
        </p:nvCxnSpPr>
        <p:spPr>
          <a:xfrm flipH="1">
            <a:off x="4209887" y="3157621"/>
            <a:ext cx="3676875" cy="0"/>
          </a:xfrm>
          <a:prstGeom prst="straightConnector1">
            <a:avLst/>
          </a:prstGeom>
          <a:noFill/>
          <a:ln w="19050" cap="flat" cmpd="sng">
            <a:solidFill>
              <a:schemeClr val="dk1"/>
            </a:solidFill>
            <a:prstDash val="solid"/>
            <a:round/>
            <a:headEnd type="none" w="med" len="med"/>
            <a:tailEnd type="none" w="med" len="med"/>
          </a:ln>
        </p:spPr>
      </p:cxnSp>
      <p:cxnSp>
        <p:nvCxnSpPr>
          <p:cNvPr id="5" name="Google Shape;304;p35">
            <a:extLst>
              <a:ext uri="{FF2B5EF4-FFF2-40B4-BE49-F238E27FC236}">
                <a16:creationId xmlns:a16="http://schemas.microsoft.com/office/drawing/2014/main" id="{AD133741-8685-921B-03C7-8388CCB81180}"/>
              </a:ext>
            </a:extLst>
          </p:cNvPr>
          <p:cNvCxnSpPr>
            <a:cxnSpLocks/>
            <a:stCxn id="7" idx="1"/>
          </p:cNvCxnSpPr>
          <p:nvPr/>
        </p:nvCxnSpPr>
        <p:spPr>
          <a:xfrm flipH="1">
            <a:off x="2073933" y="3160425"/>
            <a:ext cx="3676875" cy="0"/>
          </a:xfrm>
          <a:prstGeom prst="straightConnector1">
            <a:avLst/>
          </a:prstGeom>
          <a:noFill/>
          <a:ln w="19050" cap="flat" cmpd="sng">
            <a:solidFill>
              <a:schemeClr val="dk1"/>
            </a:solidFill>
            <a:prstDash val="solid"/>
            <a:round/>
            <a:headEnd type="none" w="med" len="med"/>
            <a:tailEnd type="none" w="med" len="med"/>
          </a:ln>
        </p:spPr>
      </p:cxnSp>
      <p:cxnSp>
        <p:nvCxnSpPr>
          <p:cNvPr id="304" name="Google Shape;304;p35"/>
          <p:cNvCxnSpPr>
            <a:cxnSpLocks/>
            <a:stCxn id="313" idx="1"/>
          </p:cNvCxnSpPr>
          <p:nvPr/>
        </p:nvCxnSpPr>
        <p:spPr>
          <a:xfrm flipH="1">
            <a:off x="-569267" y="3160425"/>
            <a:ext cx="3676875" cy="0"/>
          </a:xfrm>
          <a:prstGeom prst="straightConnector1">
            <a:avLst/>
          </a:prstGeom>
          <a:noFill/>
          <a:ln w="19050" cap="flat" cmpd="sng">
            <a:solidFill>
              <a:schemeClr val="dk1"/>
            </a:solidFill>
            <a:prstDash val="solid"/>
            <a:round/>
            <a:headEnd type="none" w="med" len="med"/>
            <a:tailEnd type="none" w="med" len="med"/>
          </a:ln>
        </p:spPr>
      </p:cxnSp>
      <p:cxnSp>
        <p:nvCxnSpPr>
          <p:cNvPr id="306" name="Google Shape;306;p35"/>
          <p:cNvCxnSpPr>
            <a:stCxn id="307" idx="3"/>
          </p:cNvCxnSpPr>
          <p:nvPr/>
        </p:nvCxnSpPr>
        <p:spPr>
          <a:xfrm>
            <a:off x="1285275" y="1502500"/>
            <a:ext cx="8009700" cy="0"/>
          </a:xfrm>
          <a:prstGeom prst="straightConnector1">
            <a:avLst/>
          </a:prstGeom>
          <a:noFill/>
          <a:ln w="19050" cap="flat" cmpd="sng">
            <a:solidFill>
              <a:schemeClr val="dk1"/>
            </a:solidFill>
            <a:prstDash val="solid"/>
            <a:round/>
            <a:headEnd type="none" w="med" len="med"/>
            <a:tailEnd type="none" w="med" len="med"/>
          </a:ln>
        </p:spPr>
      </p:cxnSp>
      <p:sp>
        <p:nvSpPr>
          <p:cNvPr id="308" name="Google Shape;308;p35"/>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Table of contents</a:t>
            </a:r>
            <a:endParaRPr/>
          </a:p>
        </p:txBody>
      </p:sp>
      <p:sp>
        <p:nvSpPr>
          <p:cNvPr id="319" name="Google Shape;319;p35"/>
          <p:cNvSpPr txBox="1">
            <a:spLocks noGrp="1"/>
          </p:cNvSpPr>
          <p:nvPr>
            <p:ph type="subTitle" idx="1"/>
          </p:nvPr>
        </p:nvSpPr>
        <p:spPr>
          <a:xfrm>
            <a:off x="788675" y="1749037"/>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Introduction</a:t>
            </a:r>
            <a:endParaRPr sz="1800" dirty="0"/>
          </a:p>
        </p:txBody>
      </p:sp>
      <p:sp>
        <p:nvSpPr>
          <p:cNvPr id="320" name="Google Shape;320;p35"/>
          <p:cNvSpPr txBox="1">
            <a:spLocks noGrp="1"/>
          </p:cNvSpPr>
          <p:nvPr>
            <p:ph type="subTitle" idx="2"/>
          </p:nvPr>
        </p:nvSpPr>
        <p:spPr>
          <a:xfrm>
            <a:off x="387233" y="3363674"/>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800" dirty="0"/>
              <a:t>Literature Review	</a:t>
            </a:r>
            <a:endParaRPr sz="1800" dirty="0"/>
          </a:p>
        </p:txBody>
      </p:sp>
      <p:sp>
        <p:nvSpPr>
          <p:cNvPr id="321" name="Google Shape;321;p35"/>
          <p:cNvSpPr txBox="1">
            <a:spLocks noGrp="1"/>
          </p:cNvSpPr>
          <p:nvPr>
            <p:ph type="subTitle" idx="3"/>
          </p:nvPr>
        </p:nvSpPr>
        <p:spPr>
          <a:xfrm>
            <a:off x="3017058" y="3363674"/>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Methodology</a:t>
            </a:r>
            <a:endParaRPr sz="1800" dirty="0"/>
          </a:p>
        </p:txBody>
      </p:sp>
      <p:sp>
        <p:nvSpPr>
          <p:cNvPr id="322" name="Google Shape;322;p35"/>
          <p:cNvSpPr txBox="1">
            <a:spLocks noGrp="1"/>
          </p:cNvSpPr>
          <p:nvPr>
            <p:ph type="subTitle" idx="4"/>
          </p:nvPr>
        </p:nvSpPr>
        <p:spPr>
          <a:xfrm>
            <a:off x="3418500" y="1749037"/>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dirty="0"/>
              <a:t>Problem Statement</a:t>
            </a:r>
            <a:endParaRPr sz="1800" dirty="0"/>
          </a:p>
        </p:txBody>
      </p:sp>
      <p:sp>
        <p:nvSpPr>
          <p:cNvPr id="307" name="Google Shape;307;p35"/>
          <p:cNvSpPr txBox="1">
            <a:spLocks noGrp="1"/>
          </p:cNvSpPr>
          <p:nvPr>
            <p:ph type="title" idx="5"/>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13" name="Google Shape;313;p35"/>
          <p:cNvSpPr txBox="1">
            <a:spLocks noGrp="1"/>
          </p:cNvSpPr>
          <p:nvPr>
            <p:ph type="title" idx="6"/>
          </p:nvPr>
        </p:nvSpPr>
        <p:spPr>
          <a:xfrm>
            <a:off x="3107608" y="2977575"/>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05</a:t>
            </a:r>
            <a:endParaRPr/>
          </a:p>
        </p:txBody>
      </p:sp>
      <p:sp>
        <p:nvSpPr>
          <p:cNvPr id="314" name="Google Shape;314;p35"/>
          <p:cNvSpPr txBox="1">
            <a:spLocks noGrp="1"/>
          </p:cNvSpPr>
          <p:nvPr>
            <p:ph type="title" idx="7"/>
          </p:nvPr>
        </p:nvSpPr>
        <p:spPr>
          <a:xfrm>
            <a:off x="518133" y="2977575"/>
            <a:ext cx="365700" cy="365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315" name="Google Shape;315;p35"/>
          <p:cNvSpPr txBox="1">
            <a:spLocks noGrp="1"/>
          </p:cNvSpPr>
          <p:nvPr>
            <p:ph type="title" idx="8"/>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324" name="Google Shape;324;p35"/>
          <p:cNvSpPr txBox="1">
            <a:spLocks noGrp="1"/>
          </p:cNvSpPr>
          <p:nvPr>
            <p:ph type="subTitle" idx="13"/>
          </p:nvPr>
        </p:nvSpPr>
        <p:spPr>
          <a:xfrm>
            <a:off x="6048325" y="1749037"/>
            <a:ext cx="2305500" cy="57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1800"/>
              <a:t>Objectives</a:t>
            </a:r>
            <a:endParaRPr sz="1800"/>
          </a:p>
        </p:txBody>
      </p:sp>
      <p:sp>
        <p:nvSpPr>
          <p:cNvPr id="318" name="Google Shape;318;p35"/>
          <p:cNvSpPr txBox="1">
            <a:spLocks noGrp="1"/>
          </p:cNvSpPr>
          <p:nvPr>
            <p:ph type="title" idx="15"/>
          </p:nvPr>
        </p:nvSpPr>
        <p:spPr>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6" name="Google Shape;321;p35">
            <a:extLst>
              <a:ext uri="{FF2B5EF4-FFF2-40B4-BE49-F238E27FC236}">
                <a16:creationId xmlns:a16="http://schemas.microsoft.com/office/drawing/2014/main" id="{2C2E3D1A-3D18-F789-54F2-5C772E213BE5}"/>
              </a:ext>
            </a:extLst>
          </p:cNvPr>
          <p:cNvSpPr txBox="1">
            <a:spLocks/>
          </p:cNvSpPr>
          <p:nvPr/>
        </p:nvSpPr>
        <p:spPr>
          <a:xfrm>
            <a:off x="5660258" y="3363674"/>
            <a:ext cx="2305500" cy="572700"/>
          </a:xfrm>
          <a:prstGeom prst="rect">
            <a:avLst/>
          </a:prstGeom>
        </p:spPr>
        <p:txBody>
          <a:bodyPr spcFirstLastPara="1" vert="horz" wrap="square" lIns="91425" tIns="91425" rIns="91425" bIns="91425" rtlCol="0" anchor="b" anchorCtr="0">
            <a:noAutofit/>
          </a:bodyPr>
          <a:lstStyle>
            <a:lvl1pPr marL="171450" lvl="0" indent="-171450" algn="l" defTabSz="685800" rtl="0" eaLnBrk="1" latinLnBrk="0" hangingPunct="1">
              <a:lnSpc>
                <a:spcPct val="115000"/>
              </a:lnSpc>
              <a:spcBef>
                <a:spcPts val="0"/>
              </a:spcBef>
              <a:spcAft>
                <a:spcPts val="0"/>
              </a:spcAft>
              <a:buSzPts val="1400"/>
              <a:buFont typeface="Arial" panose="020B0604020202020204" pitchFamily="34" charset="0"/>
              <a:buNone/>
              <a:defRPr sz="1400" kern="1200">
                <a:solidFill>
                  <a:schemeClr val="tx1"/>
                </a:solidFill>
                <a:latin typeface="Hanken Grotesk"/>
                <a:ea typeface="Hanken Grotesk"/>
                <a:cs typeface="Hanken Grotesk"/>
                <a:sym typeface="Hanken Grotesk"/>
              </a:defRPr>
            </a:lvl1pPr>
            <a:lvl2pPr marL="514350" lvl="1" indent="-171450" algn="ctr" defTabSz="685800" rtl="0" eaLnBrk="1" latinLnBrk="0" hangingPunct="1">
              <a:lnSpc>
                <a:spcPct val="115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2pPr>
            <a:lvl3pPr marL="857250" lvl="2" indent="-171450" algn="ctr" defTabSz="685800" rtl="0" eaLnBrk="1" latinLnBrk="0" hangingPunct="1">
              <a:lnSpc>
                <a:spcPct val="115000"/>
              </a:lnSpc>
              <a:spcBef>
                <a:spcPts val="0"/>
              </a:spcBef>
              <a:spcAft>
                <a:spcPts val="0"/>
              </a:spcAft>
              <a:buSzPts val="1400"/>
              <a:buFont typeface="Arial" panose="020B0604020202020204" pitchFamily="34" charset="0"/>
              <a:buNone/>
              <a:defRPr sz="1500" kern="1200">
                <a:solidFill>
                  <a:schemeClr val="tx1"/>
                </a:solidFill>
                <a:latin typeface="+mn-lt"/>
                <a:ea typeface="+mn-ea"/>
                <a:cs typeface="+mn-cs"/>
              </a:defRPr>
            </a:lvl3pPr>
            <a:lvl4pPr marL="1200150" lvl="3"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4pPr>
            <a:lvl5pPr marL="1543050" lvl="4"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5pPr>
            <a:lvl6pPr marL="1885950" lvl="5"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6pPr>
            <a:lvl7pPr marL="2228850" lvl="6"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7pPr>
            <a:lvl8pPr marL="2571750" lvl="7"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8pPr>
            <a:lvl9pPr marL="2914650" lvl="8"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9pPr>
          </a:lstStyle>
          <a:p>
            <a:pPr marL="0" indent="0"/>
            <a:r>
              <a:rPr lang="en-US" sz="1800"/>
              <a:t>Conclusion</a:t>
            </a:r>
            <a:endParaRPr lang="en-US" sz="1800" dirty="0"/>
          </a:p>
        </p:txBody>
      </p:sp>
      <p:sp>
        <p:nvSpPr>
          <p:cNvPr id="7" name="Google Shape;313;p35">
            <a:extLst>
              <a:ext uri="{FF2B5EF4-FFF2-40B4-BE49-F238E27FC236}">
                <a16:creationId xmlns:a16="http://schemas.microsoft.com/office/drawing/2014/main" id="{11782073-4756-C81C-D0B0-561DBBB63C89}"/>
              </a:ext>
            </a:extLst>
          </p:cNvPr>
          <p:cNvSpPr txBox="1">
            <a:spLocks/>
          </p:cNvSpPr>
          <p:nvPr/>
        </p:nvSpPr>
        <p:spPr>
          <a:xfrm>
            <a:off x="5750808" y="2977575"/>
            <a:ext cx="365700" cy="365700"/>
          </a:xfrm>
          <a:prstGeom prst="rect">
            <a:avLst/>
          </a:prstGeom>
          <a:solidFill>
            <a:schemeClr val="dk1"/>
          </a:solidFill>
        </p:spPr>
        <p:txBody>
          <a:bodyPr spcFirstLastPara="1" vert="horz" wrap="square" lIns="91425" tIns="91425" rIns="91425" bIns="91425" rtlCol="0" anchor="ctr" anchorCtr="0">
            <a:noAutofit/>
          </a:bodyPr>
          <a:lstStyle>
            <a:lvl1pPr lvl="0" algn="ctr" defTabSz="685800" rtl="0" eaLnBrk="1" latinLnBrk="0" hangingPunct="1">
              <a:lnSpc>
                <a:spcPct val="115000"/>
              </a:lnSpc>
              <a:spcBef>
                <a:spcPts val="0"/>
              </a:spcBef>
              <a:spcAft>
                <a:spcPts val="0"/>
              </a:spcAft>
              <a:buSzPts val="3000"/>
              <a:buNone/>
              <a:defRPr sz="1100" kern="1200">
                <a:solidFill>
                  <a:schemeClr val="lt1"/>
                </a:solidFill>
                <a:latin typeface="+mj-lt"/>
                <a:ea typeface="+mj-ea"/>
                <a:cs typeface="+mj-c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lang="en" dirty="0"/>
              <a:t>06</a:t>
            </a:r>
          </a:p>
        </p:txBody>
      </p:sp>
      <p:sp>
        <p:nvSpPr>
          <p:cNvPr id="2" name="Google Shape;321;p35">
            <a:extLst>
              <a:ext uri="{FF2B5EF4-FFF2-40B4-BE49-F238E27FC236}">
                <a16:creationId xmlns:a16="http://schemas.microsoft.com/office/drawing/2014/main" id="{4D6F5D00-AF69-5E99-600E-6F3B07A1B830}"/>
              </a:ext>
            </a:extLst>
          </p:cNvPr>
          <p:cNvSpPr txBox="1">
            <a:spLocks/>
          </p:cNvSpPr>
          <p:nvPr/>
        </p:nvSpPr>
        <p:spPr>
          <a:xfrm>
            <a:off x="7545250" y="3363674"/>
            <a:ext cx="2305500" cy="572700"/>
          </a:xfrm>
          <a:prstGeom prst="rect">
            <a:avLst/>
          </a:prstGeom>
        </p:spPr>
        <p:txBody>
          <a:bodyPr spcFirstLastPara="1" vert="horz" wrap="square" lIns="91425" tIns="91425" rIns="91425" bIns="91425" rtlCol="0" anchor="b" anchorCtr="0">
            <a:noAutofit/>
          </a:bodyPr>
          <a:lstStyle>
            <a:lvl1pPr marL="171450" lvl="0" indent="-171450" algn="l" defTabSz="685800" rtl="0" eaLnBrk="1" latinLnBrk="0" hangingPunct="1">
              <a:lnSpc>
                <a:spcPct val="115000"/>
              </a:lnSpc>
              <a:spcBef>
                <a:spcPts val="0"/>
              </a:spcBef>
              <a:spcAft>
                <a:spcPts val="0"/>
              </a:spcAft>
              <a:buSzPts val="1400"/>
              <a:buFont typeface="Arial" panose="020B0604020202020204" pitchFamily="34" charset="0"/>
              <a:buNone/>
              <a:defRPr sz="1400" kern="1200">
                <a:solidFill>
                  <a:schemeClr val="tx1"/>
                </a:solidFill>
                <a:latin typeface="Hanken Grotesk"/>
                <a:ea typeface="Hanken Grotesk"/>
                <a:cs typeface="Hanken Grotesk"/>
                <a:sym typeface="Hanken Grotesk"/>
              </a:defRPr>
            </a:lvl1pPr>
            <a:lvl2pPr marL="514350" lvl="1" indent="-171450" algn="ctr" defTabSz="685800" rtl="0" eaLnBrk="1" latinLnBrk="0" hangingPunct="1">
              <a:lnSpc>
                <a:spcPct val="115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2pPr>
            <a:lvl3pPr marL="857250" lvl="2" indent="-171450" algn="ctr" defTabSz="685800" rtl="0" eaLnBrk="1" latinLnBrk="0" hangingPunct="1">
              <a:lnSpc>
                <a:spcPct val="115000"/>
              </a:lnSpc>
              <a:spcBef>
                <a:spcPts val="0"/>
              </a:spcBef>
              <a:spcAft>
                <a:spcPts val="0"/>
              </a:spcAft>
              <a:buSzPts val="1400"/>
              <a:buFont typeface="Arial" panose="020B0604020202020204" pitchFamily="34" charset="0"/>
              <a:buNone/>
              <a:defRPr sz="1500" kern="1200">
                <a:solidFill>
                  <a:schemeClr val="tx1"/>
                </a:solidFill>
                <a:latin typeface="+mn-lt"/>
                <a:ea typeface="+mn-ea"/>
                <a:cs typeface="+mn-cs"/>
              </a:defRPr>
            </a:lvl3pPr>
            <a:lvl4pPr marL="1200150" lvl="3"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4pPr>
            <a:lvl5pPr marL="1543050" lvl="4"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5pPr>
            <a:lvl6pPr marL="1885950" lvl="5"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6pPr>
            <a:lvl7pPr marL="2228850" lvl="6"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7pPr>
            <a:lvl8pPr marL="2571750" lvl="7"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8pPr>
            <a:lvl9pPr marL="2914650" lvl="8" indent="-171450" algn="ctr"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9pPr>
          </a:lstStyle>
          <a:p>
            <a:pPr marL="0" indent="0"/>
            <a:r>
              <a:rPr lang="en-US" sz="1800" dirty="0"/>
              <a:t>Future Work</a:t>
            </a:r>
          </a:p>
        </p:txBody>
      </p:sp>
      <p:sp>
        <p:nvSpPr>
          <p:cNvPr id="3" name="Google Shape;313;p35">
            <a:extLst>
              <a:ext uri="{FF2B5EF4-FFF2-40B4-BE49-F238E27FC236}">
                <a16:creationId xmlns:a16="http://schemas.microsoft.com/office/drawing/2014/main" id="{DB8241FC-D2E7-CDAD-8FF5-F6FFA259EB38}"/>
              </a:ext>
            </a:extLst>
          </p:cNvPr>
          <p:cNvSpPr txBox="1">
            <a:spLocks/>
          </p:cNvSpPr>
          <p:nvPr/>
        </p:nvSpPr>
        <p:spPr>
          <a:xfrm>
            <a:off x="7635800" y="2977575"/>
            <a:ext cx="365700" cy="365700"/>
          </a:xfrm>
          <a:prstGeom prst="rect">
            <a:avLst/>
          </a:prstGeom>
          <a:solidFill>
            <a:schemeClr val="dk1"/>
          </a:solidFill>
        </p:spPr>
        <p:txBody>
          <a:bodyPr spcFirstLastPara="1" vert="horz" wrap="square" lIns="91425" tIns="91425" rIns="91425" bIns="91425" rtlCol="0" anchor="ctr" anchorCtr="0">
            <a:noAutofit/>
          </a:bodyPr>
          <a:lstStyle>
            <a:lvl1pPr lvl="0" algn="ctr" defTabSz="685800" rtl="0" eaLnBrk="1" latinLnBrk="0" hangingPunct="1">
              <a:lnSpc>
                <a:spcPct val="115000"/>
              </a:lnSpc>
              <a:spcBef>
                <a:spcPts val="0"/>
              </a:spcBef>
              <a:spcAft>
                <a:spcPts val="0"/>
              </a:spcAft>
              <a:buSzPts val="3000"/>
              <a:buNone/>
              <a:defRPr sz="1100" kern="1200">
                <a:solidFill>
                  <a:schemeClr val="lt1"/>
                </a:solidFill>
                <a:latin typeface="+mj-lt"/>
                <a:ea typeface="+mj-ea"/>
                <a:cs typeface="+mj-cs"/>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rPr lang="en" dirty="0"/>
              <a:t>07</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6"/>
          <p:cNvSpPr txBox="1">
            <a:spLocks noGrp="1"/>
          </p:cNvSpPr>
          <p:nvPr>
            <p:ph type="title"/>
          </p:nvPr>
        </p:nvSpPr>
        <p:spPr>
          <a:xfrm>
            <a:off x="1273718" y="301765"/>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Introduction</a:t>
            </a:r>
            <a:endParaRPr sz="2400" dirty="0"/>
          </a:p>
        </p:txBody>
      </p:sp>
      <p:sp>
        <p:nvSpPr>
          <p:cNvPr id="331" name="Google Shape;331;p36"/>
          <p:cNvSpPr txBox="1">
            <a:spLocks noGrp="1"/>
          </p:cNvSpPr>
          <p:nvPr>
            <p:ph type="title" idx="2"/>
          </p:nvPr>
        </p:nvSpPr>
        <p:spPr>
          <a:xfrm>
            <a:off x="272960" y="228750"/>
            <a:ext cx="824400" cy="705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330" name="Google Shape;330;p36"/>
          <p:cNvSpPr txBox="1">
            <a:spLocks noGrp="1"/>
          </p:cNvSpPr>
          <p:nvPr>
            <p:ph type="subTitle" idx="1"/>
          </p:nvPr>
        </p:nvSpPr>
        <p:spPr>
          <a:xfrm>
            <a:off x="272960" y="1361167"/>
            <a:ext cx="5487760" cy="2815123"/>
          </a:xfrm>
          <a:prstGeom prst="rect">
            <a:avLst/>
          </a:prstGeom>
        </p:spPr>
        <p:txBody>
          <a:bodyPr spcFirstLastPara="1" wrap="square" lIns="91425" tIns="91425" rIns="91425" bIns="91425" anchor="t" anchorCtr="0">
            <a:noAutofit/>
          </a:bodyPr>
          <a:lstStyle/>
          <a:p>
            <a:pPr marL="0" indent="0"/>
            <a:r>
              <a:rPr lang="en-US" sz="1800" dirty="0"/>
              <a:t>Short-term electrical load forecasting is essential for planning and operating a reliable power system. It helps utilities manage demand, reduce costs, and improve overall efficiency. The </a:t>
            </a:r>
            <a:r>
              <a:rPr lang="en-US" sz="1800" dirty="0" err="1"/>
              <a:t>Baneshwor</a:t>
            </a:r>
            <a:r>
              <a:rPr lang="en-US" sz="1800" dirty="0"/>
              <a:t> Feeder serves a mix of households, businesses, and small industries, and its load pattern shifts with time, weather, and community activities. This project explores how modern machine learning and deep learning models can forecast its hourly demand more accurately than traditional methods.</a:t>
            </a:r>
          </a:p>
          <a:p>
            <a:pPr marL="0" lvl="0" indent="0" algn="l" rtl="0">
              <a:spcBef>
                <a:spcPts val="0"/>
              </a:spcBef>
              <a:spcAft>
                <a:spcPts val="0"/>
              </a:spcAft>
              <a:buNone/>
            </a:pPr>
            <a:endParaRPr lang="en-US" sz="1800" dirty="0"/>
          </a:p>
        </p:txBody>
      </p:sp>
      <p:pic>
        <p:nvPicPr>
          <p:cNvPr id="2" name="Picture 1">
            <a:extLst>
              <a:ext uri="{FF2B5EF4-FFF2-40B4-BE49-F238E27FC236}">
                <a16:creationId xmlns:a16="http://schemas.microsoft.com/office/drawing/2014/main" id="{3F7F4FBC-54C5-B862-1125-E613B3F2698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1595" y="1644097"/>
            <a:ext cx="2684565" cy="1997546"/>
          </a:xfrm>
          <a:prstGeom prst="rect">
            <a:avLst/>
          </a:prstGeom>
        </p:spPr>
      </p:pic>
      <p:sp>
        <p:nvSpPr>
          <p:cNvPr id="4" name="Google Shape;330;p36">
            <a:extLst>
              <a:ext uri="{FF2B5EF4-FFF2-40B4-BE49-F238E27FC236}">
                <a16:creationId xmlns:a16="http://schemas.microsoft.com/office/drawing/2014/main" id="{5FF01715-F226-464B-79D8-29CB630C06A4}"/>
              </a:ext>
            </a:extLst>
          </p:cNvPr>
          <p:cNvSpPr txBox="1">
            <a:spLocks/>
          </p:cNvSpPr>
          <p:nvPr/>
        </p:nvSpPr>
        <p:spPr>
          <a:xfrm>
            <a:off x="5961595" y="3723419"/>
            <a:ext cx="2700271"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1.1: </a:t>
            </a:r>
            <a:r>
              <a:rPr lang="en-US" sz="1100" i="1" dirty="0" err="1"/>
              <a:t>Baneshwor</a:t>
            </a:r>
            <a:r>
              <a:rPr lang="en-US" sz="1100" i="1" dirty="0"/>
              <a:t> Feeder View</a:t>
            </a:r>
          </a:p>
        </p:txBody>
      </p:sp>
      <p:sp>
        <p:nvSpPr>
          <p:cNvPr id="3" name="Google Shape;330;p36">
            <a:extLst>
              <a:ext uri="{FF2B5EF4-FFF2-40B4-BE49-F238E27FC236}">
                <a16:creationId xmlns:a16="http://schemas.microsoft.com/office/drawing/2014/main" id="{8AAFE696-816A-F0E9-43CD-4501DD434978}"/>
              </a:ext>
            </a:extLst>
          </p:cNvPr>
          <p:cNvSpPr txBox="1">
            <a:spLocks/>
          </p:cNvSpPr>
          <p:nvPr/>
        </p:nvSpPr>
        <p:spPr>
          <a:xfrm>
            <a:off x="272960" y="467672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1 - </a:t>
            </a:r>
            <a:fld id="{1612EBDF-BBCF-4455-9CA4-C9C775D5C22A}" type="datetime1">
              <a:rPr lang="en-US" sz="1000" smtClean="0"/>
              <a:t>1/16/2026</a:t>
            </a:fld>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lose-up of a diagram&#10;&#10;AI-generated content may be incorrect.">
            <a:extLst>
              <a:ext uri="{FF2B5EF4-FFF2-40B4-BE49-F238E27FC236}">
                <a16:creationId xmlns:a16="http://schemas.microsoft.com/office/drawing/2014/main" id="{F207EF82-AA8F-422F-10B4-4195E1204B08}"/>
              </a:ext>
            </a:extLst>
          </p:cNvPr>
          <p:cNvPicPr>
            <a:picLocks noChangeAspect="1"/>
          </p:cNvPicPr>
          <p:nvPr/>
        </p:nvPicPr>
        <p:blipFill>
          <a:blip r:embed="rId2"/>
          <a:srcRect t="1689"/>
          <a:stretch/>
        </p:blipFill>
        <p:spPr>
          <a:xfrm>
            <a:off x="2318166" y="115039"/>
            <a:ext cx="4737532" cy="4733885"/>
          </a:xfrm>
          <a:prstGeom prst="rect">
            <a:avLst/>
          </a:prstGeom>
        </p:spPr>
      </p:pic>
      <p:sp>
        <p:nvSpPr>
          <p:cNvPr id="8" name="Google Shape;330;p36">
            <a:extLst>
              <a:ext uri="{FF2B5EF4-FFF2-40B4-BE49-F238E27FC236}">
                <a16:creationId xmlns:a16="http://schemas.microsoft.com/office/drawing/2014/main" id="{FBDCE3E4-7494-5519-A649-9C38002052DE}"/>
              </a:ext>
            </a:extLst>
          </p:cNvPr>
          <p:cNvSpPr txBox="1">
            <a:spLocks/>
          </p:cNvSpPr>
          <p:nvPr/>
        </p:nvSpPr>
        <p:spPr>
          <a:xfrm>
            <a:off x="2238572" y="4795584"/>
            <a:ext cx="4896720"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1.2: Substation &amp; Transmission Line Network </a:t>
            </a:r>
            <a:r>
              <a:rPr lang="en-US" sz="1100" i="1" dirty="0" err="1"/>
              <a:t>Baneshwor</a:t>
            </a:r>
            <a:r>
              <a:rPr lang="en-US" sz="1100" i="1" dirty="0"/>
              <a:t> </a:t>
            </a:r>
          </a:p>
        </p:txBody>
      </p:sp>
    </p:spTree>
    <p:extLst>
      <p:ext uri="{BB962C8B-B14F-4D97-AF65-F5344CB8AC3E}">
        <p14:creationId xmlns:p14="http://schemas.microsoft.com/office/powerpoint/2010/main" val="3231267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C2111AF8-C9AA-7F8C-B147-558D53F32554}"/>
              </a:ext>
            </a:extLst>
          </p:cNvPr>
          <p:cNvSpPr txBox="1">
            <a:spLocks noGrp="1"/>
          </p:cNvSpPr>
          <p:nvPr>
            <p:ph type="title"/>
          </p:nvPr>
        </p:nvSpPr>
        <p:spPr>
          <a:xfrm>
            <a:off x="1233078" y="403456"/>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Problem Statement</a:t>
            </a:r>
            <a:endParaRPr sz="2400" dirty="0"/>
          </a:p>
        </p:txBody>
      </p:sp>
      <p:sp>
        <p:nvSpPr>
          <p:cNvPr id="5" name="Google Shape;330;p36">
            <a:extLst>
              <a:ext uri="{FF2B5EF4-FFF2-40B4-BE49-F238E27FC236}">
                <a16:creationId xmlns:a16="http://schemas.microsoft.com/office/drawing/2014/main" id="{C1C0F850-0FD7-F69E-7945-BC62359D026F}"/>
              </a:ext>
            </a:extLst>
          </p:cNvPr>
          <p:cNvSpPr txBox="1">
            <a:spLocks noGrp="1"/>
          </p:cNvSpPr>
          <p:nvPr>
            <p:ph type="subTitle" idx="1"/>
          </p:nvPr>
        </p:nvSpPr>
        <p:spPr>
          <a:xfrm>
            <a:off x="283121" y="1310827"/>
            <a:ext cx="7976216" cy="2815123"/>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SzPts val="1200"/>
              <a:buFont typeface="Arial" panose="020B0604020202020204" pitchFamily="34" charset="0"/>
              <a:buChar char="•"/>
            </a:pPr>
            <a:r>
              <a:rPr lang="en-US" sz="1600" dirty="0"/>
              <a:t>Existing forecasting methods for the </a:t>
            </a:r>
            <a:r>
              <a:rPr lang="en-US" sz="1600" dirty="0" err="1"/>
              <a:t>Baneshwor</a:t>
            </a:r>
            <a:r>
              <a:rPr lang="en-US" sz="1600" dirty="0"/>
              <a:t> Feeder rely on manual estimates or traditional statistical models that struggle to capture nonlinear and rapidly changing load patterns.</a:t>
            </a:r>
          </a:p>
          <a:p>
            <a:pPr marL="171450" lvl="0" indent="-171450" algn="l" rtl="0">
              <a:spcBef>
                <a:spcPts val="0"/>
              </a:spcBef>
              <a:spcAft>
                <a:spcPts val="0"/>
              </a:spcAft>
              <a:buSzPts val="1200"/>
              <a:buFont typeface="Arial" panose="020B0604020202020204" pitchFamily="34" charset="0"/>
              <a:buChar char="•"/>
            </a:pPr>
            <a:endParaRPr lang="en-US" sz="1600" dirty="0"/>
          </a:p>
          <a:p>
            <a:pPr marL="171450" lvl="0" indent="-171450" algn="l" rtl="0">
              <a:spcBef>
                <a:spcPts val="0"/>
              </a:spcBef>
              <a:spcAft>
                <a:spcPts val="0"/>
              </a:spcAft>
              <a:buSzPts val="1200"/>
              <a:buFont typeface="Arial" panose="020B0604020202020204" pitchFamily="34" charset="0"/>
              <a:buChar char="•"/>
            </a:pPr>
            <a:r>
              <a:rPr lang="en-US" sz="1600" dirty="0"/>
              <a:t>Weather changes, calendar effects, and local demand variations make the load behavior more complex, reducing the accuracy of current forecasting practices.</a:t>
            </a:r>
          </a:p>
          <a:p>
            <a:pPr marL="171450" lvl="0" indent="-171450" algn="l" rtl="0">
              <a:spcBef>
                <a:spcPts val="0"/>
              </a:spcBef>
              <a:spcAft>
                <a:spcPts val="0"/>
              </a:spcAft>
              <a:buSzPts val="1200"/>
              <a:buFont typeface="Arial" panose="020B0604020202020204" pitchFamily="34" charset="0"/>
              <a:buChar char="•"/>
            </a:pPr>
            <a:endParaRPr lang="en-US" sz="1600" dirty="0"/>
          </a:p>
          <a:p>
            <a:pPr marL="171450" lvl="0" indent="-171450" algn="l" rtl="0">
              <a:spcBef>
                <a:spcPts val="0"/>
              </a:spcBef>
              <a:spcAft>
                <a:spcPts val="0"/>
              </a:spcAft>
              <a:buSzPts val="1200"/>
              <a:buFont typeface="Arial" panose="020B0604020202020204" pitchFamily="34" charset="0"/>
              <a:buChar char="•"/>
            </a:pPr>
            <a:r>
              <a:rPr lang="en-US" sz="1600" dirty="0"/>
              <a:t>Inaccurate forecasts lead to poor generation scheduling, higher operational costs, increased technical losses, and potential reliability issues in the distribution system.</a:t>
            </a:r>
          </a:p>
          <a:p>
            <a:pPr marL="171450" lvl="0" indent="-171450" algn="l" rtl="0">
              <a:spcBef>
                <a:spcPts val="0"/>
              </a:spcBef>
              <a:spcAft>
                <a:spcPts val="0"/>
              </a:spcAft>
              <a:buSzPts val="1200"/>
              <a:buFont typeface="Arial" panose="020B0604020202020204" pitchFamily="34" charset="0"/>
              <a:buChar char="•"/>
            </a:pPr>
            <a:endParaRPr lang="en-US" sz="1600" dirty="0"/>
          </a:p>
          <a:p>
            <a:pPr marL="171450" lvl="0" indent="-171450" algn="l" rtl="0">
              <a:spcBef>
                <a:spcPts val="0"/>
              </a:spcBef>
              <a:spcAft>
                <a:spcPts val="0"/>
              </a:spcAft>
              <a:buSzPts val="1200"/>
              <a:buFont typeface="Arial" panose="020B0604020202020204" pitchFamily="34" charset="0"/>
              <a:buChar char="•"/>
            </a:pPr>
            <a:r>
              <a:rPr lang="en-US" sz="1600" dirty="0"/>
              <a:t>There is no systematic study that applies and compares advanced machine learning and deep learning models for short-term forecasting of this specific feeder.</a:t>
            </a:r>
          </a:p>
          <a:p>
            <a:pPr marL="171450" lvl="0" indent="-171450" algn="l" rtl="0">
              <a:spcBef>
                <a:spcPts val="0"/>
              </a:spcBef>
              <a:spcAft>
                <a:spcPts val="0"/>
              </a:spcAft>
              <a:buSzPts val="1200"/>
              <a:buFont typeface="Arial" panose="020B0604020202020204" pitchFamily="34" charset="0"/>
              <a:buChar char="•"/>
            </a:pPr>
            <a:endParaRPr lang="en-US" sz="1600" dirty="0"/>
          </a:p>
        </p:txBody>
      </p:sp>
      <p:sp>
        <p:nvSpPr>
          <p:cNvPr id="6" name="Google Shape;331;p36">
            <a:extLst>
              <a:ext uri="{FF2B5EF4-FFF2-40B4-BE49-F238E27FC236}">
                <a16:creationId xmlns:a16="http://schemas.microsoft.com/office/drawing/2014/main" id="{7F3DC611-DEC2-152C-C0C8-0EAC33F35C51}"/>
              </a:ext>
            </a:extLst>
          </p:cNvPr>
          <p:cNvSpPr txBox="1">
            <a:spLocks/>
          </p:cNvSpPr>
          <p:nvPr/>
        </p:nvSpPr>
        <p:spPr>
          <a:xfrm>
            <a:off x="283120" y="257426"/>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02</a:t>
            </a:r>
            <a:endParaRPr lang="en" dirty="0"/>
          </a:p>
        </p:txBody>
      </p:sp>
      <p:sp>
        <p:nvSpPr>
          <p:cNvPr id="2" name="Google Shape;330;p36">
            <a:extLst>
              <a:ext uri="{FF2B5EF4-FFF2-40B4-BE49-F238E27FC236}">
                <a16:creationId xmlns:a16="http://schemas.microsoft.com/office/drawing/2014/main" id="{5CB62333-CA21-467C-199A-8FD628ED8659}"/>
              </a:ext>
            </a:extLst>
          </p:cNvPr>
          <p:cNvSpPr txBox="1">
            <a:spLocks/>
          </p:cNvSpPr>
          <p:nvPr/>
        </p:nvSpPr>
        <p:spPr>
          <a:xfrm>
            <a:off x="283120" y="4664223"/>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2 - </a:t>
            </a:r>
            <a:fld id="{1612EBDF-BBCF-4455-9CA4-C9C775D5C22A}" type="datetime1">
              <a:rPr lang="en-US" sz="1000" smtClean="0"/>
              <a:t>1/16/2026</a:t>
            </a:fld>
            <a:endParaRPr lang="en-US" sz="1000" dirty="0"/>
          </a:p>
        </p:txBody>
      </p:sp>
    </p:spTree>
    <p:extLst>
      <p:ext uri="{BB962C8B-B14F-4D97-AF65-F5344CB8AC3E}">
        <p14:creationId xmlns:p14="http://schemas.microsoft.com/office/powerpoint/2010/main" val="11041065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7"/>
          <p:cNvSpPr txBox="1">
            <a:spLocks noGrp="1"/>
          </p:cNvSpPr>
          <p:nvPr>
            <p:ph type="title"/>
          </p:nvPr>
        </p:nvSpPr>
        <p:spPr>
          <a:xfrm>
            <a:off x="1053898" y="296307"/>
            <a:ext cx="7710900" cy="622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Objectives</a:t>
            </a:r>
            <a:endParaRPr dirty="0"/>
          </a:p>
        </p:txBody>
      </p:sp>
      <p:sp>
        <p:nvSpPr>
          <p:cNvPr id="337" name="Google Shape;337;p37"/>
          <p:cNvSpPr txBox="1">
            <a:spLocks noGrp="1"/>
          </p:cNvSpPr>
          <p:nvPr>
            <p:ph type="subTitle" idx="1"/>
          </p:nvPr>
        </p:nvSpPr>
        <p:spPr>
          <a:xfrm>
            <a:off x="927211" y="1250819"/>
            <a:ext cx="7598060" cy="833259"/>
          </a:xfrm>
          <a:prstGeom prst="rect">
            <a:avLst/>
          </a:prstGeom>
        </p:spPr>
        <p:txBody>
          <a:bodyPr spcFirstLastPara="1" wrap="square" lIns="91425" tIns="91425" rIns="91425" bIns="91425" anchor="t" anchorCtr="0">
            <a:noAutofit/>
          </a:bodyPr>
          <a:lstStyle/>
          <a:p>
            <a:r>
              <a:rPr lang="en-US" dirty="0"/>
              <a:t>    To develop an accurate short-term electrical load forecasting model for the </a:t>
            </a:r>
            <a:r>
              <a:rPr lang="en-US" dirty="0" err="1"/>
              <a:t>Baneshwor</a:t>
            </a:r>
            <a:r>
              <a:rPr lang="en-US" dirty="0"/>
              <a:t> Feeder by integrating cleaned load data, weather variables, and advanced ML/DL techniques.</a:t>
            </a:r>
          </a:p>
        </p:txBody>
      </p:sp>
      <p:sp>
        <p:nvSpPr>
          <p:cNvPr id="340" name="Google Shape;340;p37"/>
          <p:cNvSpPr txBox="1">
            <a:spLocks noGrp="1"/>
          </p:cNvSpPr>
          <p:nvPr>
            <p:ph type="subTitle" idx="4"/>
          </p:nvPr>
        </p:nvSpPr>
        <p:spPr>
          <a:xfrm>
            <a:off x="1105630" y="790139"/>
            <a:ext cx="66132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1600" dirty="0"/>
              <a:t>Main Objective</a:t>
            </a:r>
            <a:endParaRPr sz="1600" dirty="0"/>
          </a:p>
        </p:txBody>
      </p:sp>
      <p:sp>
        <p:nvSpPr>
          <p:cNvPr id="2" name="Google Shape;331;p36">
            <a:extLst>
              <a:ext uri="{FF2B5EF4-FFF2-40B4-BE49-F238E27FC236}">
                <a16:creationId xmlns:a16="http://schemas.microsoft.com/office/drawing/2014/main" id="{4ADBD699-4F2A-0DF1-3355-47A9E12D9797}"/>
              </a:ext>
            </a:extLst>
          </p:cNvPr>
          <p:cNvSpPr txBox="1">
            <a:spLocks/>
          </p:cNvSpPr>
          <p:nvPr/>
        </p:nvSpPr>
        <p:spPr>
          <a:xfrm>
            <a:off x="231235" y="23149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03</a:t>
            </a:r>
            <a:endParaRPr lang="en" dirty="0"/>
          </a:p>
        </p:txBody>
      </p:sp>
      <p:sp>
        <p:nvSpPr>
          <p:cNvPr id="3" name="Google Shape;330;p36">
            <a:extLst>
              <a:ext uri="{FF2B5EF4-FFF2-40B4-BE49-F238E27FC236}">
                <a16:creationId xmlns:a16="http://schemas.microsoft.com/office/drawing/2014/main" id="{95D11FBD-16EF-9E0E-89BB-48A085204F1B}"/>
              </a:ext>
            </a:extLst>
          </p:cNvPr>
          <p:cNvSpPr txBox="1">
            <a:spLocks/>
          </p:cNvSpPr>
          <p:nvPr/>
        </p:nvSpPr>
        <p:spPr>
          <a:xfrm>
            <a:off x="288820" y="4617639"/>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3 - </a:t>
            </a:r>
            <a:fld id="{1612EBDF-BBCF-4455-9CA4-C9C775D5C22A}" type="datetime1">
              <a:rPr lang="en-US" sz="1000" smtClean="0"/>
              <a:t>1/16/2026</a:t>
            </a:fld>
            <a:endParaRPr lang="en-US" sz="1000" dirty="0"/>
          </a:p>
        </p:txBody>
      </p:sp>
      <p:sp>
        <p:nvSpPr>
          <p:cNvPr id="12" name="Google Shape;337;p37">
            <a:extLst>
              <a:ext uri="{FF2B5EF4-FFF2-40B4-BE49-F238E27FC236}">
                <a16:creationId xmlns:a16="http://schemas.microsoft.com/office/drawing/2014/main" id="{8B759DFD-2696-0808-14AD-CE656FF7C080}"/>
              </a:ext>
            </a:extLst>
          </p:cNvPr>
          <p:cNvSpPr txBox="1">
            <a:spLocks/>
          </p:cNvSpPr>
          <p:nvPr/>
        </p:nvSpPr>
        <p:spPr>
          <a:xfrm>
            <a:off x="1210820" y="2557832"/>
            <a:ext cx="7598060" cy="1957135"/>
          </a:xfrm>
          <a:prstGeom prst="rect">
            <a:avLst/>
          </a:prstGeom>
        </p:spPr>
        <p:txBody>
          <a:bodyPr spcFirstLastPara="1" vert="horz" wrap="square" lIns="91425" tIns="91425" rIns="91425" bIns="91425" rtlCol="0" anchor="t" anchorCtr="0">
            <a:noAutofit/>
          </a:bodyPr>
          <a:lstStyle>
            <a:lvl1pPr marL="171450" lvl="0" indent="-171450" algn="l" defTabSz="685800" rtl="0" eaLnBrk="1" latinLnBrk="0" hangingPunct="1">
              <a:lnSpc>
                <a:spcPct val="115000"/>
              </a:lnSpc>
              <a:spcBef>
                <a:spcPts val="0"/>
              </a:spcBef>
              <a:spcAft>
                <a:spcPts val="0"/>
              </a:spcAft>
              <a:buSzPts val="1400"/>
              <a:buFont typeface="Arial" panose="020B0604020202020204" pitchFamily="34" charset="0"/>
              <a:buNone/>
              <a:defRPr sz="1400" kern="1200">
                <a:solidFill>
                  <a:schemeClr val="tx1"/>
                </a:solidFill>
                <a:latin typeface="Hanken Grotesk"/>
                <a:ea typeface="Hanken Grotesk"/>
                <a:cs typeface="Hanken Grotesk"/>
                <a:sym typeface="Hanken Grotesk"/>
              </a:defRPr>
            </a:lvl1pPr>
            <a:lvl2pPr marL="514350" lvl="1" indent="-171450" algn="l" defTabSz="685800" rtl="0" eaLnBrk="1" latinLnBrk="0" hangingPunct="1">
              <a:lnSpc>
                <a:spcPct val="115000"/>
              </a:lnSpc>
              <a:spcBef>
                <a:spcPts val="0"/>
              </a:spcBef>
              <a:spcAft>
                <a:spcPts val="0"/>
              </a:spcAft>
              <a:buSzPts val="1400"/>
              <a:buFont typeface="Arial" panose="020B0604020202020204" pitchFamily="34" charset="0"/>
              <a:buNone/>
              <a:defRPr sz="1800" kern="1200">
                <a:solidFill>
                  <a:schemeClr val="tx1"/>
                </a:solidFill>
                <a:latin typeface="+mn-lt"/>
                <a:ea typeface="+mn-ea"/>
                <a:cs typeface="+mn-cs"/>
              </a:defRPr>
            </a:lvl2pPr>
            <a:lvl3pPr marL="857250" lvl="2" indent="-171450" algn="l" defTabSz="685800" rtl="0" eaLnBrk="1" latinLnBrk="0" hangingPunct="1">
              <a:lnSpc>
                <a:spcPct val="115000"/>
              </a:lnSpc>
              <a:spcBef>
                <a:spcPts val="0"/>
              </a:spcBef>
              <a:spcAft>
                <a:spcPts val="0"/>
              </a:spcAft>
              <a:buSzPts val="1400"/>
              <a:buFont typeface="Arial" panose="020B0604020202020204" pitchFamily="34" charset="0"/>
              <a:buNone/>
              <a:defRPr sz="1500" kern="1200">
                <a:solidFill>
                  <a:schemeClr val="tx1"/>
                </a:solidFill>
                <a:latin typeface="+mn-lt"/>
                <a:ea typeface="+mn-ea"/>
                <a:cs typeface="+mn-cs"/>
              </a:defRPr>
            </a:lvl3pPr>
            <a:lvl4pPr marL="1200150" lvl="3"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4pPr>
            <a:lvl5pPr marL="1543050" lvl="4"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5pPr>
            <a:lvl6pPr marL="1885950" lvl="5"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6pPr>
            <a:lvl7pPr marL="2228850" lvl="6"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7pPr>
            <a:lvl8pPr marL="2571750" lvl="7"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8pPr>
            <a:lvl9pPr marL="2914650" lvl="8" indent="-171450" algn="l" defTabSz="685800" rtl="0" eaLnBrk="1" latinLnBrk="0" hangingPunct="1">
              <a:lnSpc>
                <a:spcPct val="115000"/>
              </a:lnSpc>
              <a:spcBef>
                <a:spcPts val="0"/>
              </a:spcBef>
              <a:spcAft>
                <a:spcPts val="0"/>
              </a:spcAft>
              <a:buSzPts val="1400"/>
              <a:buFont typeface="Arial" panose="020B0604020202020204" pitchFamily="34" charset="0"/>
              <a:buNone/>
              <a:defRPr sz="1350" kern="1200">
                <a:solidFill>
                  <a:schemeClr val="tx1"/>
                </a:solidFill>
                <a:latin typeface="+mn-lt"/>
                <a:ea typeface="+mn-ea"/>
                <a:cs typeface="+mn-cs"/>
              </a:defRPr>
            </a:lvl9pPr>
          </a:lstStyle>
          <a:p>
            <a:pPr marL="285750" indent="-285750">
              <a:buFont typeface="Arial" panose="020B0604020202020204" pitchFamily="34" charset="0"/>
              <a:buChar char="•"/>
            </a:pPr>
            <a:r>
              <a:rPr lang="en-US" dirty="0"/>
              <a:t>To collect, clean, and standardize multi-year feeder load and weather data</a:t>
            </a:r>
          </a:p>
          <a:p>
            <a:pPr marL="285750" indent="-285750">
              <a:buFont typeface="Arial" panose="020B0604020202020204" pitchFamily="34" charset="0"/>
              <a:buChar char="•"/>
            </a:pPr>
            <a:r>
              <a:rPr lang="en-US" dirty="0"/>
              <a:t>To engineer meaningful temporal and weather-based features for forecasting</a:t>
            </a:r>
          </a:p>
          <a:p>
            <a:pPr marL="285750" indent="-285750">
              <a:buFont typeface="Arial" panose="020B0604020202020204" pitchFamily="34" charset="0"/>
              <a:buChar char="•"/>
            </a:pPr>
            <a:r>
              <a:rPr lang="en-US" dirty="0"/>
              <a:t>To compare the performance of ML models (LR, Ridge, SVR, RF, GBR, </a:t>
            </a:r>
            <a:r>
              <a:rPr lang="en-US" dirty="0" err="1"/>
              <a:t>XGBoost</a:t>
            </a:r>
            <a:r>
              <a:rPr lang="en-US" dirty="0"/>
              <a:t>)</a:t>
            </a:r>
          </a:p>
          <a:p>
            <a:pPr marL="285750" indent="-285750">
              <a:buFont typeface="Arial" panose="020B0604020202020204" pitchFamily="34" charset="0"/>
              <a:buChar char="•"/>
            </a:pPr>
            <a:r>
              <a:rPr lang="en-US" dirty="0"/>
              <a:t>To evaluate deep learning models (LSTM, GRU) using sequential forecasting methods</a:t>
            </a:r>
          </a:p>
          <a:p>
            <a:pPr marL="285750" indent="-285750">
              <a:buFont typeface="Arial" panose="020B0604020202020204" pitchFamily="34" charset="0"/>
              <a:buChar char="•"/>
            </a:pPr>
            <a:r>
              <a:rPr lang="en-US" dirty="0"/>
              <a:t>To identify the best-performing model based on RMSE, MAE, MAPE, and R²</a:t>
            </a:r>
          </a:p>
          <a:p>
            <a:pPr marL="285750" indent="-285750">
              <a:buFont typeface="Arial" panose="020B0604020202020204" pitchFamily="34" charset="0"/>
              <a:buChar char="•"/>
            </a:pPr>
            <a:r>
              <a:rPr lang="en-US" dirty="0"/>
              <a:t>To visualize load behavior across daily, weekly, and seasonal patterns</a:t>
            </a:r>
          </a:p>
          <a:p>
            <a:pPr marL="285750" indent="-285750">
              <a:buFont typeface="Arial" panose="020B0604020202020204" pitchFamily="34" charset="0"/>
              <a:buChar char="•"/>
            </a:pPr>
            <a:r>
              <a:rPr lang="en-US" dirty="0"/>
              <a:t>To prepare a final forecasting framework suitable for real-world feeder operations</a:t>
            </a:r>
          </a:p>
        </p:txBody>
      </p:sp>
      <p:sp>
        <p:nvSpPr>
          <p:cNvPr id="13" name="Google Shape;340;p37">
            <a:extLst>
              <a:ext uri="{FF2B5EF4-FFF2-40B4-BE49-F238E27FC236}">
                <a16:creationId xmlns:a16="http://schemas.microsoft.com/office/drawing/2014/main" id="{F1E839DB-A992-7A12-61DD-ABFC5598D34C}"/>
              </a:ext>
            </a:extLst>
          </p:cNvPr>
          <p:cNvSpPr txBox="1">
            <a:spLocks/>
          </p:cNvSpPr>
          <p:nvPr/>
        </p:nvSpPr>
        <p:spPr>
          <a:xfrm>
            <a:off x="1105630" y="2084078"/>
            <a:ext cx="6613200" cy="530400"/>
          </a:xfrm>
          <a:prstGeom prst="rect">
            <a:avLst/>
          </a:prstGeom>
        </p:spPr>
        <p:txBody>
          <a:bodyPr spcFirstLastPara="1" vert="horz" wrap="square" lIns="91425" tIns="91425" rIns="91425" bIns="91425" rtlCol="0" anchor="b" anchorCtr="0">
            <a:noAutofit/>
          </a:bodyPr>
          <a:lstStyle>
            <a:lvl1pPr marL="171450" lvl="0" indent="-171450" algn="l" defTabSz="685800" rtl="0" eaLnBrk="1" latinLnBrk="0" hangingPunct="1">
              <a:lnSpc>
                <a:spcPct val="115000"/>
              </a:lnSpc>
              <a:spcBef>
                <a:spcPts val="0"/>
              </a:spcBef>
              <a:spcAft>
                <a:spcPts val="0"/>
              </a:spcAft>
              <a:buSzPts val="2400"/>
              <a:buFont typeface="Figtree Black"/>
              <a:buNone/>
              <a:defRPr sz="1900" kern="1200">
                <a:solidFill>
                  <a:schemeClr val="tx1"/>
                </a:solidFill>
                <a:latin typeface="Figtree Black"/>
                <a:ea typeface="Figtree Black"/>
                <a:cs typeface="Figtree Black"/>
                <a:sym typeface="Figtree Black"/>
              </a:defRPr>
            </a:lvl1pPr>
            <a:lvl2pPr marL="514350" lvl="1"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2pPr>
            <a:lvl3pPr marL="857250" lvl="2"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3pPr>
            <a:lvl4pPr marL="1200150" lvl="3"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4pPr>
            <a:lvl5pPr marL="1543050" lvl="4"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5pPr>
            <a:lvl6pPr marL="1885950" lvl="5"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6pPr>
            <a:lvl7pPr marL="2228850" lvl="6"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7pPr>
            <a:lvl8pPr marL="2571750" lvl="7"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8pPr>
            <a:lvl9pPr marL="2914650" lvl="8" indent="-171450" algn="l" defTabSz="685800" rtl="0" eaLnBrk="1" latinLnBrk="0" hangingPunct="1">
              <a:lnSpc>
                <a:spcPct val="115000"/>
              </a:lnSpc>
              <a:spcBef>
                <a:spcPts val="0"/>
              </a:spcBef>
              <a:spcAft>
                <a:spcPts val="0"/>
              </a:spcAft>
              <a:buSzPts val="2400"/>
              <a:buFont typeface="Figtree Black"/>
              <a:buNone/>
              <a:defRPr sz="2400" kern="1200">
                <a:solidFill>
                  <a:schemeClr val="tx1"/>
                </a:solidFill>
                <a:latin typeface="Figtree Black"/>
                <a:ea typeface="Figtree Black"/>
                <a:cs typeface="Figtree Black"/>
                <a:sym typeface="Figtree Black"/>
              </a:defRPr>
            </a:lvl9pPr>
          </a:lstStyle>
          <a:p>
            <a:pPr marL="0" indent="0"/>
            <a:r>
              <a:rPr lang="en-US" sz="1600" dirty="0"/>
              <a:t>Specific Objective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7"/>
          <p:cNvSpPr txBox="1">
            <a:spLocks noGrp="1"/>
          </p:cNvSpPr>
          <p:nvPr>
            <p:ph type="title"/>
          </p:nvPr>
        </p:nvSpPr>
        <p:spPr>
          <a:xfrm>
            <a:off x="1053898" y="296307"/>
            <a:ext cx="7710900" cy="622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Literature Review</a:t>
            </a:r>
            <a:endParaRPr dirty="0"/>
          </a:p>
        </p:txBody>
      </p:sp>
      <p:sp>
        <p:nvSpPr>
          <p:cNvPr id="2" name="Google Shape;331;p36">
            <a:extLst>
              <a:ext uri="{FF2B5EF4-FFF2-40B4-BE49-F238E27FC236}">
                <a16:creationId xmlns:a16="http://schemas.microsoft.com/office/drawing/2014/main" id="{4ADBD699-4F2A-0DF1-3355-47A9E12D9797}"/>
              </a:ext>
            </a:extLst>
          </p:cNvPr>
          <p:cNvSpPr txBox="1">
            <a:spLocks/>
          </p:cNvSpPr>
          <p:nvPr/>
        </p:nvSpPr>
        <p:spPr>
          <a:xfrm>
            <a:off x="231235" y="23149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04</a:t>
            </a:r>
            <a:endParaRPr lang="en" dirty="0"/>
          </a:p>
        </p:txBody>
      </p:sp>
      <p:sp>
        <p:nvSpPr>
          <p:cNvPr id="3" name="Google Shape;330;p36">
            <a:extLst>
              <a:ext uri="{FF2B5EF4-FFF2-40B4-BE49-F238E27FC236}">
                <a16:creationId xmlns:a16="http://schemas.microsoft.com/office/drawing/2014/main" id="{95D11FBD-16EF-9E0E-89BB-48A085204F1B}"/>
              </a:ext>
            </a:extLst>
          </p:cNvPr>
          <p:cNvSpPr txBox="1">
            <a:spLocks/>
          </p:cNvSpPr>
          <p:nvPr/>
        </p:nvSpPr>
        <p:spPr>
          <a:xfrm>
            <a:off x="288820" y="4617639"/>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4 - </a:t>
            </a:r>
            <a:fld id="{1612EBDF-BBCF-4455-9CA4-C9C775D5C22A}" type="datetime1">
              <a:rPr lang="en-US" sz="1000" smtClean="0"/>
              <a:t>1/16/2026</a:t>
            </a:fld>
            <a:endParaRPr lang="en-US" sz="1000" dirty="0"/>
          </a:p>
        </p:txBody>
      </p:sp>
      <p:graphicFrame>
        <p:nvGraphicFramePr>
          <p:cNvPr id="7" name="Table 6">
            <a:extLst>
              <a:ext uri="{FF2B5EF4-FFF2-40B4-BE49-F238E27FC236}">
                <a16:creationId xmlns:a16="http://schemas.microsoft.com/office/drawing/2014/main" id="{E12A951F-F208-D7BE-8893-D86C756CBC5A}"/>
              </a:ext>
            </a:extLst>
          </p:cNvPr>
          <p:cNvGraphicFramePr>
            <a:graphicFrameLocks noGrp="1"/>
          </p:cNvGraphicFramePr>
          <p:nvPr>
            <p:extLst>
              <p:ext uri="{D42A27DB-BD31-4B8C-83A1-F6EECF244321}">
                <p14:modId xmlns:p14="http://schemas.microsoft.com/office/powerpoint/2010/main" val="513868440"/>
              </p:ext>
            </p:extLst>
          </p:nvPr>
        </p:nvGraphicFramePr>
        <p:xfrm>
          <a:off x="236782" y="1001307"/>
          <a:ext cx="8676761" cy="3598820"/>
        </p:xfrm>
        <a:graphic>
          <a:graphicData uri="http://schemas.openxmlformats.org/drawingml/2006/table">
            <a:tbl>
              <a:tblPr>
                <a:tableStyleId>{E67C124C-4383-4433-BF00-F876295D7A82}</a:tableStyleId>
              </a:tblPr>
              <a:tblGrid>
                <a:gridCol w="432485">
                  <a:extLst>
                    <a:ext uri="{9D8B030D-6E8A-4147-A177-3AD203B41FA5}">
                      <a16:colId xmlns:a16="http://schemas.microsoft.com/office/drawing/2014/main" val="3584260832"/>
                    </a:ext>
                  </a:extLst>
                </a:gridCol>
                <a:gridCol w="1427163">
                  <a:extLst>
                    <a:ext uri="{9D8B030D-6E8A-4147-A177-3AD203B41FA5}">
                      <a16:colId xmlns:a16="http://schemas.microsoft.com/office/drawing/2014/main" val="3374230467"/>
                    </a:ext>
                  </a:extLst>
                </a:gridCol>
                <a:gridCol w="988742">
                  <a:extLst>
                    <a:ext uri="{9D8B030D-6E8A-4147-A177-3AD203B41FA5}">
                      <a16:colId xmlns:a16="http://schemas.microsoft.com/office/drawing/2014/main" val="299431323"/>
                    </a:ext>
                  </a:extLst>
                </a:gridCol>
                <a:gridCol w="1367883">
                  <a:extLst>
                    <a:ext uri="{9D8B030D-6E8A-4147-A177-3AD203B41FA5}">
                      <a16:colId xmlns:a16="http://schemas.microsoft.com/office/drawing/2014/main" val="1406253806"/>
                    </a:ext>
                  </a:extLst>
                </a:gridCol>
                <a:gridCol w="1308409">
                  <a:extLst>
                    <a:ext uri="{9D8B030D-6E8A-4147-A177-3AD203B41FA5}">
                      <a16:colId xmlns:a16="http://schemas.microsoft.com/office/drawing/2014/main" val="857229933"/>
                    </a:ext>
                  </a:extLst>
                </a:gridCol>
                <a:gridCol w="1539265">
                  <a:extLst>
                    <a:ext uri="{9D8B030D-6E8A-4147-A177-3AD203B41FA5}">
                      <a16:colId xmlns:a16="http://schemas.microsoft.com/office/drawing/2014/main" val="2429128117"/>
                    </a:ext>
                  </a:extLst>
                </a:gridCol>
                <a:gridCol w="1612814">
                  <a:extLst>
                    <a:ext uri="{9D8B030D-6E8A-4147-A177-3AD203B41FA5}">
                      <a16:colId xmlns:a16="http://schemas.microsoft.com/office/drawing/2014/main" val="1763966613"/>
                    </a:ext>
                  </a:extLst>
                </a:gridCol>
              </a:tblGrid>
              <a:tr h="289339">
                <a:tc>
                  <a:txBody>
                    <a:bodyPr/>
                    <a:lstStyle/>
                    <a:p>
                      <a:pPr algn="ctr" fontAlgn="ctr"/>
                      <a:r>
                        <a:rPr lang="en-US" sz="1100" u="none" strike="noStrike">
                          <a:effectLst/>
                        </a:rPr>
                        <a:t>S.N.</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Author(s) &amp; Year</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Models Used</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Input Features</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Dataset / Study Area</a:t>
                      </a:r>
                      <a:endParaRPr lang="en-US" sz="1100" b="1"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dirty="0">
                          <a:effectLst/>
                        </a:rPr>
                        <a:t>Key Findings</a:t>
                      </a:r>
                      <a:endParaRPr lang="en-US" sz="1100" b="1" i="0" u="none" strike="noStrike" dirty="0">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Research Contribution</a:t>
                      </a:r>
                      <a:endParaRPr lang="en-US" sz="1100" b="1"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427265425"/>
                  </a:ext>
                </a:extLst>
              </a:tr>
              <a:tr h="934150">
                <a:tc>
                  <a:txBody>
                    <a:bodyPr/>
                    <a:lstStyle/>
                    <a:p>
                      <a:pPr algn="ctr" fontAlgn="ctr"/>
                      <a:r>
                        <a:rPr lang="en-US" sz="1100" u="none" strike="noStrike">
                          <a:effectLst/>
                        </a:rPr>
                        <a:t>1</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dirty="0">
                          <a:effectLst/>
                        </a:rPr>
                        <a:t>Singla et al. (2019)</a:t>
                      </a:r>
                      <a:endParaRPr lang="en-US" sz="1100" b="0" i="0" u="none" strike="noStrike" dirty="0">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ANN</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Dew point, dry bulb temperature, humidity</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Power system dataset</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dirty="0">
                          <a:effectLst/>
                        </a:rPr>
                        <a:t>ANN effectively captured nonlinear relation between weather and load</a:t>
                      </a:r>
                      <a:endParaRPr lang="en-US" sz="1100" b="0" i="0" u="none" strike="noStrike" dirty="0">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Demonstrated ANN suitability for STLF</a:t>
                      </a:r>
                      <a:endParaRPr lang="en-US" sz="1100" b="0"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444864778"/>
                  </a:ext>
                </a:extLst>
              </a:tr>
              <a:tr h="647567">
                <a:tc>
                  <a:txBody>
                    <a:bodyPr/>
                    <a:lstStyle/>
                    <a:p>
                      <a:pPr algn="ctr" fontAlgn="ctr"/>
                      <a:r>
                        <a:rPr lang="en-US" sz="1100" u="none" strike="noStrike">
                          <a:effectLst/>
                        </a:rPr>
                        <a:t>2</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Desai et al. (2021)</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Prophet (Meta)</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Time, temperature, humidity, weather forecast</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Electrical load data</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Prophet handled seasonality and missing data efficiently</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Introduced statistical ML hybrid for STLF</a:t>
                      </a:r>
                      <a:endParaRPr lang="en-US" sz="1100" b="0"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2167519520"/>
                  </a:ext>
                </a:extLst>
              </a:tr>
              <a:tr h="647567">
                <a:tc>
                  <a:txBody>
                    <a:bodyPr/>
                    <a:lstStyle/>
                    <a:p>
                      <a:pPr algn="ctr" fontAlgn="ctr"/>
                      <a:r>
                        <a:rPr lang="en-US" sz="1100" u="none" strike="noStrike">
                          <a:effectLst/>
                        </a:rPr>
                        <a:t>3</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Matrenin et al. (2022)</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XGBoost, AdaBoost, RF, SVR, DT</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Historical load data</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Isolated power systems</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Gradient boosting models outperformed traditional ML</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Highlighted superiority of ensemble boosting</a:t>
                      </a:r>
                      <a:endParaRPr lang="en-US" sz="1100" b="0"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1595448507"/>
                  </a:ext>
                </a:extLst>
              </a:tr>
              <a:tr h="504275">
                <a:tc>
                  <a:txBody>
                    <a:bodyPr/>
                    <a:lstStyle/>
                    <a:p>
                      <a:pPr algn="ctr" fontAlgn="ctr"/>
                      <a:r>
                        <a:rPr lang="en-US" sz="1100" u="none" strike="noStrike">
                          <a:effectLst/>
                        </a:rPr>
                        <a:t>4</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Aguilar Madrid &amp; Antonio (2021)</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RF, SVR, XGBoost</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Load history, weather, holidays</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Regional power system</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XGBoost achieved highest accuracy</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Justified tree-based ensemble models</a:t>
                      </a:r>
                      <a:endParaRPr lang="en-US" sz="1100" b="0" i="0" u="none" strike="noStrike">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878930790"/>
                  </a:ext>
                </a:extLst>
              </a:tr>
              <a:tr h="575922">
                <a:tc>
                  <a:txBody>
                    <a:bodyPr/>
                    <a:lstStyle/>
                    <a:p>
                      <a:pPr algn="ctr" fontAlgn="ctr"/>
                      <a:r>
                        <a:rPr lang="en-US" sz="1100" u="none" strike="noStrike">
                          <a:effectLst/>
                        </a:rPr>
                        <a:t>5</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Guo et al. (2021)</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SVM, RF, LSTM, Ensemble</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Load and weather features</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Large-scale power system</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a:effectLst/>
                        </a:rPr>
                        <a:t>Fusion of ML and DL improved accuracy</a:t>
                      </a:r>
                      <a:endParaRPr lang="en-US" sz="1100" b="0" i="0" u="none" strike="noStrike">
                        <a:solidFill>
                          <a:srgbClr val="000000"/>
                        </a:solidFill>
                        <a:effectLst/>
                        <a:latin typeface="Aptos" panose="020B0004020202020204" pitchFamily="34" charset="0"/>
                      </a:endParaRPr>
                    </a:p>
                  </a:txBody>
                  <a:tcPr marL="2498" marR="2498" marT="2498" marB="0" anchor="ctr"/>
                </a:tc>
                <a:tc>
                  <a:txBody>
                    <a:bodyPr/>
                    <a:lstStyle/>
                    <a:p>
                      <a:pPr algn="ctr" fontAlgn="ctr"/>
                      <a:r>
                        <a:rPr lang="en-US" sz="1100" u="none" strike="noStrike" dirty="0">
                          <a:effectLst/>
                        </a:rPr>
                        <a:t>Motivated ensemble forecasting strategies</a:t>
                      </a:r>
                      <a:endParaRPr lang="en-US" sz="1100" b="0" i="0" u="none" strike="noStrike" dirty="0">
                        <a:solidFill>
                          <a:srgbClr val="000000"/>
                        </a:solidFill>
                        <a:effectLst/>
                        <a:latin typeface="Aptos" panose="020B0004020202020204" pitchFamily="34" charset="0"/>
                      </a:endParaRPr>
                    </a:p>
                  </a:txBody>
                  <a:tcPr marL="2498" marR="2498" marT="2498" marB="0" anchor="ctr"/>
                </a:tc>
                <a:extLst>
                  <a:ext uri="{0D108BD9-81ED-4DB2-BD59-A6C34878D82A}">
                    <a16:rowId xmlns:a16="http://schemas.microsoft.com/office/drawing/2014/main" val="158239178"/>
                  </a:ext>
                </a:extLst>
              </a:tr>
            </a:tbl>
          </a:graphicData>
        </a:graphic>
      </p:graphicFrame>
    </p:spTree>
    <p:extLst>
      <p:ext uri="{BB962C8B-B14F-4D97-AF65-F5344CB8AC3E}">
        <p14:creationId xmlns:p14="http://schemas.microsoft.com/office/powerpoint/2010/main" val="2366881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7"/>
          <p:cNvSpPr txBox="1">
            <a:spLocks noGrp="1"/>
          </p:cNvSpPr>
          <p:nvPr>
            <p:ph type="title"/>
          </p:nvPr>
        </p:nvSpPr>
        <p:spPr>
          <a:xfrm>
            <a:off x="1053898" y="296307"/>
            <a:ext cx="7710900" cy="6226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Literature Review</a:t>
            </a:r>
            <a:endParaRPr dirty="0"/>
          </a:p>
        </p:txBody>
      </p:sp>
      <p:sp>
        <p:nvSpPr>
          <p:cNvPr id="2" name="Google Shape;331;p36">
            <a:extLst>
              <a:ext uri="{FF2B5EF4-FFF2-40B4-BE49-F238E27FC236}">
                <a16:creationId xmlns:a16="http://schemas.microsoft.com/office/drawing/2014/main" id="{4ADBD699-4F2A-0DF1-3355-47A9E12D9797}"/>
              </a:ext>
            </a:extLst>
          </p:cNvPr>
          <p:cNvSpPr txBox="1">
            <a:spLocks/>
          </p:cNvSpPr>
          <p:nvPr/>
        </p:nvSpPr>
        <p:spPr>
          <a:xfrm>
            <a:off x="231235" y="23149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04</a:t>
            </a:r>
            <a:endParaRPr lang="en" dirty="0"/>
          </a:p>
        </p:txBody>
      </p:sp>
      <p:sp>
        <p:nvSpPr>
          <p:cNvPr id="3" name="Google Shape;330;p36">
            <a:extLst>
              <a:ext uri="{FF2B5EF4-FFF2-40B4-BE49-F238E27FC236}">
                <a16:creationId xmlns:a16="http://schemas.microsoft.com/office/drawing/2014/main" id="{95D11FBD-16EF-9E0E-89BB-48A085204F1B}"/>
              </a:ext>
            </a:extLst>
          </p:cNvPr>
          <p:cNvSpPr txBox="1">
            <a:spLocks/>
          </p:cNvSpPr>
          <p:nvPr/>
        </p:nvSpPr>
        <p:spPr>
          <a:xfrm>
            <a:off x="231235" y="4737946"/>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5 - </a:t>
            </a:r>
            <a:fld id="{1612EBDF-BBCF-4455-9CA4-C9C775D5C22A}" type="datetime1">
              <a:rPr lang="en-US" sz="1000" smtClean="0"/>
              <a:t>1/16/2026</a:t>
            </a:fld>
            <a:endParaRPr lang="en-US" sz="1000" dirty="0"/>
          </a:p>
        </p:txBody>
      </p:sp>
      <p:graphicFrame>
        <p:nvGraphicFramePr>
          <p:cNvPr id="4" name="Table 3">
            <a:extLst>
              <a:ext uri="{FF2B5EF4-FFF2-40B4-BE49-F238E27FC236}">
                <a16:creationId xmlns:a16="http://schemas.microsoft.com/office/drawing/2014/main" id="{B150890C-1455-D2DB-78EF-913FE82E2278}"/>
              </a:ext>
            </a:extLst>
          </p:cNvPr>
          <p:cNvGraphicFramePr>
            <a:graphicFrameLocks noGrp="1"/>
          </p:cNvGraphicFramePr>
          <p:nvPr>
            <p:extLst>
              <p:ext uri="{D42A27DB-BD31-4B8C-83A1-F6EECF244321}">
                <p14:modId xmlns:p14="http://schemas.microsoft.com/office/powerpoint/2010/main" val="4211857429"/>
              </p:ext>
            </p:extLst>
          </p:nvPr>
        </p:nvGraphicFramePr>
        <p:xfrm>
          <a:off x="231234" y="993873"/>
          <a:ext cx="8622832" cy="3730966"/>
        </p:xfrm>
        <a:graphic>
          <a:graphicData uri="http://schemas.openxmlformats.org/drawingml/2006/table">
            <a:tbl>
              <a:tblPr>
                <a:tableStyleId>{E67C124C-4383-4433-BF00-F876295D7A82}</a:tableStyleId>
              </a:tblPr>
              <a:tblGrid>
                <a:gridCol w="429799">
                  <a:extLst>
                    <a:ext uri="{9D8B030D-6E8A-4147-A177-3AD203B41FA5}">
                      <a16:colId xmlns:a16="http://schemas.microsoft.com/office/drawing/2014/main" val="4176203871"/>
                    </a:ext>
                  </a:extLst>
                </a:gridCol>
                <a:gridCol w="1495340">
                  <a:extLst>
                    <a:ext uri="{9D8B030D-6E8A-4147-A177-3AD203B41FA5}">
                      <a16:colId xmlns:a16="http://schemas.microsoft.com/office/drawing/2014/main" val="566061467"/>
                    </a:ext>
                  </a:extLst>
                </a:gridCol>
                <a:gridCol w="1110313">
                  <a:extLst>
                    <a:ext uri="{9D8B030D-6E8A-4147-A177-3AD203B41FA5}">
                      <a16:colId xmlns:a16="http://schemas.microsoft.com/office/drawing/2014/main" val="3626344205"/>
                    </a:ext>
                  </a:extLst>
                </a:gridCol>
                <a:gridCol w="1513249">
                  <a:extLst>
                    <a:ext uri="{9D8B030D-6E8A-4147-A177-3AD203B41FA5}">
                      <a16:colId xmlns:a16="http://schemas.microsoft.com/office/drawing/2014/main" val="4280680924"/>
                    </a:ext>
                  </a:extLst>
                </a:gridCol>
                <a:gridCol w="1065541">
                  <a:extLst>
                    <a:ext uri="{9D8B030D-6E8A-4147-A177-3AD203B41FA5}">
                      <a16:colId xmlns:a16="http://schemas.microsoft.com/office/drawing/2014/main" val="980191676"/>
                    </a:ext>
                  </a:extLst>
                </a:gridCol>
                <a:gridCol w="1405799">
                  <a:extLst>
                    <a:ext uri="{9D8B030D-6E8A-4147-A177-3AD203B41FA5}">
                      <a16:colId xmlns:a16="http://schemas.microsoft.com/office/drawing/2014/main" val="4119895542"/>
                    </a:ext>
                  </a:extLst>
                </a:gridCol>
                <a:gridCol w="1602791">
                  <a:extLst>
                    <a:ext uri="{9D8B030D-6E8A-4147-A177-3AD203B41FA5}">
                      <a16:colId xmlns:a16="http://schemas.microsoft.com/office/drawing/2014/main" val="4172412162"/>
                    </a:ext>
                  </a:extLst>
                </a:gridCol>
              </a:tblGrid>
              <a:tr h="306417">
                <a:tc>
                  <a:txBody>
                    <a:bodyPr/>
                    <a:lstStyle/>
                    <a:p>
                      <a:pPr algn="ctr" fontAlgn="ctr"/>
                      <a:r>
                        <a:rPr lang="en-US" sz="1100" u="none" strike="noStrike" dirty="0">
                          <a:effectLst/>
                        </a:rPr>
                        <a:t>S.N.</a:t>
                      </a:r>
                      <a:endParaRPr lang="en-US" sz="1100" b="1"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Author(s) &amp; Year</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Models Used</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Input Features</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Dataset / Study Area</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Key Findings</a:t>
                      </a:r>
                      <a:endParaRPr lang="en-US" sz="1100" b="1"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Research Contribution</a:t>
                      </a:r>
                      <a:endParaRPr lang="en-US" sz="1100" b="1"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736051422"/>
                  </a:ext>
                </a:extLst>
              </a:tr>
              <a:tr h="458015">
                <a:tc>
                  <a:txBody>
                    <a:bodyPr/>
                    <a:lstStyle/>
                    <a:p>
                      <a:pPr algn="ctr" fontAlgn="ctr"/>
                      <a:r>
                        <a:rPr lang="en-US" sz="1100" u="none" strike="noStrike">
                          <a:effectLst/>
                        </a:rPr>
                        <a:t>6</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Saglam et al. (2024)</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ANN, SVR + PSO, DO, GRO</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Load, GDP indicators</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Power system dataset</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ANN + Growth Optimizer performed best</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Linked optimization techniques with ML</a:t>
                      </a:r>
                      <a:endParaRPr lang="en-US" sz="1100" b="0"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2876625568"/>
                  </a:ext>
                </a:extLst>
              </a:tr>
              <a:tr h="900900">
                <a:tc>
                  <a:txBody>
                    <a:bodyPr/>
                    <a:lstStyle/>
                    <a:p>
                      <a:pPr algn="ctr" fontAlgn="ctr"/>
                      <a:r>
                        <a:rPr lang="en-US" sz="1100" u="none" strike="noStrike" dirty="0">
                          <a:effectLst/>
                        </a:rPr>
                        <a:t>7</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Jain &amp; Gupta (2024)</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SVM, LSTM, RNN, Ensembles</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Preprocessed load data</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Electrical grid dataset</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Ensemble and DL models outperformed statistical methods</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Emphasized preprocessing and feature selection</a:t>
                      </a:r>
                      <a:endParaRPr lang="en-US" sz="1100" b="0"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3364750279"/>
                  </a:ext>
                </a:extLst>
              </a:tr>
              <a:tr h="541922">
                <a:tc>
                  <a:txBody>
                    <a:bodyPr/>
                    <a:lstStyle/>
                    <a:p>
                      <a:pPr algn="ctr" fontAlgn="ctr"/>
                      <a:r>
                        <a:rPr lang="en-US" sz="1100" u="none" strike="noStrike">
                          <a:effectLst/>
                        </a:rPr>
                        <a:t>8</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err="1">
                          <a:effectLst/>
                        </a:rPr>
                        <a:t>Chapagain</a:t>
                      </a:r>
                      <a:r>
                        <a:rPr lang="en-US" sz="1100" u="none" strike="noStrike" dirty="0">
                          <a:effectLst/>
                        </a:rPr>
                        <a:t> et al. (2021)</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ML, DL (LSTM)</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Load history, temperature, day type</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Kathmandu Valley, Nepal</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LSTM showed lowest MAPE and RMSE</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Nepal-based validation of DL models</a:t>
                      </a:r>
                      <a:endParaRPr lang="en-US" sz="1100" b="0"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1558919021"/>
                  </a:ext>
                </a:extLst>
              </a:tr>
              <a:tr h="811156">
                <a:tc>
                  <a:txBody>
                    <a:bodyPr/>
                    <a:lstStyle/>
                    <a:p>
                      <a:pPr algn="ctr" fontAlgn="ctr"/>
                      <a:r>
                        <a:rPr lang="en-US" sz="1100" u="none" strike="noStrike">
                          <a:effectLst/>
                        </a:rPr>
                        <a:t>9</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fr-FR" sz="1100" u="none" strike="noStrike">
                          <a:effectLst/>
                        </a:rPr>
                        <a:t>Acharya et al. (n.d.)</a:t>
                      </a:r>
                      <a:endParaRPr lang="fr-FR"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RNN</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Historical load features</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Gothatar Feeder, Nepal</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RNN outperformed exponential smoothing methods</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Feeder-level DL forecasting in Nepal</a:t>
                      </a:r>
                      <a:endParaRPr lang="en-US" sz="1100" b="0" i="0" u="none" strike="noStrike">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984980890"/>
                  </a:ext>
                </a:extLst>
              </a:tr>
              <a:tr h="631666">
                <a:tc>
                  <a:txBody>
                    <a:bodyPr/>
                    <a:lstStyle/>
                    <a:p>
                      <a:pPr algn="ctr" fontAlgn="ctr"/>
                      <a:r>
                        <a:rPr lang="en-US" sz="1100" u="none" strike="noStrike">
                          <a:effectLst/>
                        </a:rPr>
                        <a:t>10</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Cordeiro-Costas et al. (2023)</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RF, SVR, XGBoost, MLP, LSTM, Conv-1D</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Load and weather data</a:t>
                      </a:r>
                      <a:endParaRPr lang="en-US" sz="1100" b="0" i="0" u="none" strike="noStrike" dirty="0">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Power system dataset</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a:effectLst/>
                        </a:rPr>
                        <a:t>LSTM achieved lowest forecasting error</a:t>
                      </a:r>
                      <a:endParaRPr lang="en-US" sz="1100" b="0" i="0" u="none" strike="noStrike">
                        <a:solidFill>
                          <a:srgbClr val="000000"/>
                        </a:solidFill>
                        <a:effectLst/>
                        <a:latin typeface="Aptos" panose="020B0004020202020204" pitchFamily="34" charset="0"/>
                      </a:endParaRPr>
                    </a:p>
                  </a:txBody>
                  <a:tcPr marL="3561" marR="3561" marT="3561" marB="0" anchor="ctr"/>
                </a:tc>
                <a:tc>
                  <a:txBody>
                    <a:bodyPr/>
                    <a:lstStyle/>
                    <a:p>
                      <a:pPr algn="ctr" fontAlgn="ctr"/>
                      <a:r>
                        <a:rPr lang="en-US" sz="1100" u="none" strike="noStrike" dirty="0">
                          <a:effectLst/>
                        </a:rPr>
                        <a:t>Compared CNN and RNN architectures</a:t>
                      </a:r>
                      <a:endParaRPr lang="en-US" sz="1100" b="0" i="0" u="none" strike="noStrike" dirty="0">
                        <a:solidFill>
                          <a:srgbClr val="000000"/>
                        </a:solidFill>
                        <a:effectLst/>
                        <a:latin typeface="Aptos" panose="020B0004020202020204" pitchFamily="34" charset="0"/>
                      </a:endParaRPr>
                    </a:p>
                  </a:txBody>
                  <a:tcPr marL="3561" marR="3561" marT="3561" marB="0" anchor="ctr"/>
                </a:tc>
                <a:extLst>
                  <a:ext uri="{0D108BD9-81ED-4DB2-BD59-A6C34878D82A}">
                    <a16:rowId xmlns:a16="http://schemas.microsoft.com/office/drawing/2014/main" val="1869359900"/>
                  </a:ext>
                </a:extLst>
              </a:tr>
            </a:tbl>
          </a:graphicData>
        </a:graphic>
      </p:graphicFrame>
    </p:spTree>
    <p:extLst>
      <p:ext uri="{BB962C8B-B14F-4D97-AF65-F5344CB8AC3E}">
        <p14:creationId xmlns:p14="http://schemas.microsoft.com/office/powerpoint/2010/main" val="296770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cxnSp>
        <p:nvCxnSpPr>
          <p:cNvPr id="6" name="Google Shape;419;p44">
            <a:extLst>
              <a:ext uri="{FF2B5EF4-FFF2-40B4-BE49-F238E27FC236}">
                <a16:creationId xmlns:a16="http://schemas.microsoft.com/office/drawing/2014/main" id="{6EBF4F4A-A0CE-D7D4-9A56-9F7860D6D954}"/>
              </a:ext>
            </a:extLst>
          </p:cNvPr>
          <p:cNvCxnSpPr>
            <a:stCxn id="10" idx="3"/>
            <a:endCxn id="12" idx="1"/>
          </p:cNvCxnSpPr>
          <p:nvPr/>
        </p:nvCxnSpPr>
        <p:spPr>
          <a:xfrm>
            <a:off x="1475872" y="2376105"/>
            <a:ext cx="2186733" cy="0"/>
          </a:xfrm>
          <a:prstGeom prst="straightConnector1">
            <a:avLst/>
          </a:prstGeom>
          <a:noFill/>
          <a:ln w="19050" cap="flat" cmpd="sng">
            <a:solidFill>
              <a:schemeClr val="dk1"/>
            </a:solidFill>
            <a:prstDash val="solid"/>
            <a:round/>
            <a:headEnd type="none" w="med" len="med"/>
            <a:tailEnd type="none" w="med" len="med"/>
          </a:ln>
        </p:spPr>
      </p:cxnSp>
      <p:sp>
        <p:nvSpPr>
          <p:cNvPr id="7" name="Google Shape;425;p44">
            <a:extLst>
              <a:ext uri="{FF2B5EF4-FFF2-40B4-BE49-F238E27FC236}">
                <a16:creationId xmlns:a16="http://schemas.microsoft.com/office/drawing/2014/main" id="{1F2E113E-20EC-7770-8761-C17365202E95}"/>
              </a:ext>
            </a:extLst>
          </p:cNvPr>
          <p:cNvSpPr txBox="1"/>
          <p:nvPr/>
        </p:nvSpPr>
        <p:spPr>
          <a:xfrm>
            <a:off x="516772" y="2711255"/>
            <a:ext cx="1552500" cy="548900"/>
          </a:xfrm>
          <a:prstGeom prst="rect">
            <a:avLst/>
          </a:prstGeom>
          <a:noFill/>
          <a:ln>
            <a:noFill/>
          </a:ln>
        </p:spPr>
        <p:txBody>
          <a:bodyPr spcFirstLastPara="1" wrap="square" lIns="91425" tIns="91425" rIns="91425" bIns="91425" anchor="b" anchorCtr="0">
            <a:noAutofit/>
          </a:bodyPr>
          <a:lstStyle/>
          <a:p>
            <a:pPr marL="0" lvl="0" indent="0" algn="ctr" rtl="0">
              <a:lnSpc>
                <a:spcPct val="115000"/>
              </a:lnSpc>
              <a:spcBef>
                <a:spcPts val="0"/>
              </a:spcBef>
              <a:spcAft>
                <a:spcPts val="0"/>
              </a:spcAft>
              <a:buClr>
                <a:srgbClr val="000000"/>
              </a:buClr>
              <a:buSzPts val="1100"/>
              <a:buFont typeface="Arial"/>
              <a:buNone/>
            </a:pPr>
            <a:r>
              <a:rPr lang="en-US" sz="1400" b="1" dirty="0">
                <a:solidFill>
                  <a:schemeClr val="dk1"/>
                </a:solidFill>
                <a:latin typeface="Hanken Grotesk" panose="020B0604020202020204" charset="0"/>
                <a:ea typeface="Figtree Black"/>
                <a:cs typeface="Figtree Black"/>
                <a:sym typeface="Figtree Black"/>
              </a:rPr>
              <a:t>Data </a:t>
            </a:r>
          </a:p>
          <a:p>
            <a:pPr marL="0" lvl="0" indent="0" algn="ctr" rtl="0">
              <a:lnSpc>
                <a:spcPct val="115000"/>
              </a:lnSpc>
              <a:spcBef>
                <a:spcPts val="0"/>
              </a:spcBef>
              <a:spcAft>
                <a:spcPts val="0"/>
              </a:spcAft>
              <a:buClr>
                <a:srgbClr val="000000"/>
              </a:buClr>
              <a:buSzPts val="1100"/>
              <a:buFont typeface="Arial"/>
              <a:buNone/>
            </a:pPr>
            <a:r>
              <a:rPr lang="en-US" sz="1400" b="1" dirty="0">
                <a:solidFill>
                  <a:schemeClr val="dk1"/>
                </a:solidFill>
                <a:latin typeface="Hanken Grotesk" panose="020B0604020202020204" charset="0"/>
                <a:ea typeface="Figtree Black"/>
                <a:cs typeface="Figtree Black"/>
                <a:sym typeface="Figtree Black"/>
              </a:rPr>
              <a:t>Acquisition</a:t>
            </a:r>
            <a:endParaRPr sz="1400" b="1" dirty="0">
              <a:solidFill>
                <a:schemeClr val="dk1"/>
              </a:solidFill>
              <a:latin typeface="Hanken Grotesk" panose="020B0604020202020204" charset="0"/>
              <a:ea typeface="Figtree Black"/>
              <a:cs typeface="Figtree Black"/>
              <a:sym typeface="Figtree Black"/>
            </a:endParaRPr>
          </a:p>
        </p:txBody>
      </p:sp>
      <p:sp>
        <p:nvSpPr>
          <p:cNvPr id="8" name="Google Shape;427;p44">
            <a:extLst>
              <a:ext uri="{FF2B5EF4-FFF2-40B4-BE49-F238E27FC236}">
                <a16:creationId xmlns:a16="http://schemas.microsoft.com/office/drawing/2014/main" id="{3914EB66-E36E-F875-87FA-18EF7796B3DB}"/>
              </a:ext>
            </a:extLst>
          </p:cNvPr>
          <p:cNvSpPr txBox="1"/>
          <p:nvPr/>
        </p:nvSpPr>
        <p:spPr>
          <a:xfrm>
            <a:off x="1721550" y="2711254"/>
            <a:ext cx="1552500" cy="548889"/>
          </a:xfrm>
          <a:prstGeom prst="rect">
            <a:avLst/>
          </a:prstGeom>
          <a:noFill/>
          <a:ln>
            <a:noFill/>
          </a:ln>
        </p:spPr>
        <p:txBody>
          <a:bodyPr spcFirstLastPara="1" wrap="square" lIns="91425" tIns="91425" rIns="91425" bIns="91425" anchor="b" anchorCtr="0">
            <a:noAutofit/>
          </a:bodyPr>
          <a:lstStyle/>
          <a:p>
            <a:pPr algn="ctr">
              <a:lnSpc>
                <a:spcPct val="115000"/>
              </a:lnSpc>
              <a:buSzPts val="1100"/>
            </a:pPr>
            <a:r>
              <a:rPr lang="en-US" sz="1400" b="1" dirty="0">
                <a:solidFill>
                  <a:schemeClr val="dk1"/>
                </a:solidFill>
                <a:latin typeface="Hanken Grotesk" panose="020B0604020202020204" charset="0"/>
              </a:rPr>
              <a:t>Data </a:t>
            </a:r>
          </a:p>
          <a:p>
            <a:pPr algn="ctr">
              <a:lnSpc>
                <a:spcPct val="115000"/>
              </a:lnSpc>
              <a:buSzPts val="1100"/>
            </a:pPr>
            <a:r>
              <a:rPr lang="en-US" sz="1400" b="1" dirty="0">
                <a:solidFill>
                  <a:schemeClr val="dk1"/>
                </a:solidFill>
                <a:latin typeface="Hanken Grotesk" panose="020B0604020202020204" charset="0"/>
              </a:rPr>
              <a:t>Preprocessing</a:t>
            </a:r>
            <a:endParaRPr sz="1400" b="1" dirty="0">
              <a:solidFill>
                <a:schemeClr val="dk1"/>
              </a:solidFill>
              <a:latin typeface="Hanken Grotesk" panose="020B0604020202020204" charset="0"/>
              <a:sym typeface="Figtree Black"/>
            </a:endParaRPr>
          </a:p>
        </p:txBody>
      </p:sp>
      <p:sp>
        <p:nvSpPr>
          <p:cNvPr id="9" name="Google Shape;429;p44">
            <a:extLst>
              <a:ext uri="{FF2B5EF4-FFF2-40B4-BE49-F238E27FC236}">
                <a16:creationId xmlns:a16="http://schemas.microsoft.com/office/drawing/2014/main" id="{3D267E96-EB29-754A-7957-DD160353CC2C}"/>
              </a:ext>
            </a:extLst>
          </p:cNvPr>
          <p:cNvSpPr txBox="1"/>
          <p:nvPr/>
        </p:nvSpPr>
        <p:spPr>
          <a:xfrm>
            <a:off x="3069205" y="2711254"/>
            <a:ext cx="1552500" cy="548881"/>
          </a:xfrm>
          <a:prstGeom prst="rect">
            <a:avLst/>
          </a:prstGeom>
          <a:noFill/>
          <a:ln>
            <a:noFill/>
          </a:ln>
        </p:spPr>
        <p:txBody>
          <a:bodyPr spcFirstLastPara="1" wrap="square" lIns="91425" tIns="91425" rIns="91425" bIns="91425" anchor="b" anchorCtr="0">
            <a:noAutofit/>
          </a:bodyPr>
          <a:lstStyle/>
          <a:p>
            <a:pPr marL="0" lvl="0" indent="0" algn="ctr">
              <a:lnSpc>
                <a:spcPct val="115000"/>
              </a:lnSpc>
              <a:buSzPts val="1100"/>
              <a:buFont typeface="Arial"/>
              <a:buNone/>
            </a:pPr>
            <a:r>
              <a:rPr lang="en-US" sz="1400" b="1" dirty="0">
                <a:solidFill>
                  <a:schemeClr val="dk1"/>
                </a:solidFill>
                <a:latin typeface="Hanken Grotesk" panose="020B0604020202020204" charset="0"/>
              </a:rPr>
              <a:t>Exploratory </a:t>
            </a:r>
          </a:p>
          <a:p>
            <a:pPr marL="0" lvl="0" indent="0" algn="ctr">
              <a:lnSpc>
                <a:spcPct val="115000"/>
              </a:lnSpc>
              <a:buSzPts val="1100"/>
              <a:buFont typeface="Arial"/>
              <a:buNone/>
            </a:pPr>
            <a:r>
              <a:rPr lang="en-US" sz="1400" b="1" dirty="0">
                <a:solidFill>
                  <a:schemeClr val="dk1"/>
                </a:solidFill>
                <a:latin typeface="Hanken Grotesk" panose="020B0604020202020204" charset="0"/>
              </a:rPr>
              <a:t>Data Analysis</a:t>
            </a:r>
            <a:endParaRPr sz="1400" b="1" dirty="0">
              <a:solidFill>
                <a:schemeClr val="dk1"/>
              </a:solidFill>
              <a:latin typeface="Hanken Grotesk" panose="020B0604020202020204" charset="0"/>
              <a:sym typeface="Figtree Black"/>
            </a:endParaRPr>
          </a:p>
        </p:txBody>
      </p:sp>
      <p:sp>
        <p:nvSpPr>
          <p:cNvPr id="10" name="Google Shape;420;p44">
            <a:extLst>
              <a:ext uri="{FF2B5EF4-FFF2-40B4-BE49-F238E27FC236}">
                <a16:creationId xmlns:a16="http://schemas.microsoft.com/office/drawing/2014/main" id="{0504A6D0-5BA3-2B02-85C5-2B33097F34DC}"/>
              </a:ext>
            </a:extLst>
          </p:cNvPr>
          <p:cNvSpPr txBox="1"/>
          <p:nvPr/>
        </p:nvSpPr>
        <p:spPr>
          <a:xfrm>
            <a:off x="1110172"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01</a:t>
            </a:r>
            <a:endParaRPr sz="1100">
              <a:solidFill>
                <a:schemeClr val="lt1"/>
              </a:solidFill>
              <a:latin typeface="Figtree Black"/>
              <a:ea typeface="Figtree Black"/>
              <a:cs typeface="Figtree Black"/>
              <a:sym typeface="Figtree Black"/>
            </a:endParaRPr>
          </a:p>
        </p:txBody>
      </p:sp>
      <p:sp>
        <p:nvSpPr>
          <p:cNvPr id="11" name="Google Shape;432;p44">
            <a:extLst>
              <a:ext uri="{FF2B5EF4-FFF2-40B4-BE49-F238E27FC236}">
                <a16:creationId xmlns:a16="http://schemas.microsoft.com/office/drawing/2014/main" id="{2A08A29B-8EC5-FE02-E9A2-669D0C7FBDD0}"/>
              </a:ext>
            </a:extLst>
          </p:cNvPr>
          <p:cNvSpPr txBox="1"/>
          <p:nvPr/>
        </p:nvSpPr>
        <p:spPr>
          <a:xfrm>
            <a:off x="2304790"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dirty="0">
                <a:solidFill>
                  <a:schemeClr val="lt1"/>
                </a:solidFill>
                <a:latin typeface="Figtree Black"/>
                <a:ea typeface="Figtree Black"/>
                <a:cs typeface="Figtree Black"/>
                <a:sym typeface="Figtree Black"/>
              </a:rPr>
              <a:t>02</a:t>
            </a:r>
            <a:endParaRPr sz="1100" dirty="0">
              <a:solidFill>
                <a:schemeClr val="lt1"/>
              </a:solidFill>
              <a:latin typeface="Figtree Black"/>
              <a:ea typeface="Figtree Black"/>
              <a:cs typeface="Figtree Black"/>
              <a:sym typeface="Figtree Black"/>
            </a:endParaRPr>
          </a:p>
        </p:txBody>
      </p:sp>
      <p:sp>
        <p:nvSpPr>
          <p:cNvPr id="12" name="Google Shape;421;p44">
            <a:extLst>
              <a:ext uri="{FF2B5EF4-FFF2-40B4-BE49-F238E27FC236}">
                <a16:creationId xmlns:a16="http://schemas.microsoft.com/office/drawing/2014/main" id="{F9116E70-AFBA-7634-7C7B-11E03EA3C460}"/>
              </a:ext>
            </a:extLst>
          </p:cNvPr>
          <p:cNvSpPr txBox="1"/>
          <p:nvPr/>
        </p:nvSpPr>
        <p:spPr>
          <a:xfrm>
            <a:off x="3662605"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a:solidFill>
                  <a:schemeClr val="lt1"/>
                </a:solidFill>
                <a:latin typeface="Figtree Black"/>
                <a:ea typeface="Figtree Black"/>
                <a:cs typeface="Figtree Black"/>
                <a:sym typeface="Figtree Black"/>
              </a:rPr>
              <a:t>03</a:t>
            </a:r>
            <a:endParaRPr sz="1100">
              <a:solidFill>
                <a:schemeClr val="lt1"/>
              </a:solidFill>
              <a:latin typeface="Figtree Black"/>
              <a:ea typeface="Figtree Black"/>
              <a:cs typeface="Figtree Black"/>
              <a:sym typeface="Figtree Black"/>
            </a:endParaRPr>
          </a:p>
        </p:txBody>
      </p:sp>
      <p:sp>
        <p:nvSpPr>
          <p:cNvPr id="35" name="Google Shape;429;p44">
            <a:extLst>
              <a:ext uri="{FF2B5EF4-FFF2-40B4-BE49-F238E27FC236}">
                <a16:creationId xmlns:a16="http://schemas.microsoft.com/office/drawing/2014/main" id="{B273BB56-8760-FF68-9842-61027E60E08D}"/>
              </a:ext>
            </a:extLst>
          </p:cNvPr>
          <p:cNvSpPr txBox="1"/>
          <p:nvPr/>
        </p:nvSpPr>
        <p:spPr>
          <a:xfrm>
            <a:off x="4376220" y="2711254"/>
            <a:ext cx="1552500" cy="548881"/>
          </a:xfrm>
          <a:prstGeom prst="rect">
            <a:avLst/>
          </a:prstGeom>
          <a:noFill/>
          <a:ln>
            <a:noFill/>
          </a:ln>
        </p:spPr>
        <p:txBody>
          <a:bodyPr spcFirstLastPara="1" wrap="square" lIns="91425" tIns="91425" rIns="91425" bIns="91425" anchor="b" anchorCtr="0">
            <a:noAutofit/>
          </a:bodyPr>
          <a:lstStyle/>
          <a:p>
            <a:pPr marL="0" lvl="0" indent="0" algn="ctr">
              <a:lnSpc>
                <a:spcPct val="115000"/>
              </a:lnSpc>
              <a:buSzPts val="1100"/>
              <a:buFont typeface="Arial"/>
              <a:buNone/>
            </a:pPr>
            <a:r>
              <a:rPr lang="en-US" sz="1400" b="1" dirty="0">
                <a:solidFill>
                  <a:schemeClr val="dk1"/>
                </a:solidFill>
                <a:latin typeface="Hanken Grotesk" panose="020B0604020202020204" charset="0"/>
              </a:rPr>
              <a:t>Model Development</a:t>
            </a:r>
            <a:endParaRPr sz="1400" b="1" dirty="0">
              <a:solidFill>
                <a:schemeClr val="dk1"/>
              </a:solidFill>
              <a:latin typeface="Hanken Grotesk" panose="020B0604020202020204" charset="0"/>
              <a:sym typeface="Figtree Black"/>
            </a:endParaRPr>
          </a:p>
        </p:txBody>
      </p:sp>
      <p:cxnSp>
        <p:nvCxnSpPr>
          <p:cNvPr id="37" name="Google Shape;419;p44">
            <a:extLst>
              <a:ext uri="{FF2B5EF4-FFF2-40B4-BE49-F238E27FC236}">
                <a16:creationId xmlns:a16="http://schemas.microsoft.com/office/drawing/2014/main" id="{6CB723F3-9626-F32B-6324-DFF0679E78F3}"/>
              </a:ext>
            </a:extLst>
          </p:cNvPr>
          <p:cNvCxnSpPr>
            <a:cxnSpLocks/>
            <a:stCxn id="12" idx="3"/>
          </p:cNvCxnSpPr>
          <p:nvPr/>
        </p:nvCxnSpPr>
        <p:spPr>
          <a:xfrm>
            <a:off x="4028305" y="2376105"/>
            <a:ext cx="2532173" cy="0"/>
          </a:xfrm>
          <a:prstGeom prst="straightConnector1">
            <a:avLst/>
          </a:prstGeom>
          <a:noFill/>
          <a:ln w="19050" cap="flat" cmpd="sng">
            <a:solidFill>
              <a:schemeClr val="dk1"/>
            </a:solidFill>
            <a:prstDash val="solid"/>
            <a:round/>
            <a:headEnd type="none" w="med" len="med"/>
            <a:tailEnd type="none" w="med" len="med"/>
          </a:ln>
        </p:spPr>
      </p:cxnSp>
      <p:sp>
        <p:nvSpPr>
          <p:cNvPr id="36" name="Google Shape;421;p44">
            <a:extLst>
              <a:ext uri="{FF2B5EF4-FFF2-40B4-BE49-F238E27FC236}">
                <a16:creationId xmlns:a16="http://schemas.microsoft.com/office/drawing/2014/main" id="{9B3D96BA-DCFA-BD25-1709-558770F031FA}"/>
              </a:ext>
            </a:extLst>
          </p:cNvPr>
          <p:cNvSpPr txBox="1"/>
          <p:nvPr/>
        </p:nvSpPr>
        <p:spPr>
          <a:xfrm>
            <a:off x="4959460"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dirty="0">
                <a:solidFill>
                  <a:schemeClr val="lt1"/>
                </a:solidFill>
                <a:latin typeface="Figtree Black"/>
                <a:ea typeface="Figtree Black"/>
                <a:cs typeface="Figtree Black"/>
                <a:sym typeface="Figtree Black"/>
              </a:rPr>
              <a:t>04</a:t>
            </a:r>
            <a:endParaRPr sz="1100" dirty="0">
              <a:solidFill>
                <a:schemeClr val="lt1"/>
              </a:solidFill>
              <a:latin typeface="Figtree Black"/>
              <a:ea typeface="Figtree Black"/>
              <a:cs typeface="Figtree Black"/>
              <a:sym typeface="Figtree Black"/>
            </a:endParaRPr>
          </a:p>
        </p:txBody>
      </p:sp>
      <p:sp>
        <p:nvSpPr>
          <p:cNvPr id="38" name="Google Shape;429;p44">
            <a:extLst>
              <a:ext uri="{FF2B5EF4-FFF2-40B4-BE49-F238E27FC236}">
                <a16:creationId xmlns:a16="http://schemas.microsoft.com/office/drawing/2014/main" id="{7561976F-C82A-4BAF-AEE6-AD7F22CA98CF}"/>
              </a:ext>
            </a:extLst>
          </p:cNvPr>
          <p:cNvSpPr txBox="1"/>
          <p:nvPr/>
        </p:nvSpPr>
        <p:spPr>
          <a:xfrm>
            <a:off x="5734035" y="2711254"/>
            <a:ext cx="1552500" cy="548881"/>
          </a:xfrm>
          <a:prstGeom prst="rect">
            <a:avLst/>
          </a:prstGeom>
          <a:noFill/>
          <a:ln>
            <a:noFill/>
          </a:ln>
        </p:spPr>
        <p:txBody>
          <a:bodyPr spcFirstLastPara="1" wrap="square" lIns="91425" tIns="91425" rIns="91425" bIns="91425" anchor="b" anchorCtr="0">
            <a:noAutofit/>
          </a:bodyPr>
          <a:lstStyle/>
          <a:p>
            <a:pPr marL="0" lvl="0" indent="0" algn="ctr">
              <a:lnSpc>
                <a:spcPct val="115000"/>
              </a:lnSpc>
              <a:buSzPts val="1100"/>
              <a:buFont typeface="Arial"/>
              <a:buNone/>
            </a:pPr>
            <a:r>
              <a:rPr lang="en-US" sz="1400" b="1" dirty="0">
                <a:solidFill>
                  <a:schemeClr val="dk1"/>
                </a:solidFill>
                <a:latin typeface="Hanken Grotesk" panose="020B0604020202020204" charset="0"/>
              </a:rPr>
              <a:t>Model Training </a:t>
            </a:r>
          </a:p>
          <a:p>
            <a:pPr marL="0" lvl="0" indent="0" algn="ctr">
              <a:lnSpc>
                <a:spcPct val="115000"/>
              </a:lnSpc>
              <a:buSzPts val="1100"/>
              <a:buFont typeface="Arial"/>
              <a:buNone/>
            </a:pPr>
            <a:r>
              <a:rPr lang="en-US" sz="1400" b="1" dirty="0">
                <a:solidFill>
                  <a:schemeClr val="dk1"/>
                </a:solidFill>
                <a:latin typeface="Hanken Grotesk" panose="020B0604020202020204" charset="0"/>
              </a:rPr>
              <a:t>&amp; Validation</a:t>
            </a:r>
            <a:endParaRPr sz="1400" b="1" dirty="0">
              <a:solidFill>
                <a:schemeClr val="dk1"/>
              </a:solidFill>
              <a:latin typeface="Hanken Grotesk" panose="020B0604020202020204" charset="0"/>
              <a:sym typeface="Figtree Black"/>
            </a:endParaRPr>
          </a:p>
        </p:txBody>
      </p:sp>
      <p:sp>
        <p:nvSpPr>
          <p:cNvPr id="39" name="Google Shape;421;p44">
            <a:extLst>
              <a:ext uri="{FF2B5EF4-FFF2-40B4-BE49-F238E27FC236}">
                <a16:creationId xmlns:a16="http://schemas.microsoft.com/office/drawing/2014/main" id="{742179E9-A222-6825-E144-3F6A9D155855}"/>
              </a:ext>
            </a:extLst>
          </p:cNvPr>
          <p:cNvSpPr txBox="1"/>
          <p:nvPr/>
        </p:nvSpPr>
        <p:spPr>
          <a:xfrm>
            <a:off x="6327435"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dirty="0">
                <a:solidFill>
                  <a:schemeClr val="lt1"/>
                </a:solidFill>
                <a:latin typeface="Figtree Black"/>
                <a:ea typeface="Figtree Black"/>
                <a:cs typeface="Figtree Black"/>
                <a:sym typeface="Figtree Black"/>
              </a:rPr>
              <a:t>06</a:t>
            </a:r>
            <a:endParaRPr sz="1100" dirty="0">
              <a:solidFill>
                <a:schemeClr val="lt1"/>
              </a:solidFill>
              <a:latin typeface="Figtree Black"/>
              <a:ea typeface="Figtree Black"/>
              <a:cs typeface="Figtree Black"/>
              <a:sym typeface="Figtree Black"/>
            </a:endParaRPr>
          </a:p>
        </p:txBody>
      </p:sp>
      <p:sp>
        <p:nvSpPr>
          <p:cNvPr id="40" name="Google Shape;429;p44">
            <a:extLst>
              <a:ext uri="{FF2B5EF4-FFF2-40B4-BE49-F238E27FC236}">
                <a16:creationId xmlns:a16="http://schemas.microsoft.com/office/drawing/2014/main" id="{8FE11BE6-598C-0E94-37C9-164988498A0F}"/>
              </a:ext>
            </a:extLst>
          </p:cNvPr>
          <p:cNvSpPr txBox="1"/>
          <p:nvPr/>
        </p:nvSpPr>
        <p:spPr>
          <a:xfrm>
            <a:off x="7144355" y="2711254"/>
            <a:ext cx="1552500" cy="548881"/>
          </a:xfrm>
          <a:prstGeom prst="rect">
            <a:avLst/>
          </a:prstGeom>
          <a:noFill/>
          <a:ln>
            <a:noFill/>
          </a:ln>
        </p:spPr>
        <p:txBody>
          <a:bodyPr spcFirstLastPara="1" wrap="square" lIns="91425" tIns="91425" rIns="91425" bIns="91425" anchor="b" anchorCtr="0">
            <a:noAutofit/>
          </a:bodyPr>
          <a:lstStyle/>
          <a:p>
            <a:pPr marL="0" lvl="0" indent="0" algn="ctr">
              <a:lnSpc>
                <a:spcPct val="115000"/>
              </a:lnSpc>
              <a:buSzPts val="1100"/>
              <a:buFont typeface="Arial"/>
              <a:buNone/>
            </a:pPr>
            <a:r>
              <a:rPr lang="en-US" sz="1400" b="1" dirty="0">
                <a:solidFill>
                  <a:schemeClr val="dk1"/>
                </a:solidFill>
                <a:latin typeface="Hanken Grotesk" panose="020B0604020202020204" charset="0"/>
              </a:rPr>
              <a:t>Performance Evaluation</a:t>
            </a:r>
            <a:endParaRPr sz="1400" b="1" dirty="0">
              <a:solidFill>
                <a:schemeClr val="dk1"/>
              </a:solidFill>
              <a:latin typeface="Hanken Grotesk" panose="020B0604020202020204" charset="0"/>
              <a:sym typeface="Figtree Black"/>
            </a:endParaRPr>
          </a:p>
        </p:txBody>
      </p:sp>
      <p:sp>
        <p:nvSpPr>
          <p:cNvPr id="41" name="Google Shape;421;p44">
            <a:extLst>
              <a:ext uri="{FF2B5EF4-FFF2-40B4-BE49-F238E27FC236}">
                <a16:creationId xmlns:a16="http://schemas.microsoft.com/office/drawing/2014/main" id="{F61E2AB5-FC61-20B4-8F23-EB0281D507B8}"/>
              </a:ext>
            </a:extLst>
          </p:cNvPr>
          <p:cNvSpPr txBox="1"/>
          <p:nvPr/>
        </p:nvSpPr>
        <p:spPr>
          <a:xfrm>
            <a:off x="7737755" y="2193255"/>
            <a:ext cx="365700" cy="3657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lnSpc>
                <a:spcPct val="115000"/>
              </a:lnSpc>
              <a:spcBef>
                <a:spcPts val="0"/>
              </a:spcBef>
              <a:spcAft>
                <a:spcPts val="0"/>
              </a:spcAft>
              <a:buNone/>
            </a:pPr>
            <a:r>
              <a:rPr lang="en" sz="1100" dirty="0">
                <a:solidFill>
                  <a:schemeClr val="lt1"/>
                </a:solidFill>
                <a:latin typeface="Figtree Black"/>
                <a:ea typeface="Figtree Black"/>
                <a:cs typeface="Figtree Black"/>
                <a:sym typeface="Figtree Black"/>
              </a:rPr>
              <a:t>07</a:t>
            </a:r>
            <a:endParaRPr sz="1100" dirty="0">
              <a:solidFill>
                <a:schemeClr val="lt1"/>
              </a:solidFill>
              <a:latin typeface="Figtree Black"/>
              <a:ea typeface="Figtree Black"/>
              <a:cs typeface="Figtree Black"/>
              <a:sym typeface="Figtree Black"/>
            </a:endParaRPr>
          </a:p>
        </p:txBody>
      </p:sp>
      <p:cxnSp>
        <p:nvCxnSpPr>
          <p:cNvPr id="42" name="Google Shape;419;p44">
            <a:extLst>
              <a:ext uri="{FF2B5EF4-FFF2-40B4-BE49-F238E27FC236}">
                <a16:creationId xmlns:a16="http://schemas.microsoft.com/office/drawing/2014/main" id="{2234FF40-B4FE-5055-78B1-7E3874886238}"/>
              </a:ext>
            </a:extLst>
          </p:cNvPr>
          <p:cNvCxnSpPr>
            <a:cxnSpLocks/>
            <a:stCxn id="39" idx="3"/>
            <a:endCxn id="41" idx="1"/>
          </p:cNvCxnSpPr>
          <p:nvPr/>
        </p:nvCxnSpPr>
        <p:spPr>
          <a:xfrm>
            <a:off x="6693135" y="2376105"/>
            <a:ext cx="1044620" cy="0"/>
          </a:xfrm>
          <a:prstGeom prst="straightConnector1">
            <a:avLst/>
          </a:prstGeom>
          <a:noFill/>
          <a:ln w="19050" cap="flat" cmpd="sng">
            <a:solidFill>
              <a:schemeClr val="dk1"/>
            </a:solidFill>
            <a:prstDash val="solid"/>
            <a:round/>
            <a:headEnd type="none" w="med" len="med"/>
            <a:tailEnd type="none" w="med" len="med"/>
          </a:ln>
        </p:spPr>
      </p:cxnSp>
      <p:sp>
        <p:nvSpPr>
          <p:cNvPr id="44" name="Google Shape;329;p36">
            <a:extLst>
              <a:ext uri="{FF2B5EF4-FFF2-40B4-BE49-F238E27FC236}">
                <a16:creationId xmlns:a16="http://schemas.microsoft.com/office/drawing/2014/main" id="{4CAF8434-0B2B-40F0-A129-0EEE6E499B12}"/>
              </a:ext>
            </a:extLst>
          </p:cNvPr>
          <p:cNvSpPr txBox="1">
            <a:spLocks noGrp="1"/>
          </p:cNvSpPr>
          <p:nvPr>
            <p:ph type="title"/>
          </p:nvPr>
        </p:nvSpPr>
        <p:spPr>
          <a:xfrm>
            <a:off x="1669958" y="679580"/>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Methodology</a:t>
            </a:r>
            <a:endParaRPr sz="2400" dirty="0"/>
          </a:p>
        </p:txBody>
      </p:sp>
      <p:sp>
        <p:nvSpPr>
          <p:cNvPr id="45" name="Google Shape;331;p36">
            <a:extLst>
              <a:ext uri="{FF2B5EF4-FFF2-40B4-BE49-F238E27FC236}">
                <a16:creationId xmlns:a16="http://schemas.microsoft.com/office/drawing/2014/main" id="{4BEB05AF-CD7A-3DB7-6A98-ECDF4DF5174B}"/>
              </a:ext>
            </a:extLst>
          </p:cNvPr>
          <p:cNvSpPr txBox="1">
            <a:spLocks/>
          </p:cNvSpPr>
          <p:nvPr/>
        </p:nvSpPr>
        <p:spPr>
          <a:xfrm>
            <a:off x="720000" y="533550"/>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05</a:t>
            </a:r>
            <a:endParaRPr lang="en" dirty="0"/>
          </a:p>
        </p:txBody>
      </p:sp>
      <p:sp>
        <p:nvSpPr>
          <p:cNvPr id="2" name="Google Shape;330;p36">
            <a:extLst>
              <a:ext uri="{FF2B5EF4-FFF2-40B4-BE49-F238E27FC236}">
                <a16:creationId xmlns:a16="http://schemas.microsoft.com/office/drawing/2014/main" id="{8D77C2C5-1DBB-3954-780D-61103A4CFD50}"/>
              </a:ext>
            </a:extLst>
          </p:cNvPr>
          <p:cNvSpPr txBox="1">
            <a:spLocks/>
          </p:cNvSpPr>
          <p:nvPr/>
        </p:nvSpPr>
        <p:spPr>
          <a:xfrm>
            <a:off x="720000" y="467672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6 - </a:t>
            </a:r>
            <a:fld id="{1612EBDF-BBCF-4455-9CA4-C9C775D5C22A}" type="datetime1">
              <a:rPr lang="en-US" sz="1000" smtClean="0"/>
              <a:t>1/16/2026</a:t>
            </a:fld>
            <a:endParaRPr lang="en-US" sz="1000" dirty="0"/>
          </a:p>
        </p:txBody>
      </p:sp>
      <p:sp>
        <p:nvSpPr>
          <p:cNvPr id="3" name="Google Shape;425;p44">
            <a:extLst>
              <a:ext uri="{FF2B5EF4-FFF2-40B4-BE49-F238E27FC236}">
                <a16:creationId xmlns:a16="http://schemas.microsoft.com/office/drawing/2014/main" id="{3EC4F3DF-EEE0-03B4-C8BB-83FC4C4752A9}"/>
              </a:ext>
            </a:extLst>
          </p:cNvPr>
          <p:cNvSpPr txBox="1"/>
          <p:nvPr/>
        </p:nvSpPr>
        <p:spPr>
          <a:xfrm>
            <a:off x="720000" y="3297035"/>
            <a:ext cx="1133570" cy="689900"/>
          </a:xfrm>
          <a:prstGeom prst="rect">
            <a:avLst/>
          </a:prstGeom>
          <a:noFill/>
          <a:ln>
            <a:noFill/>
          </a:ln>
        </p:spPr>
        <p:txBody>
          <a:bodyPr spcFirstLastPara="1" wrap="square" lIns="91425" tIns="91425" rIns="91425" bIns="91425" anchor="b" anchorCtr="0">
            <a:noAutofit/>
          </a:bodyPr>
          <a:lstStyle/>
          <a:p>
            <a:pPr algn="ctr"/>
            <a:r>
              <a:rPr lang="en-US" sz="1100" dirty="0"/>
              <a:t>Collect raw load and weather data</a:t>
            </a:r>
          </a:p>
        </p:txBody>
      </p:sp>
      <p:sp>
        <p:nvSpPr>
          <p:cNvPr id="5" name="Google Shape;425;p44">
            <a:extLst>
              <a:ext uri="{FF2B5EF4-FFF2-40B4-BE49-F238E27FC236}">
                <a16:creationId xmlns:a16="http://schemas.microsoft.com/office/drawing/2014/main" id="{E6AE0368-F6B1-C941-8F48-9B7A5AF83393}"/>
              </a:ext>
            </a:extLst>
          </p:cNvPr>
          <p:cNvSpPr txBox="1"/>
          <p:nvPr/>
        </p:nvSpPr>
        <p:spPr>
          <a:xfrm>
            <a:off x="1920855" y="3296978"/>
            <a:ext cx="1133570" cy="873577"/>
          </a:xfrm>
          <a:prstGeom prst="rect">
            <a:avLst/>
          </a:prstGeom>
          <a:noFill/>
          <a:ln>
            <a:noFill/>
          </a:ln>
        </p:spPr>
        <p:txBody>
          <a:bodyPr spcFirstLastPara="1" wrap="square" lIns="91425" tIns="91425" rIns="91425" bIns="91425" anchor="b" anchorCtr="0">
            <a:noAutofit/>
          </a:bodyPr>
          <a:lstStyle/>
          <a:p>
            <a:pPr algn="ctr"/>
            <a:r>
              <a:rPr lang="en-US" sz="1100" dirty="0"/>
              <a:t>Clean, align, and standardize all data</a:t>
            </a:r>
          </a:p>
        </p:txBody>
      </p:sp>
      <p:sp>
        <p:nvSpPr>
          <p:cNvPr id="13" name="Google Shape;425;p44">
            <a:extLst>
              <a:ext uri="{FF2B5EF4-FFF2-40B4-BE49-F238E27FC236}">
                <a16:creationId xmlns:a16="http://schemas.microsoft.com/office/drawing/2014/main" id="{EAE2DE35-7824-129F-E04D-A9D6EB0D6E93}"/>
              </a:ext>
            </a:extLst>
          </p:cNvPr>
          <p:cNvSpPr txBox="1"/>
          <p:nvPr/>
        </p:nvSpPr>
        <p:spPr>
          <a:xfrm>
            <a:off x="3274050" y="3296978"/>
            <a:ext cx="1133570" cy="873577"/>
          </a:xfrm>
          <a:prstGeom prst="rect">
            <a:avLst/>
          </a:prstGeom>
          <a:noFill/>
          <a:ln>
            <a:noFill/>
          </a:ln>
        </p:spPr>
        <p:txBody>
          <a:bodyPr spcFirstLastPara="1" wrap="square" lIns="91425" tIns="91425" rIns="91425" bIns="91425" anchor="b" anchorCtr="0">
            <a:noAutofit/>
          </a:bodyPr>
          <a:lstStyle/>
          <a:p>
            <a:pPr algn="ctr"/>
            <a:r>
              <a:rPr lang="en-US" sz="1100" dirty="0"/>
              <a:t>Understand patterns, trends, correlations</a:t>
            </a:r>
          </a:p>
        </p:txBody>
      </p:sp>
      <p:sp>
        <p:nvSpPr>
          <p:cNvPr id="14" name="Google Shape;425;p44">
            <a:extLst>
              <a:ext uri="{FF2B5EF4-FFF2-40B4-BE49-F238E27FC236}">
                <a16:creationId xmlns:a16="http://schemas.microsoft.com/office/drawing/2014/main" id="{2F794910-ABCF-A463-99BB-B8798E265520}"/>
              </a:ext>
            </a:extLst>
          </p:cNvPr>
          <p:cNvSpPr txBox="1"/>
          <p:nvPr/>
        </p:nvSpPr>
        <p:spPr>
          <a:xfrm>
            <a:off x="4600465" y="3296978"/>
            <a:ext cx="1133570" cy="726800"/>
          </a:xfrm>
          <a:prstGeom prst="rect">
            <a:avLst/>
          </a:prstGeom>
          <a:noFill/>
          <a:ln>
            <a:noFill/>
          </a:ln>
        </p:spPr>
        <p:txBody>
          <a:bodyPr spcFirstLastPara="1" wrap="square" lIns="91425" tIns="91425" rIns="91425" bIns="91425" anchor="b" anchorCtr="0">
            <a:noAutofit/>
          </a:bodyPr>
          <a:lstStyle/>
          <a:p>
            <a:pPr algn="ctr"/>
            <a:r>
              <a:rPr lang="en-US" sz="1100" dirty="0"/>
              <a:t>Design ML/DL forecasting models</a:t>
            </a:r>
          </a:p>
        </p:txBody>
      </p:sp>
      <p:sp>
        <p:nvSpPr>
          <p:cNvPr id="15" name="Google Shape;425;p44">
            <a:extLst>
              <a:ext uri="{FF2B5EF4-FFF2-40B4-BE49-F238E27FC236}">
                <a16:creationId xmlns:a16="http://schemas.microsoft.com/office/drawing/2014/main" id="{BCAA6CEE-AE80-4CFE-BF08-B9B1F8911FF5}"/>
              </a:ext>
            </a:extLst>
          </p:cNvPr>
          <p:cNvSpPr txBox="1"/>
          <p:nvPr/>
        </p:nvSpPr>
        <p:spPr>
          <a:xfrm>
            <a:off x="5993693" y="3378952"/>
            <a:ext cx="1133570" cy="635116"/>
          </a:xfrm>
          <a:prstGeom prst="rect">
            <a:avLst/>
          </a:prstGeom>
          <a:noFill/>
          <a:ln>
            <a:noFill/>
          </a:ln>
        </p:spPr>
        <p:txBody>
          <a:bodyPr spcFirstLastPara="1" wrap="square" lIns="91425" tIns="91425" rIns="91425" bIns="91425" anchor="b" anchorCtr="0">
            <a:noAutofit/>
          </a:bodyPr>
          <a:lstStyle/>
          <a:p>
            <a:pPr algn="ctr"/>
            <a:r>
              <a:rPr lang="en-US" sz="1100" dirty="0"/>
              <a:t>Train models and tune parameters</a:t>
            </a:r>
          </a:p>
        </p:txBody>
      </p:sp>
      <p:sp>
        <p:nvSpPr>
          <p:cNvPr id="16" name="Google Shape;425;p44">
            <a:extLst>
              <a:ext uri="{FF2B5EF4-FFF2-40B4-BE49-F238E27FC236}">
                <a16:creationId xmlns:a16="http://schemas.microsoft.com/office/drawing/2014/main" id="{F1C69DC4-EDE4-2196-C58E-D56BE28497B6}"/>
              </a:ext>
            </a:extLst>
          </p:cNvPr>
          <p:cNvSpPr txBox="1"/>
          <p:nvPr/>
        </p:nvSpPr>
        <p:spPr>
          <a:xfrm>
            <a:off x="7353820" y="3353160"/>
            <a:ext cx="1133570" cy="635116"/>
          </a:xfrm>
          <a:prstGeom prst="rect">
            <a:avLst/>
          </a:prstGeom>
          <a:noFill/>
          <a:ln>
            <a:noFill/>
          </a:ln>
        </p:spPr>
        <p:txBody>
          <a:bodyPr spcFirstLastPara="1" wrap="square" lIns="91425" tIns="91425" rIns="91425" bIns="91425" anchor="b" anchorCtr="0">
            <a:noAutofit/>
          </a:bodyPr>
          <a:lstStyle/>
          <a:p>
            <a:pPr algn="ctr"/>
            <a:r>
              <a:rPr lang="en-US" sz="1100" dirty="0"/>
              <a:t>Compare models using error metrics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44" name="Google Shape;329;p36">
            <a:extLst>
              <a:ext uri="{FF2B5EF4-FFF2-40B4-BE49-F238E27FC236}">
                <a16:creationId xmlns:a16="http://schemas.microsoft.com/office/drawing/2014/main" id="{4CAF8434-0B2B-40F0-A129-0EEE6E499B12}"/>
              </a:ext>
            </a:extLst>
          </p:cNvPr>
          <p:cNvSpPr txBox="1">
            <a:spLocks noGrp="1"/>
          </p:cNvSpPr>
          <p:nvPr>
            <p:ph type="title"/>
          </p:nvPr>
        </p:nvSpPr>
        <p:spPr>
          <a:xfrm>
            <a:off x="1450039" y="540684"/>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Data A</a:t>
            </a:r>
            <a:r>
              <a:rPr lang="en-US" sz="2400" dirty="0"/>
              <a:t>c</a:t>
            </a:r>
            <a:r>
              <a:rPr lang="en" sz="2400" dirty="0"/>
              <a:t>quisition &amp; Preprocessing</a:t>
            </a:r>
            <a:endParaRPr sz="2400" dirty="0"/>
          </a:p>
        </p:txBody>
      </p:sp>
      <p:sp>
        <p:nvSpPr>
          <p:cNvPr id="45" name="Google Shape;331;p36">
            <a:extLst>
              <a:ext uri="{FF2B5EF4-FFF2-40B4-BE49-F238E27FC236}">
                <a16:creationId xmlns:a16="http://schemas.microsoft.com/office/drawing/2014/main" id="{4BEB05AF-CD7A-3DB7-6A98-ECDF4DF5174B}"/>
              </a:ext>
            </a:extLst>
          </p:cNvPr>
          <p:cNvSpPr txBox="1">
            <a:spLocks/>
          </p:cNvSpPr>
          <p:nvPr/>
        </p:nvSpPr>
        <p:spPr>
          <a:xfrm>
            <a:off x="500081" y="394654"/>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5.1</a:t>
            </a:r>
            <a:endParaRPr lang="en" dirty="0"/>
          </a:p>
        </p:txBody>
      </p:sp>
      <p:sp>
        <p:nvSpPr>
          <p:cNvPr id="2" name="Rectangle: Rounded Corners 1">
            <a:extLst>
              <a:ext uri="{FF2B5EF4-FFF2-40B4-BE49-F238E27FC236}">
                <a16:creationId xmlns:a16="http://schemas.microsoft.com/office/drawing/2014/main" id="{C9B70B1F-9107-8167-75DB-93D1B2ECB884}"/>
              </a:ext>
            </a:extLst>
          </p:cNvPr>
          <p:cNvSpPr/>
          <p:nvPr/>
        </p:nvSpPr>
        <p:spPr>
          <a:xfrm>
            <a:off x="500081" y="1394460"/>
            <a:ext cx="3928200" cy="2910840"/>
          </a:xfrm>
          <a:prstGeom prst="roundRect">
            <a:avLst>
              <a:gd name="adj" fmla="val 4233"/>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US" dirty="0">
                <a:solidFill>
                  <a:schemeClr val="tx1"/>
                </a:solidFill>
                <a:latin typeface="Hanken Grotesk" panose="020B0604020202020204" charset="0"/>
              </a:rPr>
              <a:t>Load Data: Hourly MW readings from </a:t>
            </a:r>
            <a:r>
              <a:rPr lang="en-US" dirty="0" err="1">
                <a:solidFill>
                  <a:schemeClr val="tx1"/>
                </a:solidFill>
                <a:latin typeface="Hanken Grotesk" panose="020B0604020202020204" charset="0"/>
              </a:rPr>
              <a:t>Baneshwor</a:t>
            </a:r>
            <a:r>
              <a:rPr lang="en-US" dirty="0">
                <a:solidFill>
                  <a:schemeClr val="tx1"/>
                </a:solidFill>
                <a:latin typeface="Hanken Grotesk" panose="020B0604020202020204" charset="0"/>
              </a:rPr>
              <a:t> Feeder. </a:t>
            </a:r>
          </a:p>
          <a:p>
            <a:pPr marL="285750" indent="-285750">
              <a:buFont typeface="Arial" panose="020B0604020202020204" pitchFamily="34" charset="0"/>
              <a:buChar char="•"/>
            </a:pPr>
            <a:endParaRPr lang="en-US" dirty="0">
              <a:solidFill>
                <a:schemeClr val="tx1"/>
              </a:solidFill>
              <a:latin typeface="Hanken Grotesk" panose="020B0604020202020204" charset="0"/>
            </a:endParaRPr>
          </a:p>
          <a:p>
            <a:pPr marL="285750" indent="-285750">
              <a:buFont typeface="Arial" panose="020B0604020202020204" pitchFamily="34" charset="0"/>
              <a:buChar char="•"/>
            </a:pPr>
            <a:r>
              <a:rPr lang="en-US" dirty="0">
                <a:solidFill>
                  <a:schemeClr val="tx1"/>
                </a:solidFill>
                <a:latin typeface="Hanken Grotesk" panose="020B0604020202020204" charset="0"/>
              </a:rPr>
              <a:t>Weather Data: Temperature, Humidity, and Rainfall. </a:t>
            </a:r>
          </a:p>
          <a:p>
            <a:pPr marL="285750" indent="-285750">
              <a:buFont typeface="Arial" panose="020B0604020202020204" pitchFamily="34" charset="0"/>
              <a:buChar char="•"/>
            </a:pPr>
            <a:endParaRPr lang="en-US" dirty="0">
              <a:solidFill>
                <a:schemeClr val="tx1"/>
              </a:solidFill>
              <a:latin typeface="Hanken Grotesk" panose="020B0604020202020204" charset="0"/>
            </a:endParaRPr>
          </a:p>
          <a:p>
            <a:pPr marL="285750" indent="-285750">
              <a:buFont typeface="Arial" panose="020B0604020202020204" pitchFamily="34" charset="0"/>
              <a:buChar char="•"/>
            </a:pPr>
            <a:r>
              <a:rPr lang="en-US" dirty="0">
                <a:solidFill>
                  <a:schemeClr val="tx1"/>
                </a:solidFill>
                <a:latin typeface="Hanken Grotesk" panose="020B0604020202020204" charset="0"/>
              </a:rPr>
              <a:t>Challenges: Missing Value, Nepali (BS) Date Format, Outliers</a:t>
            </a:r>
          </a:p>
        </p:txBody>
      </p:sp>
      <p:sp>
        <p:nvSpPr>
          <p:cNvPr id="3" name="Rectangle: Rounded Corners 2">
            <a:extLst>
              <a:ext uri="{FF2B5EF4-FFF2-40B4-BE49-F238E27FC236}">
                <a16:creationId xmlns:a16="http://schemas.microsoft.com/office/drawing/2014/main" id="{70074ACB-AFF8-041C-3874-F85315EFFC1B}"/>
              </a:ext>
            </a:extLst>
          </p:cNvPr>
          <p:cNvSpPr/>
          <p:nvPr/>
        </p:nvSpPr>
        <p:spPr>
          <a:xfrm>
            <a:off x="4689578" y="1394460"/>
            <a:ext cx="3928199" cy="2910840"/>
          </a:xfrm>
          <a:prstGeom prst="roundRect">
            <a:avLst>
              <a:gd name="adj" fmla="val 4233"/>
            </a:avLst>
          </a:prstGeom>
        </p:spPr>
        <p:style>
          <a:lnRef idx="2">
            <a:schemeClr val="dk1"/>
          </a:lnRef>
          <a:fillRef idx="1">
            <a:schemeClr val="lt1"/>
          </a:fillRef>
          <a:effectRef idx="0">
            <a:schemeClr val="dk1"/>
          </a:effectRef>
          <a:fontRef idx="minor">
            <a:schemeClr val="dk1"/>
          </a:fontRef>
        </p:style>
        <p:txBody>
          <a:bodyPr rtlCol="0" anchor="ctr"/>
          <a:lstStyle/>
          <a:p>
            <a:pPr marL="285750" indent="-285750">
              <a:buFont typeface="Arial" panose="020B0604020202020204" pitchFamily="34" charset="0"/>
              <a:buChar char="•"/>
            </a:pPr>
            <a:r>
              <a:rPr lang="en-US" dirty="0">
                <a:solidFill>
                  <a:schemeClr val="tx1"/>
                </a:solidFill>
                <a:latin typeface="Hanken Grotesk" panose="020B0604020202020204" charset="0"/>
              </a:rPr>
              <a:t>Standardization: Converted all timestamps to Gregorian (AD). </a:t>
            </a:r>
          </a:p>
          <a:p>
            <a:pPr marL="285750" indent="-285750">
              <a:buFont typeface="Arial" panose="020B0604020202020204" pitchFamily="34" charset="0"/>
              <a:buChar char="•"/>
            </a:pPr>
            <a:endParaRPr lang="en-US" dirty="0">
              <a:solidFill>
                <a:schemeClr val="tx1"/>
              </a:solidFill>
              <a:latin typeface="Hanken Grotesk" panose="020B0604020202020204" charset="0"/>
            </a:endParaRPr>
          </a:p>
          <a:p>
            <a:pPr marL="285750" indent="-285750">
              <a:buFont typeface="Arial" panose="020B0604020202020204" pitchFamily="34" charset="0"/>
              <a:buChar char="•"/>
            </a:pPr>
            <a:r>
              <a:rPr lang="en-US" dirty="0">
                <a:solidFill>
                  <a:schemeClr val="tx1"/>
                </a:solidFill>
                <a:latin typeface="Hanken Grotesk" panose="020B0604020202020204" charset="0"/>
              </a:rPr>
              <a:t>Cleaning: Handled missing values via Forward/Backward fill; detected outliers using IQR. </a:t>
            </a:r>
          </a:p>
          <a:p>
            <a:pPr marL="285750" indent="-285750">
              <a:buFont typeface="Arial" panose="020B0604020202020204" pitchFamily="34" charset="0"/>
              <a:buChar char="•"/>
            </a:pPr>
            <a:endParaRPr lang="en-US" dirty="0">
              <a:solidFill>
                <a:schemeClr val="tx1"/>
              </a:solidFill>
              <a:latin typeface="Hanken Grotesk" panose="020B0604020202020204" charset="0"/>
            </a:endParaRPr>
          </a:p>
          <a:p>
            <a:pPr marL="285750" indent="-285750">
              <a:buFont typeface="Arial" panose="020B0604020202020204" pitchFamily="34" charset="0"/>
              <a:buChar char="•"/>
            </a:pPr>
            <a:r>
              <a:rPr lang="en-US" dirty="0">
                <a:solidFill>
                  <a:schemeClr val="tx1"/>
                </a:solidFill>
                <a:latin typeface="Hanken Grotesk" panose="020B0604020202020204" charset="0"/>
              </a:rPr>
              <a:t>Feature Engineering: Created Hour, Day, Month and Time Features from time.</a:t>
            </a:r>
          </a:p>
        </p:txBody>
      </p:sp>
      <p:sp>
        <p:nvSpPr>
          <p:cNvPr id="4" name="Google Shape;330;p36">
            <a:extLst>
              <a:ext uri="{FF2B5EF4-FFF2-40B4-BE49-F238E27FC236}">
                <a16:creationId xmlns:a16="http://schemas.microsoft.com/office/drawing/2014/main" id="{70568F44-D49C-3739-30F1-D8B0614774A8}"/>
              </a:ext>
            </a:extLst>
          </p:cNvPr>
          <p:cNvSpPr txBox="1">
            <a:spLocks/>
          </p:cNvSpPr>
          <p:nvPr/>
        </p:nvSpPr>
        <p:spPr>
          <a:xfrm>
            <a:off x="500081" y="4609778"/>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7 - </a:t>
            </a:r>
            <a:fld id="{1612EBDF-BBCF-4455-9CA4-C9C775D5C22A}" type="datetime1">
              <a:rPr lang="en-US" sz="1000" smtClean="0"/>
              <a:t>1/16/2026</a:t>
            </a:fld>
            <a:endParaRPr lang="en-US" sz="1000" dirty="0"/>
          </a:p>
        </p:txBody>
      </p:sp>
    </p:spTree>
    <p:extLst>
      <p:ext uri="{BB962C8B-B14F-4D97-AF65-F5344CB8AC3E}">
        <p14:creationId xmlns:p14="http://schemas.microsoft.com/office/powerpoint/2010/main" val="640175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44" name="Google Shape;329;p36">
            <a:extLst>
              <a:ext uri="{FF2B5EF4-FFF2-40B4-BE49-F238E27FC236}">
                <a16:creationId xmlns:a16="http://schemas.microsoft.com/office/drawing/2014/main" id="{4CAF8434-0B2B-40F0-A129-0EEE6E499B12}"/>
              </a:ext>
            </a:extLst>
          </p:cNvPr>
          <p:cNvSpPr txBox="1">
            <a:spLocks noGrp="1"/>
          </p:cNvSpPr>
          <p:nvPr>
            <p:ph type="title"/>
          </p:nvPr>
        </p:nvSpPr>
        <p:spPr>
          <a:xfrm>
            <a:off x="1669958" y="679580"/>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2400" dirty="0"/>
              <a:t>Data A</a:t>
            </a:r>
            <a:r>
              <a:rPr lang="en-US" sz="2400" dirty="0"/>
              <a:t>c</a:t>
            </a:r>
            <a:r>
              <a:rPr lang="en" sz="2400" dirty="0"/>
              <a:t>quisition &amp; Preprocessing</a:t>
            </a:r>
            <a:endParaRPr sz="2400" dirty="0"/>
          </a:p>
        </p:txBody>
      </p:sp>
      <p:sp>
        <p:nvSpPr>
          <p:cNvPr id="45" name="Google Shape;331;p36">
            <a:extLst>
              <a:ext uri="{FF2B5EF4-FFF2-40B4-BE49-F238E27FC236}">
                <a16:creationId xmlns:a16="http://schemas.microsoft.com/office/drawing/2014/main" id="{4BEB05AF-CD7A-3DB7-6A98-ECDF4DF5174B}"/>
              </a:ext>
            </a:extLst>
          </p:cNvPr>
          <p:cNvSpPr txBox="1">
            <a:spLocks/>
          </p:cNvSpPr>
          <p:nvPr/>
        </p:nvSpPr>
        <p:spPr>
          <a:xfrm>
            <a:off x="720000" y="533550"/>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5.1</a:t>
            </a:r>
            <a:endParaRPr lang="en" dirty="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C144C473-3982-79B9-9701-05CA5D54C350}"/>
                  </a:ext>
                </a:extLst>
              </p:cNvPr>
              <p:cNvGraphicFramePr>
                <a:graphicFrameLocks noGrp="1"/>
              </p:cNvGraphicFramePr>
              <p:nvPr>
                <p:extLst>
                  <p:ext uri="{D42A27DB-BD31-4B8C-83A1-F6EECF244321}">
                    <p14:modId xmlns:p14="http://schemas.microsoft.com/office/powerpoint/2010/main" val="416074361"/>
                  </p:ext>
                </p:extLst>
              </p:nvPr>
            </p:nvGraphicFramePr>
            <p:xfrm>
              <a:off x="720000" y="1441799"/>
              <a:ext cx="7845266" cy="2788057"/>
            </p:xfrm>
            <a:graphic>
              <a:graphicData uri="http://schemas.openxmlformats.org/drawingml/2006/table">
                <a:tbl>
                  <a:tblPr>
                    <a:tableStyleId>{5940675A-B579-460E-94D1-54222C63F5DA}</a:tableStyleId>
                  </a:tblPr>
                  <a:tblGrid>
                    <a:gridCol w="1616800">
                      <a:extLst>
                        <a:ext uri="{9D8B030D-6E8A-4147-A177-3AD203B41FA5}">
                          <a16:colId xmlns:a16="http://schemas.microsoft.com/office/drawing/2014/main" val="996741335"/>
                        </a:ext>
                      </a:extLst>
                    </a:gridCol>
                    <a:gridCol w="1056640">
                      <a:extLst>
                        <a:ext uri="{9D8B030D-6E8A-4147-A177-3AD203B41FA5}">
                          <a16:colId xmlns:a16="http://schemas.microsoft.com/office/drawing/2014/main" val="823278242"/>
                        </a:ext>
                      </a:extLst>
                    </a:gridCol>
                    <a:gridCol w="1757680">
                      <a:extLst>
                        <a:ext uri="{9D8B030D-6E8A-4147-A177-3AD203B41FA5}">
                          <a16:colId xmlns:a16="http://schemas.microsoft.com/office/drawing/2014/main" val="1216470040"/>
                        </a:ext>
                      </a:extLst>
                    </a:gridCol>
                    <a:gridCol w="1859280">
                      <a:extLst>
                        <a:ext uri="{9D8B030D-6E8A-4147-A177-3AD203B41FA5}">
                          <a16:colId xmlns:a16="http://schemas.microsoft.com/office/drawing/2014/main" val="2941528655"/>
                        </a:ext>
                      </a:extLst>
                    </a:gridCol>
                    <a:gridCol w="1554866">
                      <a:extLst>
                        <a:ext uri="{9D8B030D-6E8A-4147-A177-3AD203B41FA5}">
                          <a16:colId xmlns:a16="http://schemas.microsoft.com/office/drawing/2014/main" val="2353134203"/>
                        </a:ext>
                      </a:extLst>
                    </a:gridCol>
                  </a:tblGrid>
                  <a:tr h="569881">
                    <a:tc>
                      <a:txBody>
                        <a:bodyPr/>
                        <a:lstStyle/>
                        <a:p>
                          <a:pPr algn="ctr" fontAlgn="t"/>
                          <a:r>
                            <a:rPr lang="en-US" sz="1400" u="none" strike="noStrike" dirty="0">
                              <a:effectLst/>
                            </a:rPr>
                            <a:t>Time</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Power </a:t>
                          </a:r>
                        </a:p>
                        <a:p>
                          <a:pPr algn="ctr" fontAlgn="t"/>
                          <a:r>
                            <a:rPr lang="en-US" sz="1400" u="none" strike="noStrike" dirty="0">
                              <a:effectLst/>
                            </a:rPr>
                            <a:t>(MV)</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Air Temperature</a:t>
                          </a:r>
                        </a:p>
                        <a:p>
                          <a:pPr algn="ctr" fontAlgn="t"/>
                          <a:r>
                            <a:rPr lang="en-US" sz="1400" u="none" strike="noStrike" dirty="0">
                              <a:effectLst/>
                            </a:rPr>
                            <a:t>(°C)</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Global Solar Radiation</a:t>
                          </a:r>
                        </a:p>
                        <a:p>
                          <a:pPr algn="ctr" fontAlgn="t"/>
                          <a:r>
                            <a:rPr lang="en-US" sz="1400" kern="1200" dirty="0">
                              <a:solidFill>
                                <a:schemeClr val="tx1"/>
                              </a:solidFill>
                              <a:latin typeface="Hanken Grotesk"/>
                              <a:sym typeface="Hanken Grotesk"/>
                            </a:rPr>
                            <a:t>(W/</a:t>
                          </a:r>
                          <a14:m>
                            <m:oMath xmlns:m="http://schemas.openxmlformats.org/officeDocument/2006/math">
                              <m:sSup>
                                <m:sSupPr>
                                  <m:ctrlPr>
                                    <a:rPr lang="en-US" sz="1400" i="1" kern="1200" smtClean="0">
                                      <a:solidFill>
                                        <a:schemeClr val="tx1"/>
                                      </a:solidFill>
                                      <a:latin typeface="Cambria Math" panose="02040503050406030204" pitchFamily="18" charset="0"/>
                                      <a:sym typeface="Hanken Grotesk"/>
                                    </a:rPr>
                                  </m:ctrlPr>
                                </m:sSupPr>
                                <m:e>
                                  <m:r>
                                    <a:rPr lang="en-US" sz="1400" b="0" i="1" kern="1200" smtClean="0">
                                      <a:solidFill>
                                        <a:schemeClr val="tx1"/>
                                      </a:solidFill>
                                      <a:latin typeface="Cambria Math" panose="02040503050406030204" pitchFamily="18" charset="0"/>
                                      <a:sym typeface="Hanken Grotesk"/>
                                    </a:rPr>
                                    <m:t>𝑚</m:t>
                                  </m:r>
                                </m:e>
                                <m:sup>
                                  <m:r>
                                    <a:rPr lang="en-US" sz="1400" b="0" i="1" kern="1200" smtClean="0">
                                      <a:solidFill>
                                        <a:schemeClr val="tx1"/>
                                      </a:solidFill>
                                      <a:latin typeface="Cambria Math" panose="02040503050406030204" pitchFamily="18" charset="0"/>
                                      <a:sym typeface="Hanken Grotesk"/>
                                    </a:rPr>
                                    <m:t>2</m:t>
                                  </m:r>
                                </m:sup>
                              </m:sSup>
                            </m:oMath>
                          </a14:m>
                          <a:r>
                            <a:rPr lang="en-US" sz="1400" kern="1200" dirty="0">
                              <a:solidFill>
                                <a:schemeClr val="tx1"/>
                              </a:solidFill>
                              <a:latin typeface="Hanken Grotesk"/>
                              <a:sym typeface="Hanken Grotesk"/>
                            </a:rPr>
                            <a:t>)</a:t>
                          </a:r>
                        </a:p>
                      </a:txBody>
                      <a:tcPr marL="7620" marR="7620" marT="7620" marB="0" anchor="ctr"/>
                    </a:tc>
                    <a:tc>
                      <a:txBody>
                        <a:bodyPr/>
                        <a:lstStyle/>
                        <a:p>
                          <a:pPr algn="ctr" fontAlgn="t"/>
                          <a:r>
                            <a:rPr lang="en-US" sz="1400" u="none" strike="noStrike" dirty="0">
                              <a:effectLst/>
                            </a:rPr>
                            <a:t>Relative Humidity</a:t>
                          </a:r>
                        </a:p>
                        <a:p>
                          <a:pPr algn="ctr" fontAlgn="t"/>
                          <a:r>
                            <a:rPr lang="en-US" sz="1400" b="1" i="0" u="none" strike="noStrike" dirty="0">
                              <a:solidFill>
                                <a:srgbClr val="000000"/>
                              </a:solidFill>
                              <a:effectLst/>
                              <a:latin typeface="Hanken Grotesk" panose="020B0604020202020204" charset="0"/>
                            </a:rPr>
                            <a:t>(%)</a:t>
                          </a:r>
                        </a:p>
                      </a:txBody>
                      <a:tcPr marL="7620" marR="7620" marT="7620" marB="0" anchor="ctr"/>
                    </a:tc>
                    <a:extLst>
                      <a:ext uri="{0D108BD9-81ED-4DB2-BD59-A6C34878D82A}">
                        <a16:rowId xmlns:a16="http://schemas.microsoft.com/office/drawing/2014/main" val="602257190"/>
                      </a:ext>
                    </a:extLst>
                  </a:tr>
                  <a:tr h="246464">
                    <a:tc>
                      <a:txBody>
                        <a:bodyPr/>
                        <a:lstStyle/>
                        <a:p>
                          <a:pPr algn="ctr" fontAlgn="b"/>
                          <a:r>
                            <a:rPr lang="en-US" sz="1400" u="none" strike="noStrike" dirty="0">
                              <a:effectLst/>
                            </a:rPr>
                            <a:t>2022-10-19 01:00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14.5</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88.8</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690706460"/>
                      </a:ext>
                    </a:extLst>
                  </a:tr>
                  <a:tr h="246464">
                    <a:tc>
                      <a:txBody>
                        <a:bodyPr/>
                        <a:lstStyle/>
                        <a:p>
                          <a:pPr algn="ctr" fontAlgn="b"/>
                          <a:r>
                            <a:rPr lang="en-US" sz="1400" u="none" strike="noStrike" dirty="0">
                              <a:effectLst/>
                            </a:rPr>
                            <a:t>2022-10-19 02:00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14.4</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87.9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4186698424"/>
                      </a:ext>
                    </a:extLst>
                  </a:tr>
                  <a:tr h="246464">
                    <a:tc>
                      <a:txBody>
                        <a:bodyPr/>
                        <a:lstStyle/>
                        <a:p>
                          <a:pPr algn="ctr" fontAlgn="b"/>
                          <a:r>
                            <a:rPr lang="en-US" sz="1400" u="none" strike="noStrike">
                              <a:effectLst/>
                            </a:rPr>
                            <a:t>2022-10-19 03:00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92.3</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170439316"/>
                      </a:ext>
                    </a:extLst>
                  </a:tr>
                  <a:tr h="246464">
                    <a:tc>
                      <a:txBody>
                        <a:bodyPr/>
                        <a:lstStyle/>
                        <a:p>
                          <a:pPr algn="ctr" fontAlgn="b"/>
                          <a:r>
                            <a:rPr lang="en-US" sz="1400" u="none" strike="noStrike">
                              <a:effectLst/>
                            </a:rPr>
                            <a:t>2022-10-19 04:00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13.2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95.8</a:t>
                          </a:r>
                          <a:endParaRPr lang="en-US" sz="1400" b="0" i="0" u="none" strike="noStrike" dirty="0">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2824116137"/>
                      </a:ext>
                    </a:extLst>
                  </a:tr>
                  <a:tr h="246464">
                    <a:tc>
                      <a:txBody>
                        <a:bodyPr/>
                        <a:lstStyle/>
                        <a:p>
                          <a:pPr algn="ctr" fontAlgn="b"/>
                          <a:r>
                            <a:rPr lang="en-US" sz="1400" u="none" strike="noStrike">
                              <a:effectLst/>
                            </a:rPr>
                            <a:t>2022-10-19 05:00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12.65</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97.9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017949459"/>
                      </a:ext>
                    </a:extLst>
                  </a:tr>
                  <a:tr h="246464">
                    <a:tc>
                      <a:txBody>
                        <a:bodyPr/>
                        <a:lstStyle/>
                        <a:p>
                          <a:pPr algn="ctr" fontAlgn="b"/>
                          <a:r>
                            <a:rPr lang="en-US" sz="1400" u="none" strike="noStrike">
                              <a:effectLst/>
                            </a:rPr>
                            <a:t>2022-10-19 06:00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12.1</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100</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3549539785"/>
                      </a:ext>
                    </a:extLst>
                  </a:tr>
                  <a:tr h="246464">
                    <a:tc>
                      <a:txBody>
                        <a:bodyPr/>
                        <a:lstStyle/>
                        <a:p>
                          <a:pPr algn="ctr" fontAlgn="b"/>
                          <a:r>
                            <a:rPr lang="en-US" sz="1400" u="none" strike="noStrike">
                              <a:effectLst/>
                            </a:rPr>
                            <a:t>2022-10-19 07:00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18.6</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100</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431742879"/>
                      </a:ext>
                    </a:extLst>
                  </a:tr>
                  <a:tr h="246464">
                    <a:tc>
                      <a:txBody>
                        <a:bodyPr/>
                        <a:lstStyle/>
                        <a:p>
                          <a:pPr algn="ctr" fontAlgn="b"/>
                          <a:r>
                            <a:rPr lang="en-US" sz="1400" u="none" strike="noStrike">
                              <a:effectLst/>
                            </a:rPr>
                            <a:t>2022-10-19 08:00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171.3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92.9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3920755744"/>
                      </a:ext>
                    </a:extLst>
                  </a:tr>
                  <a:tr h="246464">
                    <a:tc>
                      <a:txBody>
                        <a:bodyPr/>
                        <a:lstStyle/>
                        <a:p>
                          <a:pPr algn="ctr" fontAlgn="b"/>
                          <a:r>
                            <a:rPr lang="en-US" sz="1400" u="none" strike="noStrike">
                              <a:effectLst/>
                            </a:rPr>
                            <a:t>2022-10-19 09:00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2.1</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17.2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393.6</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77</a:t>
                          </a:r>
                          <a:endParaRPr lang="en-US" sz="1400" b="0" i="0" u="none" strike="noStrike" dirty="0">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048078250"/>
                      </a:ext>
                    </a:extLst>
                  </a:tr>
                </a:tbl>
              </a:graphicData>
            </a:graphic>
          </p:graphicFrame>
        </mc:Choice>
        <mc:Fallback xmlns="">
          <p:graphicFrame>
            <p:nvGraphicFramePr>
              <p:cNvPr id="4" name="Table 3">
                <a:extLst>
                  <a:ext uri="{FF2B5EF4-FFF2-40B4-BE49-F238E27FC236}">
                    <a16:creationId xmlns:a16="http://schemas.microsoft.com/office/drawing/2014/main" id="{C144C473-3982-79B9-9701-05CA5D54C350}"/>
                  </a:ext>
                </a:extLst>
              </p:cNvPr>
              <p:cNvGraphicFramePr>
                <a:graphicFrameLocks noGrp="1"/>
              </p:cNvGraphicFramePr>
              <p:nvPr>
                <p:extLst>
                  <p:ext uri="{D42A27DB-BD31-4B8C-83A1-F6EECF244321}">
                    <p14:modId xmlns:p14="http://schemas.microsoft.com/office/powerpoint/2010/main" val="416074361"/>
                  </p:ext>
                </p:extLst>
              </p:nvPr>
            </p:nvGraphicFramePr>
            <p:xfrm>
              <a:off x="720000" y="1441799"/>
              <a:ext cx="7845266" cy="2788057"/>
            </p:xfrm>
            <a:graphic>
              <a:graphicData uri="http://schemas.openxmlformats.org/drawingml/2006/table">
                <a:tbl>
                  <a:tblPr>
                    <a:tableStyleId>{5940675A-B579-460E-94D1-54222C63F5DA}</a:tableStyleId>
                  </a:tblPr>
                  <a:tblGrid>
                    <a:gridCol w="1616800">
                      <a:extLst>
                        <a:ext uri="{9D8B030D-6E8A-4147-A177-3AD203B41FA5}">
                          <a16:colId xmlns:a16="http://schemas.microsoft.com/office/drawing/2014/main" val="996741335"/>
                        </a:ext>
                      </a:extLst>
                    </a:gridCol>
                    <a:gridCol w="1056640">
                      <a:extLst>
                        <a:ext uri="{9D8B030D-6E8A-4147-A177-3AD203B41FA5}">
                          <a16:colId xmlns:a16="http://schemas.microsoft.com/office/drawing/2014/main" val="823278242"/>
                        </a:ext>
                      </a:extLst>
                    </a:gridCol>
                    <a:gridCol w="1757680">
                      <a:extLst>
                        <a:ext uri="{9D8B030D-6E8A-4147-A177-3AD203B41FA5}">
                          <a16:colId xmlns:a16="http://schemas.microsoft.com/office/drawing/2014/main" val="1216470040"/>
                        </a:ext>
                      </a:extLst>
                    </a:gridCol>
                    <a:gridCol w="1859280">
                      <a:extLst>
                        <a:ext uri="{9D8B030D-6E8A-4147-A177-3AD203B41FA5}">
                          <a16:colId xmlns:a16="http://schemas.microsoft.com/office/drawing/2014/main" val="2941528655"/>
                        </a:ext>
                      </a:extLst>
                    </a:gridCol>
                    <a:gridCol w="1554866">
                      <a:extLst>
                        <a:ext uri="{9D8B030D-6E8A-4147-A177-3AD203B41FA5}">
                          <a16:colId xmlns:a16="http://schemas.microsoft.com/office/drawing/2014/main" val="2353134203"/>
                        </a:ext>
                      </a:extLst>
                    </a:gridCol>
                  </a:tblGrid>
                  <a:tr h="569881">
                    <a:tc>
                      <a:txBody>
                        <a:bodyPr/>
                        <a:lstStyle/>
                        <a:p>
                          <a:pPr algn="ctr" fontAlgn="t"/>
                          <a:r>
                            <a:rPr lang="en-US" sz="1400" u="none" strike="noStrike" dirty="0">
                              <a:effectLst/>
                            </a:rPr>
                            <a:t>Time</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Power </a:t>
                          </a:r>
                        </a:p>
                        <a:p>
                          <a:pPr algn="ctr" fontAlgn="t"/>
                          <a:r>
                            <a:rPr lang="en-US" sz="1400" u="none" strike="noStrike" dirty="0">
                              <a:effectLst/>
                            </a:rPr>
                            <a:t>(MV)</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t"/>
                          <a:r>
                            <a:rPr lang="en-US" sz="1400" u="none" strike="noStrike" dirty="0">
                              <a:effectLst/>
                            </a:rPr>
                            <a:t>Air Temperature</a:t>
                          </a:r>
                        </a:p>
                        <a:p>
                          <a:pPr algn="ctr" fontAlgn="t"/>
                          <a:r>
                            <a:rPr lang="en-US" sz="1400" u="none" strike="noStrike" dirty="0">
                              <a:effectLst/>
                            </a:rPr>
                            <a:t>(°C)</a:t>
                          </a:r>
                          <a:endParaRPr lang="en-US" sz="1400" b="1" i="0" u="none" strike="noStrike" dirty="0">
                            <a:solidFill>
                              <a:srgbClr val="000000"/>
                            </a:solidFill>
                            <a:effectLst/>
                            <a:latin typeface="Hanken Grotesk" panose="020B0604020202020204" charset="0"/>
                          </a:endParaRPr>
                        </a:p>
                      </a:txBody>
                      <a:tcPr marL="7620" marR="7620" marT="7620" marB="0" anchor="ctr"/>
                    </a:tc>
                    <a:tc>
                      <a:txBody>
                        <a:bodyPr/>
                        <a:lstStyle/>
                        <a:p>
                          <a:endParaRPr lang="en-US"/>
                        </a:p>
                      </a:txBody>
                      <a:tcPr marL="7620" marR="7620" marT="7620" marB="0" anchor="ctr">
                        <a:blipFill>
                          <a:blip r:embed="rId3"/>
                          <a:stretch>
                            <a:fillRect l="-237908" t="-1064" r="-83987" b="-404255"/>
                          </a:stretch>
                        </a:blipFill>
                      </a:tcPr>
                    </a:tc>
                    <a:tc>
                      <a:txBody>
                        <a:bodyPr/>
                        <a:lstStyle/>
                        <a:p>
                          <a:pPr algn="ctr" fontAlgn="t"/>
                          <a:r>
                            <a:rPr lang="en-US" sz="1400" u="none" strike="noStrike" dirty="0">
                              <a:effectLst/>
                            </a:rPr>
                            <a:t>Relative Humidity</a:t>
                          </a:r>
                        </a:p>
                        <a:p>
                          <a:pPr algn="ctr" fontAlgn="t"/>
                          <a:r>
                            <a:rPr lang="en-US" sz="1400" b="1" i="0" u="none" strike="noStrike" dirty="0">
                              <a:solidFill>
                                <a:srgbClr val="000000"/>
                              </a:solidFill>
                              <a:effectLst/>
                              <a:latin typeface="Hanken Grotesk" panose="020B0604020202020204" charset="0"/>
                            </a:rPr>
                            <a:t>(%)</a:t>
                          </a:r>
                        </a:p>
                      </a:txBody>
                      <a:tcPr marL="7620" marR="7620" marT="7620" marB="0" anchor="ctr"/>
                    </a:tc>
                    <a:extLst>
                      <a:ext uri="{0D108BD9-81ED-4DB2-BD59-A6C34878D82A}">
                        <a16:rowId xmlns:a16="http://schemas.microsoft.com/office/drawing/2014/main" val="602257190"/>
                      </a:ext>
                    </a:extLst>
                  </a:tr>
                  <a:tr h="246464">
                    <a:tc>
                      <a:txBody>
                        <a:bodyPr/>
                        <a:lstStyle/>
                        <a:p>
                          <a:pPr algn="ctr" fontAlgn="b"/>
                          <a:r>
                            <a:rPr lang="en-US" sz="1400" u="none" strike="noStrike" dirty="0">
                              <a:effectLst/>
                            </a:rPr>
                            <a:t>2022-10-19 01:00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14.5</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88.8</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690706460"/>
                      </a:ext>
                    </a:extLst>
                  </a:tr>
                  <a:tr h="246464">
                    <a:tc>
                      <a:txBody>
                        <a:bodyPr/>
                        <a:lstStyle/>
                        <a:p>
                          <a:pPr algn="ctr" fontAlgn="b"/>
                          <a:r>
                            <a:rPr lang="en-US" sz="1400" u="none" strike="noStrike" dirty="0">
                              <a:effectLst/>
                            </a:rPr>
                            <a:t>2022-10-19 02:00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14.4</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87.9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4186698424"/>
                      </a:ext>
                    </a:extLst>
                  </a:tr>
                  <a:tr h="246464">
                    <a:tc>
                      <a:txBody>
                        <a:bodyPr/>
                        <a:lstStyle/>
                        <a:p>
                          <a:pPr algn="ctr" fontAlgn="b"/>
                          <a:r>
                            <a:rPr lang="en-US" sz="1400" u="none" strike="noStrike">
                              <a:effectLst/>
                            </a:rPr>
                            <a:t>2022-10-19 03:00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92.3</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170439316"/>
                      </a:ext>
                    </a:extLst>
                  </a:tr>
                  <a:tr h="246464">
                    <a:tc>
                      <a:txBody>
                        <a:bodyPr/>
                        <a:lstStyle/>
                        <a:p>
                          <a:pPr algn="ctr" fontAlgn="b"/>
                          <a:r>
                            <a:rPr lang="en-US" sz="1400" u="none" strike="noStrike">
                              <a:effectLst/>
                            </a:rPr>
                            <a:t>2022-10-19 04:00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13.2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95.8</a:t>
                          </a:r>
                          <a:endParaRPr lang="en-US" sz="1400" b="0" i="0" u="none" strike="noStrike" dirty="0">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2824116137"/>
                      </a:ext>
                    </a:extLst>
                  </a:tr>
                  <a:tr h="246464">
                    <a:tc>
                      <a:txBody>
                        <a:bodyPr/>
                        <a:lstStyle/>
                        <a:p>
                          <a:pPr algn="ctr" fontAlgn="b"/>
                          <a:r>
                            <a:rPr lang="en-US" sz="1400" u="none" strike="noStrike">
                              <a:effectLst/>
                            </a:rPr>
                            <a:t>2022-10-19 05:00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0.8</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12.65</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97.9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017949459"/>
                      </a:ext>
                    </a:extLst>
                  </a:tr>
                  <a:tr h="246464">
                    <a:tc>
                      <a:txBody>
                        <a:bodyPr/>
                        <a:lstStyle/>
                        <a:p>
                          <a:pPr algn="ctr" fontAlgn="b"/>
                          <a:r>
                            <a:rPr lang="en-US" sz="1400" u="none" strike="noStrike">
                              <a:effectLst/>
                            </a:rPr>
                            <a:t>2022-10-19 06:00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12.1</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0</a:t>
                          </a:r>
                          <a:endParaRPr lang="en-US" sz="1400" b="0" i="0" u="none" strike="noStrike" dirty="0">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100</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3549539785"/>
                      </a:ext>
                    </a:extLst>
                  </a:tr>
                  <a:tr h="246464">
                    <a:tc>
                      <a:txBody>
                        <a:bodyPr/>
                        <a:lstStyle/>
                        <a:p>
                          <a:pPr algn="ctr" fontAlgn="b"/>
                          <a:r>
                            <a:rPr lang="en-US" sz="1400" u="none" strike="noStrike">
                              <a:effectLst/>
                            </a:rPr>
                            <a:t>2022-10-19 07:00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18.6</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100</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431742879"/>
                      </a:ext>
                    </a:extLst>
                  </a:tr>
                  <a:tr h="246464">
                    <a:tc>
                      <a:txBody>
                        <a:bodyPr/>
                        <a:lstStyle/>
                        <a:p>
                          <a:pPr algn="ctr" fontAlgn="b"/>
                          <a:r>
                            <a:rPr lang="en-US" sz="1400" u="none" strike="noStrike">
                              <a:effectLst/>
                            </a:rPr>
                            <a:t>2022-10-19 08:00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14.3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171.3</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92.9</a:t>
                          </a:r>
                          <a:endParaRPr lang="en-US" sz="1400" b="0" i="0" u="none" strike="noStrike">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3920755744"/>
                      </a:ext>
                    </a:extLst>
                  </a:tr>
                  <a:tr h="246464">
                    <a:tc>
                      <a:txBody>
                        <a:bodyPr/>
                        <a:lstStyle/>
                        <a:p>
                          <a:pPr algn="ctr" fontAlgn="b"/>
                          <a:r>
                            <a:rPr lang="en-US" sz="1400" u="none" strike="noStrike">
                              <a:effectLst/>
                            </a:rPr>
                            <a:t>2022-10-19 09:00</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2.1</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17.2</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a:effectLst/>
                            </a:rPr>
                            <a:t>393.6</a:t>
                          </a:r>
                          <a:endParaRPr lang="en-US" sz="1400" b="0" i="0" u="none" strike="noStrike">
                            <a:solidFill>
                              <a:srgbClr val="000000"/>
                            </a:solidFill>
                            <a:effectLst/>
                            <a:latin typeface="Hanken Grotesk" panose="020B0604020202020204" charset="0"/>
                          </a:endParaRPr>
                        </a:p>
                      </a:txBody>
                      <a:tcPr marL="7620" marR="7620" marT="7620" marB="0" anchor="ctr"/>
                    </a:tc>
                    <a:tc>
                      <a:txBody>
                        <a:bodyPr/>
                        <a:lstStyle/>
                        <a:p>
                          <a:pPr algn="ctr" fontAlgn="b"/>
                          <a:r>
                            <a:rPr lang="en-US" sz="1400" u="none" strike="noStrike" dirty="0">
                              <a:effectLst/>
                            </a:rPr>
                            <a:t>77</a:t>
                          </a:r>
                          <a:endParaRPr lang="en-US" sz="1400" b="0" i="0" u="none" strike="noStrike" dirty="0">
                            <a:solidFill>
                              <a:srgbClr val="000000"/>
                            </a:solidFill>
                            <a:effectLst/>
                            <a:latin typeface="Hanken Grotesk" panose="020B0604020202020204" charset="0"/>
                          </a:endParaRPr>
                        </a:p>
                      </a:txBody>
                      <a:tcPr marL="7620" marR="7620" marT="7620" marB="0" anchor="ctr"/>
                    </a:tc>
                    <a:extLst>
                      <a:ext uri="{0D108BD9-81ED-4DB2-BD59-A6C34878D82A}">
                        <a16:rowId xmlns:a16="http://schemas.microsoft.com/office/drawing/2014/main" val="1048078250"/>
                      </a:ext>
                    </a:extLst>
                  </a:tr>
                </a:tbl>
              </a:graphicData>
            </a:graphic>
          </p:graphicFrame>
        </mc:Fallback>
      </mc:AlternateContent>
      <p:sp>
        <p:nvSpPr>
          <p:cNvPr id="5" name="Google Shape;330;p36">
            <a:extLst>
              <a:ext uri="{FF2B5EF4-FFF2-40B4-BE49-F238E27FC236}">
                <a16:creationId xmlns:a16="http://schemas.microsoft.com/office/drawing/2014/main" id="{2B37DD13-F9E6-D813-B027-563712E7E67E}"/>
              </a:ext>
            </a:extLst>
          </p:cNvPr>
          <p:cNvSpPr txBox="1">
            <a:spLocks/>
          </p:cNvSpPr>
          <p:nvPr/>
        </p:nvSpPr>
        <p:spPr>
          <a:xfrm>
            <a:off x="1774862" y="4328806"/>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Table 4.1 Finalized Sample Dataset</a:t>
            </a:r>
          </a:p>
        </p:txBody>
      </p:sp>
      <p:sp>
        <p:nvSpPr>
          <p:cNvPr id="2" name="Google Shape;330;p36">
            <a:extLst>
              <a:ext uri="{FF2B5EF4-FFF2-40B4-BE49-F238E27FC236}">
                <a16:creationId xmlns:a16="http://schemas.microsoft.com/office/drawing/2014/main" id="{4578E182-3BBF-D5C7-3C70-F88F1210AC76}"/>
              </a:ext>
            </a:extLst>
          </p:cNvPr>
          <p:cNvSpPr txBox="1">
            <a:spLocks/>
          </p:cNvSpPr>
          <p:nvPr/>
        </p:nvSpPr>
        <p:spPr>
          <a:xfrm>
            <a:off x="720000" y="467672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8 - </a:t>
            </a:r>
            <a:fld id="{1612EBDF-BBCF-4455-9CA4-C9C775D5C22A}" type="datetime1">
              <a:rPr lang="en-US" sz="1000" smtClean="0"/>
              <a:t>1/16/2026</a:t>
            </a:fld>
            <a:endParaRPr lang="en-US" sz="1000" dirty="0"/>
          </a:p>
        </p:txBody>
      </p:sp>
    </p:spTree>
    <p:extLst>
      <p:ext uri="{BB962C8B-B14F-4D97-AF65-F5344CB8AC3E}">
        <p14:creationId xmlns:p14="http://schemas.microsoft.com/office/powerpoint/2010/main" val="3011982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002695" y="168792"/>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96552" y="8206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sp>
        <p:nvSpPr>
          <p:cNvPr id="7" name="Google Shape;330;p36">
            <a:extLst>
              <a:ext uri="{FF2B5EF4-FFF2-40B4-BE49-F238E27FC236}">
                <a16:creationId xmlns:a16="http://schemas.microsoft.com/office/drawing/2014/main" id="{9E41066A-3DF1-E083-1187-D483D6D1E936}"/>
              </a:ext>
            </a:extLst>
          </p:cNvPr>
          <p:cNvSpPr txBox="1">
            <a:spLocks/>
          </p:cNvSpPr>
          <p:nvPr/>
        </p:nvSpPr>
        <p:spPr>
          <a:xfrm>
            <a:off x="1712622" y="4207193"/>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4.1 Load Curve</a:t>
            </a:r>
          </a:p>
          <a:p>
            <a:pPr marL="0" indent="0" algn="ctr"/>
            <a:endParaRPr lang="en-US" sz="1100" i="1" dirty="0"/>
          </a:p>
        </p:txBody>
      </p:sp>
      <p:sp>
        <p:nvSpPr>
          <p:cNvPr id="2" name="Google Shape;330;p36">
            <a:extLst>
              <a:ext uri="{FF2B5EF4-FFF2-40B4-BE49-F238E27FC236}">
                <a16:creationId xmlns:a16="http://schemas.microsoft.com/office/drawing/2014/main" id="{2585288E-EE3D-4872-2F69-829E948F877A}"/>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9 - </a:t>
            </a:r>
            <a:fld id="{1612EBDF-BBCF-4455-9CA4-C9C775D5C22A}" type="datetime1">
              <a:rPr lang="en-US" sz="1000" smtClean="0"/>
              <a:t>1/16/2026</a:t>
            </a:fld>
            <a:endParaRPr lang="en-US" sz="1000" dirty="0"/>
          </a:p>
        </p:txBody>
      </p:sp>
      <p:pic>
        <p:nvPicPr>
          <p:cNvPr id="11" name="Picture 10" descr="A graph showing a line of blue lines&#10;&#10;AI-generated content may be incorrect.">
            <a:extLst>
              <a:ext uri="{FF2B5EF4-FFF2-40B4-BE49-F238E27FC236}">
                <a16:creationId xmlns:a16="http://schemas.microsoft.com/office/drawing/2014/main" id="{6E1DC24E-F6AE-78E1-07B4-B2AC67513445}"/>
              </a:ext>
            </a:extLst>
          </p:cNvPr>
          <p:cNvPicPr>
            <a:picLocks noChangeAspect="1"/>
          </p:cNvPicPr>
          <p:nvPr/>
        </p:nvPicPr>
        <p:blipFill>
          <a:blip r:embed="rId2"/>
          <a:stretch>
            <a:fillRect/>
          </a:stretch>
        </p:blipFill>
        <p:spPr>
          <a:xfrm>
            <a:off x="564996" y="1336698"/>
            <a:ext cx="8400586" cy="2782051"/>
          </a:xfrm>
          <a:prstGeom prst="rect">
            <a:avLst/>
          </a:prstGeom>
        </p:spPr>
      </p:pic>
    </p:spTree>
    <p:extLst>
      <p:ext uri="{BB962C8B-B14F-4D97-AF65-F5344CB8AC3E}">
        <p14:creationId xmlns:p14="http://schemas.microsoft.com/office/powerpoint/2010/main" val="392457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061604" y="208831"/>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155461" y="135816"/>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sp>
        <p:nvSpPr>
          <p:cNvPr id="6" name="Google Shape;330;p36">
            <a:extLst>
              <a:ext uri="{FF2B5EF4-FFF2-40B4-BE49-F238E27FC236}">
                <a16:creationId xmlns:a16="http://schemas.microsoft.com/office/drawing/2014/main" id="{152BE196-3044-A667-898F-BAB693984E76}"/>
              </a:ext>
            </a:extLst>
          </p:cNvPr>
          <p:cNvSpPr txBox="1">
            <a:spLocks/>
          </p:cNvSpPr>
          <p:nvPr/>
        </p:nvSpPr>
        <p:spPr>
          <a:xfrm>
            <a:off x="1684929" y="428296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4.4 Air Temperature in different time</a:t>
            </a:r>
          </a:p>
        </p:txBody>
      </p:sp>
      <p:sp>
        <p:nvSpPr>
          <p:cNvPr id="3" name="Google Shape;330;p36">
            <a:extLst>
              <a:ext uri="{FF2B5EF4-FFF2-40B4-BE49-F238E27FC236}">
                <a16:creationId xmlns:a16="http://schemas.microsoft.com/office/drawing/2014/main" id="{FA6EC685-A0D8-00FC-364F-B5529FE87493}"/>
              </a:ext>
            </a:extLst>
          </p:cNvPr>
          <p:cNvSpPr txBox="1">
            <a:spLocks/>
          </p:cNvSpPr>
          <p:nvPr/>
        </p:nvSpPr>
        <p:spPr>
          <a:xfrm>
            <a:off x="7533399" y="70025"/>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10 - </a:t>
            </a:r>
            <a:fld id="{1612EBDF-BBCF-4455-9CA4-C9C775D5C22A}" type="datetime1">
              <a:rPr lang="en-US" sz="1000" smtClean="0"/>
              <a:t>1/16/2026</a:t>
            </a:fld>
            <a:endParaRPr lang="en-US" sz="1000" dirty="0"/>
          </a:p>
        </p:txBody>
      </p:sp>
      <p:sp>
        <p:nvSpPr>
          <p:cNvPr id="2" name="Google Shape;330;p36">
            <a:extLst>
              <a:ext uri="{FF2B5EF4-FFF2-40B4-BE49-F238E27FC236}">
                <a16:creationId xmlns:a16="http://schemas.microsoft.com/office/drawing/2014/main" id="{FEBEDA7A-D648-F50F-892B-9EAD6D2EB6E2}"/>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11 - </a:t>
            </a:r>
            <a:fld id="{1612EBDF-BBCF-4455-9CA4-C9C775D5C22A}" type="datetime1">
              <a:rPr lang="en-US" sz="1000" smtClean="0"/>
              <a:t>1/16/2026</a:t>
            </a:fld>
            <a:endParaRPr lang="en-US" sz="1000" dirty="0"/>
          </a:p>
        </p:txBody>
      </p:sp>
      <p:pic>
        <p:nvPicPr>
          <p:cNvPr id="10" name="Picture 9" descr="A red line graph on a white background&#10;&#10;AI-generated content may be incorrect.">
            <a:extLst>
              <a:ext uri="{FF2B5EF4-FFF2-40B4-BE49-F238E27FC236}">
                <a16:creationId xmlns:a16="http://schemas.microsoft.com/office/drawing/2014/main" id="{B5977FE0-A85F-4368-703A-786B086FF2AF}"/>
              </a:ext>
            </a:extLst>
          </p:cNvPr>
          <p:cNvPicPr>
            <a:picLocks noChangeAspect="1"/>
          </p:cNvPicPr>
          <p:nvPr/>
        </p:nvPicPr>
        <p:blipFill>
          <a:blip r:embed="rId2"/>
          <a:stretch>
            <a:fillRect/>
          </a:stretch>
        </p:blipFill>
        <p:spPr>
          <a:xfrm>
            <a:off x="1173872" y="767801"/>
            <a:ext cx="6796256" cy="3372406"/>
          </a:xfrm>
          <a:prstGeom prst="rect">
            <a:avLst/>
          </a:prstGeom>
        </p:spPr>
      </p:pic>
    </p:spTree>
    <p:extLst>
      <p:ext uri="{BB962C8B-B14F-4D97-AF65-F5344CB8AC3E}">
        <p14:creationId xmlns:p14="http://schemas.microsoft.com/office/powerpoint/2010/main" val="31488322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061604" y="208831"/>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155461" y="135816"/>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sp>
        <p:nvSpPr>
          <p:cNvPr id="6" name="Google Shape;330;p36">
            <a:extLst>
              <a:ext uri="{FF2B5EF4-FFF2-40B4-BE49-F238E27FC236}">
                <a16:creationId xmlns:a16="http://schemas.microsoft.com/office/drawing/2014/main" id="{152BE196-3044-A667-898F-BAB693984E76}"/>
              </a:ext>
            </a:extLst>
          </p:cNvPr>
          <p:cNvSpPr txBox="1">
            <a:spLocks/>
          </p:cNvSpPr>
          <p:nvPr/>
        </p:nvSpPr>
        <p:spPr>
          <a:xfrm>
            <a:off x="1684929" y="428296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4.5 Relative Humidity in different time</a:t>
            </a:r>
          </a:p>
        </p:txBody>
      </p:sp>
      <p:sp>
        <p:nvSpPr>
          <p:cNvPr id="3" name="Google Shape;330;p36">
            <a:extLst>
              <a:ext uri="{FF2B5EF4-FFF2-40B4-BE49-F238E27FC236}">
                <a16:creationId xmlns:a16="http://schemas.microsoft.com/office/drawing/2014/main" id="{FA6EC685-A0D8-00FC-364F-B5529FE87493}"/>
              </a:ext>
            </a:extLst>
          </p:cNvPr>
          <p:cNvSpPr txBox="1">
            <a:spLocks/>
          </p:cNvSpPr>
          <p:nvPr/>
        </p:nvSpPr>
        <p:spPr>
          <a:xfrm>
            <a:off x="7533399" y="70025"/>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10 - </a:t>
            </a:r>
            <a:fld id="{1612EBDF-BBCF-4455-9CA4-C9C775D5C22A}" type="datetime1">
              <a:rPr lang="en-US" sz="1000" smtClean="0"/>
              <a:t>1/16/2026</a:t>
            </a:fld>
            <a:endParaRPr lang="en-US" sz="1000" dirty="0"/>
          </a:p>
        </p:txBody>
      </p:sp>
      <p:sp>
        <p:nvSpPr>
          <p:cNvPr id="2" name="Google Shape;330;p36">
            <a:extLst>
              <a:ext uri="{FF2B5EF4-FFF2-40B4-BE49-F238E27FC236}">
                <a16:creationId xmlns:a16="http://schemas.microsoft.com/office/drawing/2014/main" id="{FEBEDA7A-D648-F50F-892B-9EAD6D2EB6E2}"/>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12 - </a:t>
            </a:r>
            <a:fld id="{1612EBDF-BBCF-4455-9CA4-C9C775D5C22A}" type="datetime1">
              <a:rPr lang="en-US" sz="1000" smtClean="0"/>
              <a:t>1/16/2026</a:t>
            </a:fld>
            <a:endParaRPr lang="en-US" sz="1000" dirty="0"/>
          </a:p>
        </p:txBody>
      </p:sp>
      <p:pic>
        <p:nvPicPr>
          <p:cNvPr id="12" name="Picture 11" descr="A blue graph with numbers&#10;&#10;AI-generated content may be incorrect.">
            <a:extLst>
              <a:ext uri="{FF2B5EF4-FFF2-40B4-BE49-F238E27FC236}">
                <a16:creationId xmlns:a16="http://schemas.microsoft.com/office/drawing/2014/main" id="{3BB9D5DA-1CFF-067D-B604-F7D15C4B25EE}"/>
              </a:ext>
            </a:extLst>
          </p:cNvPr>
          <p:cNvPicPr>
            <a:picLocks noChangeAspect="1"/>
          </p:cNvPicPr>
          <p:nvPr/>
        </p:nvPicPr>
        <p:blipFill>
          <a:blip r:embed="rId2"/>
          <a:stretch>
            <a:fillRect/>
          </a:stretch>
        </p:blipFill>
        <p:spPr>
          <a:xfrm>
            <a:off x="1220166" y="767801"/>
            <a:ext cx="7120945" cy="3533521"/>
          </a:xfrm>
          <a:prstGeom prst="rect">
            <a:avLst/>
          </a:prstGeom>
        </p:spPr>
      </p:pic>
    </p:spTree>
    <p:extLst>
      <p:ext uri="{BB962C8B-B14F-4D97-AF65-F5344CB8AC3E}">
        <p14:creationId xmlns:p14="http://schemas.microsoft.com/office/powerpoint/2010/main" val="42691451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061604" y="208831"/>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155461" y="135816"/>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sp>
        <p:nvSpPr>
          <p:cNvPr id="6" name="Google Shape;330;p36">
            <a:extLst>
              <a:ext uri="{FF2B5EF4-FFF2-40B4-BE49-F238E27FC236}">
                <a16:creationId xmlns:a16="http://schemas.microsoft.com/office/drawing/2014/main" id="{152BE196-3044-A667-898F-BAB693984E76}"/>
              </a:ext>
            </a:extLst>
          </p:cNvPr>
          <p:cNvSpPr txBox="1">
            <a:spLocks/>
          </p:cNvSpPr>
          <p:nvPr/>
        </p:nvSpPr>
        <p:spPr>
          <a:xfrm>
            <a:off x="1684929" y="428296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4.6 Global Solar Radiation in different time</a:t>
            </a:r>
          </a:p>
        </p:txBody>
      </p:sp>
      <p:sp>
        <p:nvSpPr>
          <p:cNvPr id="3" name="Google Shape;330;p36">
            <a:extLst>
              <a:ext uri="{FF2B5EF4-FFF2-40B4-BE49-F238E27FC236}">
                <a16:creationId xmlns:a16="http://schemas.microsoft.com/office/drawing/2014/main" id="{FA6EC685-A0D8-00FC-364F-B5529FE87493}"/>
              </a:ext>
            </a:extLst>
          </p:cNvPr>
          <p:cNvSpPr txBox="1">
            <a:spLocks/>
          </p:cNvSpPr>
          <p:nvPr/>
        </p:nvSpPr>
        <p:spPr>
          <a:xfrm>
            <a:off x="7533399" y="70025"/>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10 - </a:t>
            </a:r>
            <a:fld id="{1612EBDF-BBCF-4455-9CA4-C9C775D5C22A}" type="datetime1">
              <a:rPr lang="en-US" sz="1000" smtClean="0"/>
              <a:t>1/16/2026</a:t>
            </a:fld>
            <a:endParaRPr lang="en-US" sz="1000" dirty="0"/>
          </a:p>
        </p:txBody>
      </p:sp>
      <p:sp>
        <p:nvSpPr>
          <p:cNvPr id="2" name="Google Shape;330;p36">
            <a:extLst>
              <a:ext uri="{FF2B5EF4-FFF2-40B4-BE49-F238E27FC236}">
                <a16:creationId xmlns:a16="http://schemas.microsoft.com/office/drawing/2014/main" id="{FEBEDA7A-D648-F50F-892B-9EAD6D2EB6E2}"/>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13 - </a:t>
            </a:r>
            <a:fld id="{1612EBDF-BBCF-4455-9CA4-C9C775D5C22A}" type="datetime1">
              <a:rPr lang="en-US" sz="1000" smtClean="0"/>
              <a:t>1/16/2026</a:t>
            </a:fld>
            <a:endParaRPr lang="en-US" sz="1000" dirty="0"/>
          </a:p>
        </p:txBody>
      </p:sp>
      <p:pic>
        <p:nvPicPr>
          <p:cNvPr id="14" name="Picture 13" descr="A graph showing a number of data&#10;&#10;AI-generated content may be incorrect.">
            <a:extLst>
              <a:ext uri="{FF2B5EF4-FFF2-40B4-BE49-F238E27FC236}">
                <a16:creationId xmlns:a16="http://schemas.microsoft.com/office/drawing/2014/main" id="{64CBC759-D6EB-1871-E1F7-6BBCF142D090}"/>
              </a:ext>
            </a:extLst>
          </p:cNvPr>
          <p:cNvPicPr>
            <a:picLocks noChangeAspect="1"/>
          </p:cNvPicPr>
          <p:nvPr/>
        </p:nvPicPr>
        <p:blipFill>
          <a:blip r:embed="rId2"/>
          <a:stretch>
            <a:fillRect/>
          </a:stretch>
        </p:blipFill>
        <p:spPr>
          <a:xfrm>
            <a:off x="1173165" y="902526"/>
            <a:ext cx="6982094" cy="3464623"/>
          </a:xfrm>
          <a:prstGeom prst="rect">
            <a:avLst/>
          </a:prstGeom>
        </p:spPr>
      </p:pic>
    </p:spTree>
    <p:extLst>
      <p:ext uri="{BB962C8B-B14F-4D97-AF65-F5344CB8AC3E}">
        <p14:creationId xmlns:p14="http://schemas.microsoft.com/office/powerpoint/2010/main" val="35046513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061604" y="208831"/>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155461" y="135816"/>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sp>
        <p:nvSpPr>
          <p:cNvPr id="6" name="Google Shape;330;p36">
            <a:extLst>
              <a:ext uri="{FF2B5EF4-FFF2-40B4-BE49-F238E27FC236}">
                <a16:creationId xmlns:a16="http://schemas.microsoft.com/office/drawing/2014/main" id="{152BE196-3044-A667-898F-BAB693984E76}"/>
              </a:ext>
            </a:extLst>
          </p:cNvPr>
          <p:cNvSpPr txBox="1">
            <a:spLocks/>
          </p:cNvSpPr>
          <p:nvPr/>
        </p:nvSpPr>
        <p:spPr>
          <a:xfrm>
            <a:off x="1684929" y="428296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4.7 Outlier Treatment in Power (MW) Column </a:t>
            </a:r>
          </a:p>
        </p:txBody>
      </p:sp>
      <p:sp>
        <p:nvSpPr>
          <p:cNvPr id="3" name="Google Shape;330;p36">
            <a:extLst>
              <a:ext uri="{FF2B5EF4-FFF2-40B4-BE49-F238E27FC236}">
                <a16:creationId xmlns:a16="http://schemas.microsoft.com/office/drawing/2014/main" id="{FA6EC685-A0D8-00FC-364F-B5529FE87493}"/>
              </a:ext>
            </a:extLst>
          </p:cNvPr>
          <p:cNvSpPr txBox="1">
            <a:spLocks/>
          </p:cNvSpPr>
          <p:nvPr/>
        </p:nvSpPr>
        <p:spPr>
          <a:xfrm>
            <a:off x="7533399" y="70025"/>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10 - </a:t>
            </a:r>
            <a:fld id="{1612EBDF-BBCF-4455-9CA4-C9C775D5C22A}" type="datetime1">
              <a:rPr lang="en-US" sz="1000" smtClean="0"/>
              <a:t>1/16/2026</a:t>
            </a:fld>
            <a:endParaRPr lang="en-US" sz="1000" dirty="0"/>
          </a:p>
        </p:txBody>
      </p:sp>
      <p:sp>
        <p:nvSpPr>
          <p:cNvPr id="2" name="Google Shape;330;p36">
            <a:extLst>
              <a:ext uri="{FF2B5EF4-FFF2-40B4-BE49-F238E27FC236}">
                <a16:creationId xmlns:a16="http://schemas.microsoft.com/office/drawing/2014/main" id="{FEBEDA7A-D648-F50F-892B-9EAD6D2EB6E2}"/>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14 - </a:t>
            </a:r>
            <a:fld id="{1612EBDF-BBCF-4455-9CA4-C9C775D5C22A}" type="datetime1">
              <a:rPr lang="en-US" sz="1000" smtClean="0"/>
              <a:t>1/16/2026</a:t>
            </a:fld>
            <a:endParaRPr lang="en-US" sz="1000" dirty="0"/>
          </a:p>
        </p:txBody>
      </p:sp>
      <p:pic>
        <p:nvPicPr>
          <p:cNvPr id="8" name="Picture 7">
            <a:extLst>
              <a:ext uri="{FF2B5EF4-FFF2-40B4-BE49-F238E27FC236}">
                <a16:creationId xmlns:a16="http://schemas.microsoft.com/office/drawing/2014/main" id="{79F7D259-768F-DC18-2F52-BB6B215A78A7}"/>
              </a:ext>
            </a:extLst>
          </p:cNvPr>
          <p:cNvPicPr>
            <a:picLocks noChangeAspect="1"/>
          </p:cNvPicPr>
          <p:nvPr/>
        </p:nvPicPr>
        <p:blipFill>
          <a:blip r:embed="rId2"/>
          <a:srcRect t="7112"/>
          <a:stretch/>
        </p:blipFill>
        <p:spPr>
          <a:xfrm>
            <a:off x="567661" y="1028838"/>
            <a:ext cx="8259337" cy="3085824"/>
          </a:xfrm>
          <a:prstGeom prst="rect">
            <a:avLst/>
          </a:prstGeom>
        </p:spPr>
      </p:pic>
    </p:spTree>
    <p:extLst>
      <p:ext uri="{BB962C8B-B14F-4D97-AF65-F5344CB8AC3E}">
        <p14:creationId xmlns:p14="http://schemas.microsoft.com/office/powerpoint/2010/main" val="9599448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061604" y="208831"/>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155461" y="135816"/>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sp>
        <p:nvSpPr>
          <p:cNvPr id="6" name="Google Shape;330;p36">
            <a:extLst>
              <a:ext uri="{FF2B5EF4-FFF2-40B4-BE49-F238E27FC236}">
                <a16:creationId xmlns:a16="http://schemas.microsoft.com/office/drawing/2014/main" id="{152BE196-3044-A667-898F-BAB693984E76}"/>
              </a:ext>
            </a:extLst>
          </p:cNvPr>
          <p:cNvSpPr txBox="1">
            <a:spLocks/>
          </p:cNvSpPr>
          <p:nvPr/>
        </p:nvSpPr>
        <p:spPr>
          <a:xfrm>
            <a:off x="1807278" y="3708407"/>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Table 4.2 Descriptive Statistics of MW Column after outlier Removal</a:t>
            </a:r>
          </a:p>
        </p:txBody>
      </p:sp>
      <p:sp>
        <p:nvSpPr>
          <p:cNvPr id="3" name="Google Shape;330;p36">
            <a:extLst>
              <a:ext uri="{FF2B5EF4-FFF2-40B4-BE49-F238E27FC236}">
                <a16:creationId xmlns:a16="http://schemas.microsoft.com/office/drawing/2014/main" id="{FA6EC685-A0D8-00FC-364F-B5529FE87493}"/>
              </a:ext>
            </a:extLst>
          </p:cNvPr>
          <p:cNvSpPr txBox="1">
            <a:spLocks/>
          </p:cNvSpPr>
          <p:nvPr/>
        </p:nvSpPr>
        <p:spPr>
          <a:xfrm>
            <a:off x="7533399" y="70025"/>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10 - </a:t>
            </a:r>
            <a:fld id="{1612EBDF-BBCF-4455-9CA4-C9C775D5C22A}" type="datetime1">
              <a:rPr lang="en-US" sz="1000" smtClean="0"/>
              <a:t>1/16/2026</a:t>
            </a:fld>
            <a:endParaRPr lang="en-US" sz="1000" dirty="0"/>
          </a:p>
        </p:txBody>
      </p:sp>
      <p:sp>
        <p:nvSpPr>
          <p:cNvPr id="2" name="Google Shape;330;p36">
            <a:extLst>
              <a:ext uri="{FF2B5EF4-FFF2-40B4-BE49-F238E27FC236}">
                <a16:creationId xmlns:a16="http://schemas.microsoft.com/office/drawing/2014/main" id="{FEBEDA7A-D648-F50F-892B-9EAD6D2EB6E2}"/>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14 - </a:t>
            </a:r>
            <a:fld id="{1612EBDF-BBCF-4455-9CA4-C9C775D5C22A}" type="datetime1">
              <a:rPr lang="en-US" sz="1000" smtClean="0"/>
              <a:t>1/16/2026</a:t>
            </a:fld>
            <a:endParaRPr lang="en-US" sz="1000" dirty="0"/>
          </a:p>
        </p:txBody>
      </p:sp>
      <p:graphicFrame>
        <p:nvGraphicFramePr>
          <p:cNvPr id="9" name="Table 8">
            <a:extLst>
              <a:ext uri="{FF2B5EF4-FFF2-40B4-BE49-F238E27FC236}">
                <a16:creationId xmlns:a16="http://schemas.microsoft.com/office/drawing/2014/main" id="{4FA410AA-3DF7-6C4C-E4FB-D0B69AB7F448}"/>
              </a:ext>
            </a:extLst>
          </p:cNvPr>
          <p:cNvGraphicFramePr>
            <a:graphicFrameLocks noGrp="1"/>
          </p:cNvGraphicFramePr>
          <p:nvPr>
            <p:extLst>
              <p:ext uri="{D42A27DB-BD31-4B8C-83A1-F6EECF244321}">
                <p14:modId xmlns:p14="http://schemas.microsoft.com/office/powerpoint/2010/main" val="1932554946"/>
              </p:ext>
            </p:extLst>
          </p:nvPr>
        </p:nvGraphicFramePr>
        <p:xfrm>
          <a:off x="2449293" y="1325890"/>
          <a:ext cx="4821304" cy="2293620"/>
        </p:xfrm>
        <a:graphic>
          <a:graphicData uri="http://schemas.openxmlformats.org/drawingml/2006/table">
            <a:tbl>
              <a:tblPr>
                <a:tableStyleId>{E67C124C-4383-4433-BF00-F876295D7A82}</a:tableStyleId>
              </a:tblPr>
              <a:tblGrid>
                <a:gridCol w="2410652">
                  <a:extLst>
                    <a:ext uri="{9D8B030D-6E8A-4147-A177-3AD203B41FA5}">
                      <a16:colId xmlns:a16="http://schemas.microsoft.com/office/drawing/2014/main" val="215533624"/>
                    </a:ext>
                  </a:extLst>
                </a:gridCol>
                <a:gridCol w="2410652">
                  <a:extLst>
                    <a:ext uri="{9D8B030D-6E8A-4147-A177-3AD203B41FA5}">
                      <a16:colId xmlns:a16="http://schemas.microsoft.com/office/drawing/2014/main" val="301778111"/>
                    </a:ext>
                  </a:extLst>
                </a:gridCol>
              </a:tblGrid>
              <a:tr h="0">
                <a:tc>
                  <a:txBody>
                    <a:bodyPr/>
                    <a:lstStyle/>
                    <a:p>
                      <a:pPr rtl="0"/>
                      <a:r>
                        <a:rPr lang="en-US" b="1">
                          <a:solidFill>
                            <a:srgbClr val="1F1F1F"/>
                          </a:solidFill>
                          <a:effectLst/>
                        </a:rPr>
                        <a:t>Statistic</a:t>
                      </a:r>
                      <a:endParaRPr lang="en-US">
                        <a:solidFill>
                          <a:srgbClr val="1F1F1F"/>
                        </a:solidFill>
                        <a:effectLst/>
                        <a:latin typeface="Google Sans Text"/>
                      </a:endParaRPr>
                    </a:p>
                  </a:txBody>
                  <a:tcPr marT="60960" marB="60960" anchor="ctr"/>
                </a:tc>
                <a:tc>
                  <a:txBody>
                    <a:bodyPr/>
                    <a:lstStyle/>
                    <a:p>
                      <a:pPr rtl="0"/>
                      <a:r>
                        <a:rPr lang="en-US" b="1">
                          <a:solidFill>
                            <a:srgbClr val="1F1F1F"/>
                          </a:solidFill>
                          <a:effectLst/>
                        </a:rPr>
                        <a:t>Value</a:t>
                      </a:r>
                      <a:endParaRPr lang="en-US">
                        <a:solidFill>
                          <a:srgbClr val="1F1F1F"/>
                        </a:solidFill>
                        <a:effectLst/>
                        <a:latin typeface="Google Sans Text"/>
                      </a:endParaRPr>
                    </a:p>
                  </a:txBody>
                  <a:tcPr marT="60960" marB="60960" anchor="ctr"/>
                </a:tc>
                <a:extLst>
                  <a:ext uri="{0D108BD9-81ED-4DB2-BD59-A6C34878D82A}">
                    <a16:rowId xmlns:a16="http://schemas.microsoft.com/office/drawing/2014/main" val="2643514129"/>
                  </a:ext>
                </a:extLst>
              </a:tr>
              <a:tr h="0">
                <a:tc>
                  <a:txBody>
                    <a:bodyPr/>
                    <a:lstStyle/>
                    <a:p>
                      <a:pPr rtl="0"/>
                      <a:r>
                        <a:rPr lang="en-US">
                          <a:solidFill>
                            <a:srgbClr val="1F1F1F"/>
                          </a:solidFill>
                          <a:effectLst/>
                        </a:rPr>
                        <a:t>Mean</a:t>
                      </a:r>
                      <a:endParaRPr lang="en-US">
                        <a:solidFill>
                          <a:srgbClr val="1F1F1F"/>
                        </a:solidFill>
                        <a:effectLst/>
                        <a:latin typeface="Google Sans Text"/>
                      </a:endParaRPr>
                    </a:p>
                  </a:txBody>
                  <a:tcPr marT="60960" marB="60960" anchor="ctr"/>
                </a:tc>
                <a:tc>
                  <a:txBody>
                    <a:bodyPr/>
                    <a:lstStyle/>
                    <a:p>
                      <a:pPr rtl="0"/>
                      <a:r>
                        <a:rPr lang="en-US" dirty="0">
                          <a:solidFill>
                            <a:srgbClr val="1F1F1F"/>
                          </a:solidFill>
                          <a:effectLst/>
                        </a:rPr>
                        <a:t>2.3483 MW</a:t>
                      </a:r>
                      <a:endParaRPr lang="en-US" dirty="0">
                        <a:solidFill>
                          <a:srgbClr val="1F1F1F"/>
                        </a:solidFill>
                        <a:effectLst/>
                        <a:latin typeface="Google Sans Text"/>
                      </a:endParaRPr>
                    </a:p>
                  </a:txBody>
                  <a:tcPr marT="60960" marB="60960" anchor="ctr"/>
                </a:tc>
                <a:extLst>
                  <a:ext uri="{0D108BD9-81ED-4DB2-BD59-A6C34878D82A}">
                    <a16:rowId xmlns:a16="http://schemas.microsoft.com/office/drawing/2014/main" val="2913604152"/>
                  </a:ext>
                </a:extLst>
              </a:tr>
              <a:tr h="0">
                <a:tc>
                  <a:txBody>
                    <a:bodyPr/>
                    <a:lstStyle/>
                    <a:p>
                      <a:pPr rtl="0"/>
                      <a:r>
                        <a:rPr lang="en-US">
                          <a:solidFill>
                            <a:srgbClr val="1F1F1F"/>
                          </a:solidFill>
                          <a:effectLst/>
                        </a:rPr>
                        <a:t>Median</a:t>
                      </a:r>
                      <a:endParaRPr lang="en-US">
                        <a:solidFill>
                          <a:srgbClr val="1F1F1F"/>
                        </a:solidFill>
                        <a:effectLst/>
                        <a:latin typeface="Google Sans Text"/>
                      </a:endParaRPr>
                    </a:p>
                  </a:txBody>
                  <a:tcPr marT="60960" marB="60960" anchor="ctr"/>
                </a:tc>
                <a:tc>
                  <a:txBody>
                    <a:bodyPr/>
                    <a:lstStyle/>
                    <a:p>
                      <a:pPr rtl="0"/>
                      <a:r>
                        <a:rPr lang="en-US" dirty="0">
                          <a:solidFill>
                            <a:srgbClr val="1F1F1F"/>
                          </a:solidFill>
                          <a:effectLst/>
                        </a:rPr>
                        <a:t>2.3000 MW</a:t>
                      </a:r>
                      <a:endParaRPr lang="en-US" dirty="0">
                        <a:solidFill>
                          <a:srgbClr val="1F1F1F"/>
                        </a:solidFill>
                        <a:effectLst/>
                        <a:latin typeface="Google Sans Text"/>
                      </a:endParaRPr>
                    </a:p>
                  </a:txBody>
                  <a:tcPr marT="60960" marB="60960" anchor="ctr"/>
                </a:tc>
                <a:extLst>
                  <a:ext uri="{0D108BD9-81ED-4DB2-BD59-A6C34878D82A}">
                    <a16:rowId xmlns:a16="http://schemas.microsoft.com/office/drawing/2014/main" val="140033467"/>
                  </a:ext>
                </a:extLst>
              </a:tr>
              <a:tr h="0">
                <a:tc>
                  <a:txBody>
                    <a:bodyPr/>
                    <a:lstStyle/>
                    <a:p>
                      <a:pPr rtl="0"/>
                      <a:r>
                        <a:rPr lang="en-US">
                          <a:solidFill>
                            <a:srgbClr val="1F1F1F"/>
                          </a:solidFill>
                          <a:effectLst/>
                        </a:rPr>
                        <a:t>Standard Deviation</a:t>
                      </a:r>
                      <a:endParaRPr lang="en-US">
                        <a:solidFill>
                          <a:srgbClr val="1F1F1F"/>
                        </a:solidFill>
                        <a:effectLst/>
                        <a:latin typeface="Google Sans Text"/>
                      </a:endParaRPr>
                    </a:p>
                  </a:txBody>
                  <a:tcPr marT="60960" marB="60960" anchor="ctr"/>
                </a:tc>
                <a:tc>
                  <a:txBody>
                    <a:bodyPr/>
                    <a:lstStyle/>
                    <a:p>
                      <a:pPr rtl="0"/>
                      <a:r>
                        <a:rPr lang="en-US" dirty="0">
                          <a:solidFill>
                            <a:srgbClr val="1F1F1F"/>
                          </a:solidFill>
                          <a:effectLst/>
                        </a:rPr>
                        <a:t>0.9186 MW</a:t>
                      </a:r>
                      <a:endParaRPr lang="en-US" dirty="0">
                        <a:solidFill>
                          <a:srgbClr val="1F1F1F"/>
                        </a:solidFill>
                        <a:effectLst/>
                        <a:latin typeface="Google Sans Text"/>
                      </a:endParaRPr>
                    </a:p>
                  </a:txBody>
                  <a:tcPr marT="60960" marB="60960" anchor="ctr"/>
                </a:tc>
                <a:extLst>
                  <a:ext uri="{0D108BD9-81ED-4DB2-BD59-A6C34878D82A}">
                    <a16:rowId xmlns:a16="http://schemas.microsoft.com/office/drawing/2014/main" val="1642153513"/>
                  </a:ext>
                </a:extLst>
              </a:tr>
              <a:tr h="0">
                <a:tc>
                  <a:txBody>
                    <a:bodyPr/>
                    <a:lstStyle/>
                    <a:p>
                      <a:pPr rtl="0"/>
                      <a:r>
                        <a:rPr lang="en-US">
                          <a:solidFill>
                            <a:srgbClr val="1F1F1F"/>
                          </a:solidFill>
                          <a:effectLst/>
                        </a:rPr>
                        <a:t>Variance</a:t>
                      </a:r>
                      <a:endParaRPr lang="en-US">
                        <a:solidFill>
                          <a:srgbClr val="1F1F1F"/>
                        </a:solidFill>
                        <a:effectLst/>
                        <a:latin typeface="Google Sans Text"/>
                      </a:endParaRPr>
                    </a:p>
                  </a:txBody>
                  <a:tcPr marT="60960" marB="60960" anchor="ctr"/>
                </a:tc>
                <a:tc>
                  <a:txBody>
                    <a:bodyPr/>
                    <a:lstStyle/>
                    <a:p>
                      <a:pPr rtl="0"/>
                      <a:r>
                        <a:rPr lang="en-US" dirty="0">
                          <a:solidFill>
                            <a:srgbClr val="1F1F1F"/>
                          </a:solidFill>
                          <a:effectLst/>
                        </a:rPr>
                        <a:t>0.8438 MW</a:t>
                      </a:r>
                      <a:r>
                        <a:rPr lang="en-US" baseline="30000" dirty="0">
                          <a:solidFill>
                            <a:srgbClr val="1F1F1F"/>
                          </a:solidFill>
                          <a:effectLst/>
                        </a:rPr>
                        <a:t>2</a:t>
                      </a:r>
                      <a:endParaRPr lang="en-US" baseline="30000" dirty="0">
                        <a:solidFill>
                          <a:srgbClr val="1F1F1F"/>
                        </a:solidFill>
                        <a:effectLst/>
                        <a:latin typeface="Google Sans Text"/>
                      </a:endParaRPr>
                    </a:p>
                  </a:txBody>
                  <a:tcPr marT="60960" marB="60960" anchor="ctr"/>
                </a:tc>
                <a:extLst>
                  <a:ext uri="{0D108BD9-81ED-4DB2-BD59-A6C34878D82A}">
                    <a16:rowId xmlns:a16="http://schemas.microsoft.com/office/drawing/2014/main" val="3525883197"/>
                  </a:ext>
                </a:extLst>
              </a:tr>
              <a:tr h="0">
                <a:tc>
                  <a:txBody>
                    <a:bodyPr/>
                    <a:lstStyle/>
                    <a:p>
                      <a:pPr rtl="0"/>
                      <a:r>
                        <a:rPr lang="en-US">
                          <a:solidFill>
                            <a:srgbClr val="1F1F1F"/>
                          </a:solidFill>
                          <a:effectLst/>
                        </a:rPr>
                        <a:t>Minimum</a:t>
                      </a:r>
                      <a:endParaRPr lang="en-US">
                        <a:solidFill>
                          <a:srgbClr val="1F1F1F"/>
                        </a:solidFill>
                        <a:effectLst/>
                        <a:latin typeface="Google Sans Text"/>
                      </a:endParaRPr>
                    </a:p>
                  </a:txBody>
                  <a:tcPr marT="60960" marB="60960" anchor="ctr"/>
                </a:tc>
                <a:tc>
                  <a:txBody>
                    <a:bodyPr/>
                    <a:lstStyle/>
                    <a:p>
                      <a:pPr rtl="0"/>
                      <a:r>
                        <a:rPr lang="en-US" dirty="0">
                          <a:solidFill>
                            <a:srgbClr val="1F1F1F"/>
                          </a:solidFill>
                          <a:effectLst/>
                        </a:rPr>
                        <a:t>0.0000 MW</a:t>
                      </a:r>
                      <a:endParaRPr lang="en-US" dirty="0">
                        <a:solidFill>
                          <a:srgbClr val="1F1F1F"/>
                        </a:solidFill>
                        <a:effectLst/>
                        <a:latin typeface="Google Sans Text"/>
                      </a:endParaRPr>
                    </a:p>
                  </a:txBody>
                  <a:tcPr marT="60960" marB="60960" anchor="ctr"/>
                </a:tc>
                <a:extLst>
                  <a:ext uri="{0D108BD9-81ED-4DB2-BD59-A6C34878D82A}">
                    <a16:rowId xmlns:a16="http://schemas.microsoft.com/office/drawing/2014/main" val="902881734"/>
                  </a:ext>
                </a:extLst>
              </a:tr>
              <a:tr h="0">
                <a:tc>
                  <a:txBody>
                    <a:bodyPr/>
                    <a:lstStyle/>
                    <a:p>
                      <a:pPr rtl="0"/>
                      <a:r>
                        <a:rPr lang="en-US">
                          <a:solidFill>
                            <a:srgbClr val="1F1F1F"/>
                          </a:solidFill>
                          <a:effectLst/>
                        </a:rPr>
                        <a:t>Maximum</a:t>
                      </a:r>
                      <a:endParaRPr lang="en-US">
                        <a:solidFill>
                          <a:srgbClr val="1F1F1F"/>
                        </a:solidFill>
                        <a:effectLst/>
                        <a:latin typeface="Google Sans Text"/>
                      </a:endParaRPr>
                    </a:p>
                  </a:txBody>
                  <a:tcPr marT="60960" marB="60960" anchor="ctr"/>
                </a:tc>
                <a:tc>
                  <a:txBody>
                    <a:bodyPr/>
                    <a:lstStyle/>
                    <a:p>
                      <a:pPr rtl="0"/>
                      <a:r>
                        <a:rPr lang="en-US" dirty="0">
                          <a:solidFill>
                            <a:srgbClr val="1F1F1F"/>
                          </a:solidFill>
                          <a:effectLst/>
                        </a:rPr>
                        <a:t>8.5000 MW</a:t>
                      </a:r>
                      <a:endParaRPr lang="en-US" dirty="0">
                        <a:solidFill>
                          <a:srgbClr val="1F1F1F"/>
                        </a:solidFill>
                        <a:effectLst/>
                        <a:latin typeface="Google Sans Text"/>
                      </a:endParaRPr>
                    </a:p>
                  </a:txBody>
                  <a:tcPr marT="60960" marB="60960" anchor="ctr"/>
                </a:tc>
                <a:extLst>
                  <a:ext uri="{0D108BD9-81ED-4DB2-BD59-A6C34878D82A}">
                    <a16:rowId xmlns:a16="http://schemas.microsoft.com/office/drawing/2014/main" val="272974401"/>
                  </a:ext>
                </a:extLst>
              </a:tr>
            </a:tbl>
          </a:graphicData>
        </a:graphic>
      </p:graphicFrame>
    </p:spTree>
    <p:extLst>
      <p:ext uri="{BB962C8B-B14F-4D97-AF65-F5344CB8AC3E}">
        <p14:creationId xmlns:p14="http://schemas.microsoft.com/office/powerpoint/2010/main" val="21850605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329;p36">
            <a:extLst>
              <a:ext uri="{FF2B5EF4-FFF2-40B4-BE49-F238E27FC236}">
                <a16:creationId xmlns:a16="http://schemas.microsoft.com/office/drawing/2014/main" id="{281DE8FA-0346-ADC1-8F40-D51890ED065A}"/>
              </a:ext>
            </a:extLst>
          </p:cNvPr>
          <p:cNvSpPr txBox="1">
            <a:spLocks noGrp="1"/>
          </p:cNvSpPr>
          <p:nvPr>
            <p:ph type="title"/>
          </p:nvPr>
        </p:nvSpPr>
        <p:spPr>
          <a:xfrm>
            <a:off x="1193195" y="390020"/>
            <a:ext cx="5067600" cy="55897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sz="2400" dirty="0"/>
              <a:t>Exploratory Data Analysis</a:t>
            </a:r>
            <a:endParaRPr sz="2400" dirty="0"/>
          </a:p>
        </p:txBody>
      </p:sp>
      <p:sp>
        <p:nvSpPr>
          <p:cNvPr id="5" name="Google Shape;331;p36">
            <a:extLst>
              <a:ext uri="{FF2B5EF4-FFF2-40B4-BE49-F238E27FC236}">
                <a16:creationId xmlns:a16="http://schemas.microsoft.com/office/drawing/2014/main" id="{306F827B-BD7A-F92B-F5B3-D222CF02F4F6}"/>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5.2</a:t>
            </a:r>
            <a:endParaRPr lang="en" dirty="0"/>
          </a:p>
        </p:txBody>
      </p:sp>
      <p:pic>
        <p:nvPicPr>
          <p:cNvPr id="6" name="Picture 5">
            <a:extLst>
              <a:ext uri="{FF2B5EF4-FFF2-40B4-BE49-F238E27FC236}">
                <a16:creationId xmlns:a16="http://schemas.microsoft.com/office/drawing/2014/main" id="{6ED6BF01-04D4-2C4D-C4BA-0A33642FC0FA}"/>
              </a:ext>
            </a:extLst>
          </p:cNvPr>
          <p:cNvPicPr>
            <a:picLocks noChangeAspect="1"/>
          </p:cNvPicPr>
          <p:nvPr/>
        </p:nvPicPr>
        <p:blipFill>
          <a:blip r:embed="rId2"/>
          <a:stretch>
            <a:fillRect/>
          </a:stretch>
        </p:blipFill>
        <p:spPr>
          <a:xfrm>
            <a:off x="367380" y="1016857"/>
            <a:ext cx="4091366" cy="3736623"/>
          </a:xfrm>
          <a:prstGeom prst="rect">
            <a:avLst/>
          </a:prstGeom>
        </p:spPr>
      </p:pic>
      <p:sp>
        <p:nvSpPr>
          <p:cNvPr id="9" name="Google Shape;330;p36">
            <a:extLst>
              <a:ext uri="{FF2B5EF4-FFF2-40B4-BE49-F238E27FC236}">
                <a16:creationId xmlns:a16="http://schemas.microsoft.com/office/drawing/2014/main" id="{FECCA8D5-9DA8-F732-BC73-F2CF1512F284}"/>
              </a:ext>
            </a:extLst>
          </p:cNvPr>
          <p:cNvSpPr txBox="1">
            <a:spLocks/>
          </p:cNvSpPr>
          <p:nvPr/>
        </p:nvSpPr>
        <p:spPr>
          <a:xfrm>
            <a:off x="367380" y="4685613"/>
            <a:ext cx="3809972"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a:t>
            </a:r>
            <a:r>
              <a:rPr lang="en-US" sz="1100" i="1"/>
              <a:t>4.4 Correlation </a:t>
            </a:r>
            <a:r>
              <a:rPr lang="en-US" sz="1100" i="1" dirty="0"/>
              <a:t>Matrix</a:t>
            </a:r>
          </a:p>
        </p:txBody>
      </p:sp>
      <p:sp>
        <p:nvSpPr>
          <p:cNvPr id="2" name="Google Shape;330;p36">
            <a:extLst>
              <a:ext uri="{FF2B5EF4-FFF2-40B4-BE49-F238E27FC236}">
                <a16:creationId xmlns:a16="http://schemas.microsoft.com/office/drawing/2014/main" id="{0910999F-B6F2-F1DE-6753-98D60AF5B2BC}"/>
              </a:ext>
            </a:extLst>
          </p:cNvPr>
          <p:cNvSpPr txBox="1">
            <a:spLocks/>
          </p:cNvSpPr>
          <p:nvPr/>
        </p:nvSpPr>
        <p:spPr>
          <a:xfrm>
            <a:off x="7624667" y="76994"/>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11 - </a:t>
            </a:r>
            <a:fld id="{1612EBDF-BBCF-4455-9CA4-C9C775D5C22A}" type="datetime1">
              <a:rPr lang="en-US" sz="1000" smtClean="0"/>
              <a:t>1/16/2026</a:t>
            </a:fld>
            <a:endParaRPr lang="en-US" sz="1000" dirty="0"/>
          </a:p>
        </p:txBody>
      </p:sp>
      <p:sp>
        <p:nvSpPr>
          <p:cNvPr id="3" name="Subtitle 2">
            <a:extLst>
              <a:ext uri="{FF2B5EF4-FFF2-40B4-BE49-F238E27FC236}">
                <a16:creationId xmlns:a16="http://schemas.microsoft.com/office/drawing/2014/main" id="{35A01328-8889-7FD3-ABB5-3F0610D76737}"/>
              </a:ext>
            </a:extLst>
          </p:cNvPr>
          <p:cNvSpPr>
            <a:spLocks noGrp="1"/>
          </p:cNvSpPr>
          <p:nvPr>
            <p:ph type="subTitle" idx="1"/>
          </p:nvPr>
        </p:nvSpPr>
        <p:spPr>
          <a:xfrm>
            <a:off x="4887488" y="1630688"/>
            <a:ext cx="3772800" cy="2736300"/>
          </a:xfrm>
        </p:spPr>
        <p:txBody>
          <a:bodyPr/>
          <a:lstStyle/>
          <a:p>
            <a:pPr marL="0" indent="0" algn="ctr">
              <a:buNone/>
            </a:pPr>
            <a:r>
              <a:rPr lang="en-US" sz="1400" dirty="0"/>
              <a:t> This correlation matrix shows how different all the columns in the data are related to reach other.</a:t>
            </a:r>
            <a:endParaRPr lang="en-US" sz="1800" dirty="0"/>
          </a:p>
        </p:txBody>
      </p:sp>
      <p:sp>
        <p:nvSpPr>
          <p:cNvPr id="7" name="Google Shape;330;p36">
            <a:extLst>
              <a:ext uri="{FF2B5EF4-FFF2-40B4-BE49-F238E27FC236}">
                <a16:creationId xmlns:a16="http://schemas.microsoft.com/office/drawing/2014/main" id="{326B45B9-027A-29FD-2DE7-18300A8E8469}"/>
              </a:ext>
            </a:extLst>
          </p:cNvPr>
          <p:cNvSpPr txBox="1">
            <a:spLocks/>
          </p:cNvSpPr>
          <p:nvPr/>
        </p:nvSpPr>
        <p:spPr>
          <a:xfrm>
            <a:off x="7794425" y="4720503"/>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15 - </a:t>
            </a:r>
            <a:fld id="{1612EBDF-BBCF-4455-9CA4-C9C775D5C22A}" type="datetime1">
              <a:rPr lang="en-US" sz="1000" smtClean="0"/>
              <a:t>1/16/2026</a:t>
            </a:fld>
            <a:endParaRPr lang="en-US" sz="1000" dirty="0"/>
          </a:p>
        </p:txBody>
      </p:sp>
    </p:spTree>
    <p:extLst>
      <p:ext uri="{BB962C8B-B14F-4D97-AF65-F5344CB8AC3E}">
        <p14:creationId xmlns:p14="http://schemas.microsoft.com/office/powerpoint/2010/main" val="4772733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A63FCD0-6BCE-8A3E-7E88-F80D7F452C51}"/>
              </a:ext>
            </a:extLst>
          </p:cNvPr>
          <p:cNvSpPr>
            <a:spLocks noGrp="1"/>
          </p:cNvSpPr>
          <p:nvPr>
            <p:ph type="subTitle" idx="1"/>
          </p:nvPr>
        </p:nvSpPr>
        <p:spPr/>
        <p:txBody>
          <a:bodyPr/>
          <a:lstStyle/>
          <a:p>
            <a:r>
              <a:rPr lang="en-US" sz="1800" dirty="0"/>
              <a:t>LSTM (Long Short-Term Memory)</a:t>
            </a:r>
          </a:p>
          <a:p>
            <a:r>
              <a:rPr lang="en-US" sz="1800" dirty="0"/>
              <a:t>GRU (Gated Recurrent Unit)</a:t>
            </a:r>
          </a:p>
        </p:txBody>
      </p:sp>
      <p:sp>
        <p:nvSpPr>
          <p:cNvPr id="4" name="Subtitle 3">
            <a:extLst>
              <a:ext uri="{FF2B5EF4-FFF2-40B4-BE49-F238E27FC236}">
                <a16:creationId xmlns:a16="http://schemas.microsoft.com/office/drawing/2014/main" id="{75DC2068-95DB-BF48-34EE-B81824B9F0CF}"/>
              </a:ext>
            </a:extLst>
          </p:cNvPr>
          <p:cNvSpPr>
            <a:spLocks noGrp="1"/>
          </p:cNvSpPr>
          <p:nvPr>
            <p:ph type="subTitle" idx="2"/>
          </p:nvPr>
        </p:nvSpPr>
        <p:spPr/>
        <p:txBody>
          <a:bodyPr/>
          <a:lstStyle/>
          <a:p>
            <a:r>
              <a:rPr lang="en-US" sz="1800" dirty="0" err="1"/>
              <a:t>XGboost</a:t>
            </a:r>
            <a:endParaRPr lang="en-US" sz="1800" dirty="0"/>
          </a:p>
          <a:p>
            <a:r>
              <a:rPr lang="en-US" sz="1800" dirty="0"/>
              <a:t>Random Forest</a:t>
            </a:r>
          </a:p>
          <a:p>
            <a:r>
              <a:rPr lang="en-US" sz="1800" dirty="0"/>
              <a:t>Gradient Boosting</a:t>
            </a:r>
          </a:p>
          <a:p>
            <a:r>
              <a:rPr lang="en-US" sz="1800" dirty="0"/>
              <a:t>SVR (Support Vector Regression)</a:t>
            </a:r>
          </a:p>
          <a:p>
            <a:r>
              <a:rPr lang="en-US" sz="1800" dirty="0"/>
              <a:t>Ridge Regression</a:t>
            </a:r>
          </a:p>
          <a:p>
            <a:r>
              <a:rPr lang="en-US" sz="1800" dirty="0"/>
              <a:t>Linear Regression</a:t>
            </a:r>
          </a:p>
          <a:p>
            <a:endParaRPr lang="en-US" sz="1800" dirty="0"/>
          </a:p>
        </p:txBody>
      </p:sp>
      <p:sp>
        <p:nvSpPr>
          <p:cNvPr id="5" name="Subtitle 4">
            <a:extLst>
              <a:ext uri="{FF2B5EF4-FFF2-40B4-BE49-F238E27FC236}">
                <a16:creationId xmlns:a16="http://schemas.microsoft.com/office/drawing/2014/main" id="{5FA7A0E5-6EF5-7DF5-5D11-32173931A7BB}"/>
              </a:ext>
            </a:extLst>
          </p:cNvPr>
          <p:cNvSpPr>
            <a:spLocks noGrp="1"/>
          </p:cNvSpPr>
          <p:nvPr>
            <p:ph type="subTitle" idx="3"/>
          </p:nvPr>
        </p:nvSpPr>
        <p:spPr/>
        <p:txBody>
          <a:bodyPr/>
          <a:lstStyle/>
          <a:p>
            <a:r>
              <a:rPr lang="en-US" dirty="0"/>
              <a:t>Machine Learning Models</a:t>
            </a:r>
          </a:p>
        </p:txBody>
      </p:sp>
      <p:sp>
        <p:nvSpPr>
          <p:cNvPr id="6" name="Subtitle 5">
            <a:extLst>
              <a:ext uri="{FF2B5EF4-FFF2-40B4-BE49-F238E27FC236}">
                <a16:creationId xmlns:a16="http://schemas.microsoft.com/office/drawing/2014/main" id="{B3F0AB4E-71D1-6F19-EFA3-1516DDAB5918}"/>
              </a:ext>
            </a:extLst>
          </p:cNvPr>
          <p:cNvSpPr>
            <a:spLocks noGrp="1"/>
          </p:cNvSpPr>
          <p:nvPr>
            <p:ph type="subTitle" idx="4"/>
          </p:nvPr>
        </p:nvSpPr>
        <p:spPr/>
        <p:txBody>
          <a:bodyPr/>
          <a:lstStyle/>
          <a:p>
            <a:r>
              <a:rPr lang="en-US" dirty="0"/>
              <a:t>Deep Learning Model</a:t>
            </a:r>
          </a:p>
        </p:txBody>
      </p:sp>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39002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Model Development &amp; Training </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300" dirty="0">
                <a:solidFill>
                  <a:schemeClr val="lt1"/>
                </a:solidFill>
                <a:latin typeface="Figtree Black"/>
                <a:sym typeface="Figtree Black"/>
              </a:rPr>
              <a:t>5.3</a:t>
            </a:r>
            <a:endParaRPr lang="en" dirty="0"/>
          </a:p>
        </p:txBody>
      </p:sp>
      <p:sp>
        <p:nvSpPr>
          <p:cNvPr id="2" name="Google Shape;330;p36">
            <a:extLst>
              <a:ext uri="{FF2B5EF4-FFF2-40B4-BE49-F238E27FC236}">
                <a16:creationId xmlns:a16="http://schemas.microsoft.com/office/drawing/2014/main" id="{3BEF8273-8335-F950-3CBE-3B2963C787B3}"/>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16 - </a:t>
            </a:r>
            <a:fld id="{1612EBDF-BBCF-4455-9CA4-C9C775D5C22A}" type="datetime1">
              <a:rPr lang="en-US" sz="1000" smtClean="0"/>
              <a:t>1/16/2026</a:t>
            </a:fld>
            <a:endParaRPr lang="en-US" sz="1000" dirty="0"/>
          </a:p>
        </p:txBody>
      </p:sp>
    </p:spTree>
    <p:extLst>
      <p:ext uri="{BB962C8B-B14F-4D97-AF65-F5344CB8AC3E}">
        <p14:creationId xmlns:p14="http://schemas.microsoft.com/office/powerpoint/2010/main" val="95797091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85575" y="23354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766335"/>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Machine Learning Models</a:t>
            </a:r>
          </a:p>
        </p:txBody>
      </p:sp>
      <p:pic>
        <p:nvPicPr>
          <p:cNvPr id="18" name="Picture 17">
            <a:extLst>
              <a:ext uri="{FF2B5EF4-FFF2-40B4-BE49-F238E27FC236}">
                <a16:creationId xmlns:a16="http://schemas.microsoft.com/office/drawing/2014/main" id="{DBDCCCB6-A9EB-A18E-EE97-0983DCF98E59}"/>
              </a:ext>
            </a:extLst>
          </p:cNvPr>
          <p:cNvPicPr>
            <a:picLocks noChangeAspect="1"/>
          </p:cNvPicPr>
          <p:nvPr/>
        </p:nvPicPr>
        <p:blipFill>
          <a:blip r:embed="rId2"/>
          <a:srcRect r="33604" b="49743"/>
          <a:stretch/>
        </p:blipFill>
        <p:spPr>
          <a:xfrm>
            <a:off x="1764092" y="1887960"/>
            <a:ext cx="5615816" cy="2352285"/>
          </a:xfrm>
          <a:prstGeom prst="rect">
            <a:avLst/>
          </a:prstGeom>
        </p:spPr>
      </p:pic>
      <p:sp>
        <p:nvSpPr>
          <p:cNvPr id="20" name="Google Shape;330;p36">
            <a:extLst>
              <a:ext uri="{FF2B5EF4-FFF2-40B4-BE49-F238E27FC236}">
                <a16:creationId xmlns:a16="http://schemas.microsoft.com/office/drawing/2014/main" id="{BE4512C0-565F-DD97-9B36-8683C970CED3}"/>
              </a:ext>
            </a:extLst>
          </p:cNvPr>
          <p:cNvSpPr txBox="1">
            <a:spLocks/>
          </p:cNvSpPr>
          <p:nvPr/>
        </p:nvSpPr>
        <p:spPr>
          <a:xfrm>
            <a:off x="1519333" y="426078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4.5 Machine Learning Models Evaluation Results</a:t>
            </a:r>
          </a:p>
        </p:txBody>
      </p:sp>
      <p:sp>
        <p:nvSpPr>
          <p:cNvPr id="2" name="Google Shape;330;p36">
            <a:extLst>
              <a:ext uri="{FF2B5EF4-FFF2-40B4-BE49-F238E27FC236}">
                <a16:creationId xmlns:a16="http://schemas.microsoft.com/office/drawing/2014/main" id="{3605E2E3-F914-967A-7014-629E266B9244}"/>
              </a:ext>
            </a:extLst>
          </p:cNvPr>
          <p:cNvSpPr txBox="1">
            <a:spLocks/>
          </p:cNvSpPr>
          <p:nvPr/>
        </p:nvSpPr>
        <p:spPr>
          <a:xfrm>
            <a:off x="241332" y="4608700"/>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17 - </a:t>
            </a:r>
            <a:fld id="{1612EBDF-BBCF-4455-9CA4-C9C775D5C22A}" type="datetime1">
              <a:rPr lang="en-US" sz="1000" smtClean="0"/>
              <a:t>1/16/2026</a:t>
            </a:fld>
            <a:endParaRPr lang="en-US" sz="1000" dirty="0"/>
          </a:p>
        </p:txBody>
      </p:sp>
      <p:sp>
        <p:nvSpPr>
          <p:cNvPr id="3" name="Subtitle 2">
            <a:extLst>
              <a:ext uri="{FF2B5EF4-FFF2-40B4-BE49-F238E27FC236}">
                <a16:creationId xmlns:a16="http://schemas.microsoft.com/office/drawing/2014/main" id="{8E897200-CD84-E373-7D5A-6880E33BAC19}"/>
              </a:ext>
            </a:extLst>
          </p:cNvPr>
          <p:cNvSpPr>
            <a:spLocks noGrp="1"/>
          </p:cNvSpPr>
          <p:nvPr>
            <p:ph type="subTitle" idx="1"/>
          </p:nvPr>
        </p:nvSpPr>
        <p:spPr>
          <a:xfrm>
            <a:off x="1271238" y="1127835"/>
            <a:ext cx="6928625" cy="538403"/>
          </a:xfrm>
        </p:spPr>
        <p:txBody>
          <a:bodyPr/>
          <a:lstStyle/>
          <a:p>
            <a:pPr marL="0" indent="0" algn="ctr" rtl="0">
              <a:buNone/>
            </a:pPr>
            <a:r>
              <a:rPr lang="en-US" dirty="0"/>
              <a:t>Tuned </a:t>
            </a:r>
            <a:r>
              <a:rPr lang="en-US" dirty="0" err="1"/>
              <a:t>XGBoost</a:t>
            </a:r>
            <a:r>
              <a:rPr lang="en-US" dirty="0"/>
              <a:t> is the most accurate performer with the lowest error rates (MAE of 0.2570 and RMSE of 0.3840). </a:t>
            </a:r>
            <a:endParaRPr lang="en-US" sz="1800" dirty="0"/>
          </a:p>
        </p:txBody>
      </p:sp>
    </p:spTree>
    <p:extLst>
      <p:ext uri="{BB962C8B-B14F-4D97-AF65-F5344CB8AC3E}">
        <p14:creationId xmlns:p14="http://schemas.microsoft.com/office/powerpoint/2010/main" val="38652772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85575" y="23354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766335"/>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Machine Learning Models</a:t>
            </a:r>
          </a:p>
        </p:txBody>
      </p:sp>
      <p:sp>
        <p:nvSpPr>
          <p:cNvPr id="20" name="Google Shape;330;p36">
            <a:extLst>
              <a:ext uri="{FF2B5EF4-FFF2-40B4-BE49-F238E27FC236}">
                <a16:creationId xmlns:a16="http://schemas.microsoft.com/office/drawing/2014/main" id="{BE4512C0-565F-DD97-9B36-8683C970CED3}"/>
              </a:ext>
            </a:extLst>
          </p:cNvPr>
          <p:cNvSpPr txBox="1">
            <a:spLocks/>
          </p:cNvSpPr>
          <p:nvPr/>
        </p:nvSpPr>
        <p:spPr>
          <a:xfrm>
            <a:off x="1512400" y="363818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4.5 Machine Learning Models Evaluation Results</a:t>
            </a:r>
          </a:p>
        </p:txBody>
      </p:sp>
      <p:sp>
        <p:nvSpPr>
          <p:cNvPr id="2" name="Google Shape;330;p36">
            <a:extLst>
              <a:ext uri="{FF2B5EF4-FFF2-40B4-BE49-F238E27FC236}">
                <a16:creationId xmlns:a16="http://schemas.microsoft.com/office/drawing/2014/main" id="{3605E2E3-F914-967A-7014-629E266B9244}"/>
              </a:ext>
            </a:extLst>
          </p:cNvPr>
          <p:cNvSpPr txBox="1">
            <a:spLocks/>
          </p:cNvSpPr>
          <p:nvPr/>
        </p:nvSpPr>
        <p:spPr>
          <a:xfrm>
            <a:off x="241332" y="4608700"/>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18 - </a:t>
            </a:r>
            <a:fld id="{1612EBDF-BBCF-4455-9CA4-C9C775D5C22A}" type="datetime1">
              <a:rPr lang="en-US" sz="1000" smtClean="0"/>
              <a:t>1/16/2026</a:t>
            </a:fld>
            <a:endParaRPr lang="en-US" sz="1000" dirty="0"/>
          </a:p>
        </p:txBody>
      </p:sp>
      <p:pic>
        <p:nvPicPr>
          <p:cNvPr id="4" name="Picture 3">
            <a:extLst>
              <a:ext uri="{FF2B5EF4-FFF2-40B4-BE49-F238E27FC236}">
                <a16:creationId xmlns:a16="http://schemas.microsoft.com/office/drawing/2014/main" id="{E5B22DE0-0034-AA27-279A-AD80D3D53A78}"/>
              </a:ext>
            </a:extLst>
          </p:cNvPr>
          <p:cNvPicPr>
            <a:picLocks noChangeAspect="1"/>
          </p:cNvPicPr>
          <p:nvPr/>
        </p:nvPicPr>
        <p:blipFill>
          <a:blip r:embed="rId2"/>
          <a:srcRect l="31940" t="49743" r="33736"/>
          <a:stretch/>
        </p:blipFill>
        <p:spPr>
          <a:xfrm>
            <a:off x="4565067" y="1154634"/>
            <a:ext cx="3059600" cy="2479053"/>
          </a:xfrm>
          <a:prstGeom prst="rect">
            <a:avLst/>
          </a:prstGeom>
        </p:spPr>
      </p:pic>
      <p:pic>
        <p:nvPicPr>
          <p:cNvPr id="5" name="Picture 4">
            <a:extLst>
              <a:ext uri="{FF2B5EF4-FFF2-40B4-BE49-F238E27FC236}">
                <a16:creationId xmlns:a16="http://schemas.microsoft.com/office/drawing/2014/main" id="{69ECC5B2-D7DB-00C0-7DAA-1E83C2F434A5}"/>
              </a:ext>
            </a:extLst>
          </p:cNvPr>
          <p:cNvPicPr>
            <a:picLocks noChangeAspect="1"/>
          </p:cNvPicPr>
          <p:nvPr/>
        </p:nvPicPr>
        <p:blipFill>
          <a:blip r:embed="rId2"/>
          <a:srcRect l="66345" b="49743"/>
          <a:stretch/>
        </p:blipFill>
        <p:spPr>
          <a:xfrm>
            <a:off x="1451960" y="1218019"/>
            <a:ext cx="2846576" cy="2352285"/>
          </a:xfrm>
          <a:prstGeom prst="rect">
            <a:avLst/>
          </a:prstGeom>
        </p:spPr>
      </p:pic>
      <mc:AlternateContent xmlns:mc="http://schemas.openxmlformats.org/markup-compatibility/2006" xmlns:a14="http://schemas.microsoft.com/office/drawing/2010/main">
        <mc:Choice Requires="a14">
          <p:sp>
            <p:nvSpPr>
              <p:cNvPr id="3" name="Subtitle 2">
                <a:extLst>
                  <a:ext uri="{FF2B5EF4-FFF2-40B4-BE49-F238E27FC236}">
                    <a16:creationId xmlns:a16="http://schemas.microsoft.com/office/drawing/2014/main" id="{9E776A68-B139-F716-41A0-B8AF18C2545E}"/>
                  </a:ext>
                </a:extLst>
              </p:cNvPr>
              <p:cNvSpPr>
                <a:spLocks noGrp="1"/>
              </p:cNvSpPr>
              <p:nvPr>
                <p:ph type="subTitle" idx="1"/>
              </p:nvPr>
            </p:nvSpPr>
            <p:spPr>
              <a:xfrm>
                <a:off x="865227" y="4053980"/>
                <a:ext cx="7946610" cy="538403"/>
              </a:xfrm>
            </p:spPr>
            <p:txBody>
              <a:bodyPr/>
              <a:lstStyle/>
              <a:p>
                <a:pPr marL="0" indent="0" algn="ctr">
                  <a:buNone/>
                </a:pPr>
                <a:r>
                  <a:rPr lang="en-US" altLang="en-US" dirty="0"/>
                  <a:t>Tuned </a:t>
                </a:r>
                <a:r>
                  <a:rPr lang="en-US" altLang="en-US" dirty="0" err="1"/>
                  <a:t>XGBoost</a:t>
                </a:r>
                <a:r>
                  <a:rPr lang="en-US" altLang="en-US" dirty="0"/>
                  <a:t> is the clear winner, achieving the highest accuracy (</a:t>
                </a:r>
                <a14:m>
                  <m:oMath xmlns:m="http://schemas.openxmlformats.org/officeDocument/2006/math">
                    <m:sSup>
                      <m:sSupPr>
                        <m:ctrlPr>
                          <a:rPr lang="en-US" altLang="en-US" i="1" smtClean="0">
                            <a:latin typeface="Cambria Math" panose="02040503050406030204" pitchFamily="18" charset="0"/>
                          </a:rPr>
                        </m:ctrlPr>
                      </m:sSupPr>
                      <m:e>
                        <m:r>
                          <a:rPr lang="en-US" altLang="en-US" b="0" i="1" smtClean="0">
                            <a:latin typeface="Cambria Math" panose="02040503050406030204" pitchFamily="18" charset="0"/>
                          </a:rPr>
                          <m:t>𝑅</m:t>
                        </m:r>
                      </m:e>
                      <m:sup>
                        <m:r>
                          <a:rPr lang="en-US" altLang="en-US" b="0" i="1" smtClean="0">
                            <a:latin typeface="Cambria Math" panose="02040503050406030204" pitchFamily="18" charset="0"/>
                          </a:rPr>
                          <m:t>2</m:t>
                        </m:r>
                      </m:sup>
                    </m:sSup>
                  </m:oMath>
                </a14:m>
                <a:r>
                  <a:rPr lang="en-US" altLang="en-US" dirty="0"/>
                  <a:t> of 0.8312) and the lowest average error rate (12.69%).</a:t>
                </a:r>
              </a:p>
              <a:p>
                <a:pPr marL="0" indent="0" algn="ctr" rtl="0">
                  <a:buNone/>
                </a:pPr>
                <a:r>
                  <a:rPr lang="en-US" dirty="0"/>
                  <a:t> </a:t>
                </a:r>
                <a:endParaRPr lang="en-US" sz="1800" dirty="0"/>
              </a:p>
            </p:txBody>
          </p:sp>
        </mc:Choice>
        <mc:Fallback xmlns="">
          <p:sp>
            <p:nvSpPr>
              <p:cNvPr id="3" name="Subtitle 2">
                <a:extLst>
                  <a:ext uri="{FF2B5EF4-FFF2-40B4-BE49-F238E27FC236}">
                    <a16:creationId xmlns:a16="http://schemas.microsoft.com/office/drawing/2014/main" id="{9E776A68-B139-F716-41A0-B8AF18C2545E}"/>
                  </a:ext>
                </a:extLst>
              </p:cNvPr>
              <p:cNvSpPr>
                <a:spLocks noGrp="1" noRot="1" noChangeAspect="1" noMove="1" noResize="1" noEditPoints="1" noAdjustHandles="1" noChangeArrowheads="1" noChangeShapeType="1" noTextEdit="1"/>
              </p:cNvSpPr>
              <p:nvPr>
                <p:ph type="subTitle" idx="1"/>
              </p:nvPr>
            </p:nvSpPr>
            <p:spPr>
              <a:xfrm>
                <a:off x="865227" y="4053980"/>
                <a:ext cx="7946610" cy="538403"/>
              </a:xfrm>
              <a:blipFill>
                <a:blip r:embed="rId3"/>
                <a:stretch>
                  <a:fillRect b="-26136"/>
                </a:stretch>
              </a:blipFill>
            </p:spPr>
            <p:txBody>
              <a:bodyPr/>
              <a:lstStyle/>
              <a:p>
                <a:r>
                  <a:rPr lang="en-US">
                    <a:noFill/>
                  </a:rPr>
                  <a:t> </a:t>
                </a:r>
              </a:p>
            </p:txBody>
          </p:sp>
        </mc:Fallback>
      </mc:AlternateContent>
    </p:spTree>
    <p:extLst>
      <p:ext uri="{BB962C8B-B14F-4D97-AF65-F5344CB8AC3E}">
        <p14:creationId xmlns:p14="http://schemas.microsoft.com/office/powerpoint/2010/main" val="41608442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107524"/>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664589"/>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Machine Learning Models</a:t>
            </a:r>
          </a:p>
        </p:txBody>
      </p:sp>
      <p:sp>
        <p:nvSpPr>
          <p:cNvPr id="4" name="Google Shape;330;p36">
            <a:extLst>
              <a:ext uri="{FF2B5EF4-FFF2-40B4-BE49-F238E27FC236}">
                <a16:creationId xmlns:a16="http://schemas.microsoft.com/office/drawing/2014/main" id="{7388DC6E-F92C-B51C-6A87-B1B79DAC7183}"/>
              </a:ext>
            </a:extLst>
          </p:cNvPr>
          <p:cNvSpPr txBox="1">
            <a:spLocks/>
          </p:cNvSpPr>
          <p:nvPr/>
        </p:nvSpPr>
        <p:spPr>
          <a:xfrm>
            <a:off x="1785865" y="3795101"/>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4.6 Machine Learning Models Actual vs Predicted Load</a:t>
            </a:r>
          </a:p>
        </p:txBody>
      </p:sp>
      <p:sp>
        <p:nvSpPr>
          <p:cNvPr id="3" name="Google Shape;330;p36">
            <a:extLst>
              <a:ext uri="{FF2B5EF4-FFF2-40B4-BE49-F238E27FC236}">
                <a16:creationId xmlns:a16="http://schemas.microsoft.com/office/drawing/2014/main" id="{FDDEB11C-7361-7542-8C1F-779AF4CC53DA}"/>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19- </a:t>
            </a:r>
            <a:fld id="{1612EBDF-BBCF-4455-9CA4-C9C775D5C22A}" type="datetime1">
              <a:rPr lang="en-US" sz="1000" smtClean="0"/>
              <a:t>1/16/2026</a:t>
            </a:fld>
            <a:endParaRPr lang="en-US" sz="1000" dirty="0"/>
          </a:p>
        </p:txBody>
      </p:sp>
      <p:sp>
        <p:nvSpPr>
          <p:cNvPr id="5" name="Subtitle 2">
            <a:extLst>
              <a:ext uri="{FF2B5EF4-FFF2-40B4-BE49-F238E27FC236}">
                <a16:creationId xmlns:a16="http://schemas.microsoft.com/office/drawing/2014/main" id="{18EE51FC-5629-8274-79FA-B36D3EF8D4FC}"/>
              </a:ext>
            </a:extLst>
          </p:cNvPr>
          <p:cNvSpPr>
            <a:spLocks noGrp="1"/>
          </p:cNvSpPr>
          <p:nvPr>
            <p:ph type="subTitle" idx="1"/>
          </p:nvPr>
        </p:nvSpPr>
        <p:spPr>
          <a:xfrm>
            <a:off x="865227" y="4098584"/>
            <a:ext cx="7946610" cy="538403"/>
          </a:xfrm>
        </p:spPr>
        <p:txBody>
          <a:bodyPr/>
          <a:lstStyle/>
          <a:p>
            <a:pPr marL="0" indent="0" algn="ctr">
              <a:buNone/>
            </a:pPr>
            <a:r>
              <a:rPr lang="en-US" altLang="en-US" dirty="0"/>
              <a:t>The top-performing machine learning models </a:t>
            </a:r>
            <a:r>
              <a:rPr lang="en-US" altLang="en-US" dirty="0" err="1"/>
              <a:t>XGBoost</a:t>
            </a:r>
            <a:r>
              <a:rPr lang="en-US" altLang="en-US" dirty="0"/>
              <a:t>. </a:t>
            </a:r>
            <a:endParaRPr lang="en-US" sz="1800" dirty="0"/>
          </a:p>
        </p:txBody>
      </p:sp>
      <p:pic>
        <p:nvPicPr>
          <p:cNvPr id="9" name="Picture 8" descr="A graph with lines and numbers&#10;&#10;AI-generated content may be incorrect.">
            <a:extLst>
              <a:ext uri="{FF2B5EF4-FFF2-40B4-BE49-F238E27FC236}">
                <a16:creationId xmlns:a16="http://schemas.microsoft.com/office/drawing/2014/main" id="{5CB41BAF-7437-F02C-1996-39B1038FAF62}"/>
              </a:ext>
            </a:extLst>
          </p:cNvPr>
          <p:cNvPicPr>
            <a:picLocks noChangeAspect="1"/>
          </p:cNvPicPr>
          <p:nvPr/>
        </p:nvPicPr>
        <p:blipFill>
          <a:blip r:embed="rId2"/>
          <a:stretch>
            <a:fillRect/>
          </a:stretch>
        </p:blipFill>
        <p:spPr>
          <a:xfrm>
            <a:off x="1240288" y="1182322"/>
            <a:ext cx="6708184" cy="2490767"/>
          </a:xfrm>
          <a:prstGeom prst="rect">
            <a:avLst/>
          </a:prstGeom>
        </p:spPr>
      </p:pic>
    </p:spTree>
    <p:extLst>
      <p:ext uri="{BB962C8B-B14F-4D97-AF65-F5344CB8AC3E}">
        <p14:creationId xmlns:p14="http://schemas.microsoft.com/office/powerpoint/2010/main" val="1655813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28557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728826"/>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Deep Learning Models</a:t>
            </a:r>
          </a:p>
        </p:txBody>
      </p:sp>
      <p:sp>
        <p:nvSpPr>
          <p:cNvPr id="5" name="Google Shape;330;p36">
            <a:extLst>
              <a:ext uri="{FF2B5EF4-FFF2-40B4-BE49-F238E27FC236}">
                <a16:creationId xmlns:a16="http://schemas.microsoft.com/office/drawing/2014/main" id="{7BFEDC8F-A750-94FA-5C3E-5192CD56F298}"/>
              </a:ext>
            </a:extLst>
          </p:cNvPr>
          <p:cNvSpPr txBox="1">
            <a:spLocks/>
          </p:cNvSpPr>
          <p:nvPr/>
        </p:nvSpPr>
        <p:spPr>
          <a:xfrm>
            <a:off x="1785865" y="442176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4.7 Deep Learning Models Evaluation Results</a:t>
            </a:r>
          </a:p>
        </p:txBody>
      </p:sp>
      <p:sp>
        <p:nvSpPr>
          <p:cNvPr id="2" name="Google Shape;330;p36">
            <a:extLst>
              <a:ext uri="{FF2B5EF4-FFF2-40B4-BE49-F238E27FC236}">
                <a16:creationId xmlns:a16="http://schemas.microsoft.com/office/drawing/2014/main" id="{CDD48701-7E78-25D1-23BF-A21633650787}"/>
              </a:ext>
            </a:extLst>
          </p:cNvPr>
          <p:cNvSpPr txBox="1">
            <a:spLocks/>
          </p:cNvSpPr>
          <p:nvPr/>
        </p:nvSpPr>
        <p:spPr>
          <a:xfrm>
            <a:off x="241332" y="4617361"/>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20 - </a:t>
            </a:r>
            <a:fld id="{1612EBDF-BBCF-4455-9CA4-C9C775D5C22A}" type="datetime1">
              <a:rPr lang="en-US" sz="1000" smtClean="0"/>
              <a:t>1/16/2026</a:t>
            </a:fld>
            <a:endParaRPr lang="en-US" sz="1000" dirty="0"/>
          </a:p>
        </p:txBody>
      </p:sp>
      <p:pic>
        <p:nvPicPr>
          <p:cNvPr id="6" name="Picture 5" descr="A graph of a variety of blue and green squares&#10;&#10;AI-generated content may be incorrect.">
            <a:extLst>
              <a:ext uri="{FF2B5EF4-FFF2-40B4-BE49-F238E27FC236}">
                <a16:creationId xmlns:a16="http://schemas.microsoft.com/office/drawing/2014/main" id="{4D8B2E80-9684-6FCA-A93F-AFAAD9282145}"/>
              </a:ext>
            </a:extLst>
          </p:cNvPr>
          <p:cNvPicPr>
            <a:picLocks noChangeAspect="1"/>
          </p:cNvPicPr>
          <p:nvPr/>
        </p:nvPicPr>
        <p:blipFill>
          <a:blip r:embed="rId2"/>
          <a:stretch>
            <a:fillRect/>
          </a:stretch>
        </p:blipFill>
        <p:spPr>
          <a:xfrm>
            <a:off x="2025953" y="1167143"/>
            <a:ext cx="4954711" cy="3177803"/>
          </a:xfrm>
          <a:prstGeom prst="rect">
            <a:avLst/>
          </a:prstGeom>
        </p:spPr>
      </p:pic>
    </p:spTree>
    <p:extLst>
      <p:ext uri="{BB962C8B-B14F-4D97-AF65-F5344CB8AC3E}">
        <p14:creationId xmlns:p14="http://schemas.microsoft.com/office/powerpoint/2010/main" val="3011401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107640"/>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17" name="Subtitle 4">
            <a:extLst>
              <a:ext uri="{FF2B5EF4-FFF2-40B4-BE49-F238E27FC236}">
                <a16:creationId xmlns:a16="http://schemas.microsoft.com/office/drawing/2014/main" id="{5F787465-7631-8DA9-23CC-13A5225FDFD9}"/>
              </a:ext>
            </a:extLst>
          </p:cNvPr>
          <p:cNvSpPr txBox="1">
            <a:spLocks/>
          </p:cNvSpPr>
          <p:nvPr/>
        </p:nvSpPr>
        <p:spPr>
          <a:xfrm>
            <a:off x="1065732" y="664705"/>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Deep Learning Models</a:t>
            </a:r>
          </a:p>
        </p:txBody>
      </p:sp>
      <p:sp>
        <p:nvSpPr>
          <p:cNvPr id="5" name="Google Shape;330;p36">
            <a:extLst>
              <a:ext uri="{FF2B5EF4-FFF2-40B4-BE49-F238E27FC236}">
                <a16:creationId xmlns:a16="http://schemas.microsoft.com/office/drawing/2014/main" id="{C654E70F-D788-4EA3-2C9B-6F9BD9CE4E08}"/>
              </a:ext>
            </a:extLst>
          </p:cNvPr>
          <p:cNvSpPr txBox="1">
            <a:spLocks/>
          </p:cNvSpPr>
          <p:nvPr/>
        </p:nvSpPr>
        <p:spPr>
          <a:xfrm>
            <a:off x="1621881" y="3881124"/>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Fig 4.7 MLP Model Sample Forecast vs Actual</a:t>
            </a:r>
          </a:p>
        </p:txBody>
      </p:sp>
      <p:sp>
        <p:nvSpPr>
          <p:cNvPr id="2" name="Google Shape;330;p36">
            <a:extLst>
              <a:ext uri="{FF2B5EF4-FFF2-40B4-BE49-F238E27FC236}">
                <a16:creationId xmlns:a16="http://schemas.microsoft.com/office/drawing/2014/main" id="{8AFC546C-6D50-055F-02C9-AA21CDA9EACE}"/>
              </a:ext>
            </a:extLst>
          </p:cNvPr>
          <p:cNvSpPr txBox="1">
            <a:spLocks/>
          </p:cNvSpPr>
          <p:nvPr/>
        </p:nvSpPr>
        <p:spPr>
          <a:xfrm>
            <a:off x="122386" y="4722427"/>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21 - </a:t>
            </a:r>
            <a:fld id="{1612EBDF-BBCF-4455-9CA4-C9C775D5C22A}" type="datetime1">
              <a:rPr lang="en-US" sz="1000" smtClean="0"/>
              <a:t>1/16/2026</a:t>
            </a:fld>
            <a:endParaRPr lang="en-US" sz="1000" dirty="0"/>
          </a:p>
        </p:txBody>
      </p:sp>
      <p:sp>
        <p:nvSpPr>
          <p:cNvPr id="10" name="TextBox 9">
            <a:extLst>
              <a:ext uri="{FF2B5EF4-FFF2-40B4-BE49-F238E27FC236}">
                <a16:creationId xmlns:a16="http://schemas.microsoft.com/office/drawing/2014/main" id="{C07218E9-61A6-AF04-41EF-6E3A0C3ACBD2}"/>
              </a:ext>
            </a:extLst>
          </p:cNvPr>
          <p:cNvSpPr txBox="1"/>
          <p:nvPr/>
        </p:nvSpPr>
        <p:spPr>
          <a:xfrm>
            <a:off x="783205" y="4222688"/>
            <a:ext cx="8110654" cy="307777"/>
          </a:xfrm>
          <a:prstGeom prst="rect">
            <a:avLst/>
          </a:prstGeom>
          <a:noFill/>
        </p:spPr>
        <p:txBody>
          <a:bodyPr wrap="square">
            <a:spAutoFit/>
          </a:bodyPr>
          <a:lstStyle/>
          <a:p>
            <a:pPr algn="ctr"/>
            <a:r>
              <a:rPr lang="en-US" sz="1400" dirty="0"/>
              <a:t>This graph compares real-world electricity usage (</a:t>
            </a:r>
            <a:r>
              <a:rPr lang="en-US" sz="1400" b="1" dirty="0"/>
              <a:t>Actual</a:t>
            </a:r>
            <a:r>
              <a:rPr lang="en-US" sz="1400" dirty="0"/>
              <a:t>) against an </a:t>
            </a:r>
            <a:r>
              <a:rPr lang="en-US" sz="1400" b="1" dirty="0"/>
              <a:t>GRU</a:t>
            </a:r>
            <a:r>
              <a:rPr lang="en-US" sz="1400" dirty="0"/>
              <a:t> model's predictions</a:t>
            </a:r>
          </a:p>
        </p:txBody>
      </p:sp>
      <p:pic>
        <p:nvPicPr>
          <p:cNvPr id="6" name="Picture 5" descr="A graph showing a graph&#10;&#10;AI-generated content may be incorrect.">
            <a:extLst>
              <a:ext uri="{FF2B5EF4-FFF2-40B4-BE49-F238E27FC236}">
                <a16:creationId xmlns:a16="http://schemas.microsoft.com/office/drawing/2014/main" id="{C82FB1ED-D974-5E50-FF62-BE07B51291B1}"/>
              </a:ext>
            </a:extLst>
          </p:cNvPr>
          <p:cNvPicPr>
            <a:picLocks noChangeAspect="1"/>
          </p:cNvPicPr>
          <p:nvPr/>
        </p:nvPicPr>
        <p:blipFill>
          <a:blip r:embed="rId2"/>
          <a:stretch>
            <a:fillRect/>
          </a:stretch>
        </p:blipFill>
        <p:spPr>
          <a:xfrm>
            <a:off x="936703" y="1139047"/>
            <a:ext cx="7957156" cy="2586477"/>
          </a:xfrm>
          <a:prstGeom prst="rect">
            <a:avLst/>
          </a:prstGeom>
        </p:spPr>
      </p:pic>
    </p:spTree>
    <p:extLst>
      <p:ext uri="{BB962C8B-B14F-4D97-AF65-F5344CB8AC3E}">
        <p14:creationId xmlns:p14="http://schemas.microsoft.com/office/powerpoint/2010/main" val="3626869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329;p36">
            <a:extLst>
              <a:ext uri="{FF2B5EF4-FFF2-40B4-BE49-F238E27FC236}">
                <a16:creationId xmlns:a16="http://schemas.microsoft.com/office/drawing/2014/main" id="{BFE1BF81-4654-B512-0EDA-17498BF909C3}"/>
              </a:ext>
            </a:extLst>
          </p:cNvPr>
          <p:cNvSpPr txBox="1">
            <a:spLocks/>
          </p:cNvSpPr>
          <p:nvPr/>
        </p:nvSpPr>
        <p:spPr>
          <a:xfrm>
            <a:off x="1193195" y="144694"/>
            <a:ext cx="5067600" cy="55897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Figtree Black"/>
              <a:buNone/>
              <a:defRPr sz="2800" b="0" i="0" u="none" strike="noStrike" cap="none">
                <a:solidFill>
                  <a:schemeClr val="dk1"/>
                </a:solidFill>
                <a:latin typeface="Figtree Black"/>
                <a:ea typeface="Figtree Black"/>
                <a:cs typeface="Figtree Black"/>
                <a:sym typeface="Figtree Black"/>
              </a:defRPr>
            </a:lvl1pPr>
            <a:lvl2pPr marR="0" lvl="1"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2pPr>
            <a:lvl3pPr marR="0" lvl="2"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3pPr>
            <a:lvl4pPr marR="0" lvl="3"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4pPr>
            <a:lvl5pPr marR="0" lvl="4"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5pPr>
            <a:lvl6pPr marR="0" lvl="5"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6pPr>
            <a:lvl7pPr marR="0" lvl="6"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7pPr>
            <a:lvl8pPr marR="0" lvl="7"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8pPr>
            <a:lvl9pPr marR="0" lvl="8" algn="l" rtl="0">
              <a:lnSpc>
                <a:spcPct val="100000"/>
              </a:lnSpc>
              <a:spcBef>
                <a:spcPts val="0"/>
              </a:spcBef>
              <a:spcAft>
                <a:spcPts val="0"/>
              </a:spcAft>
              <a:buClr>
                <a:schemeClr val="dk1"/>
              </a:buClr>
              <a:buSzPts val="3000"/>
              <a:buFont typeface="Figtree Black"/>
              <a:buNone/>
              <a:defRPr sz="3000" b="0" i="0" u="none" strike="noStrike" cap="none">
                <a:solidFill>
                  <a:schemeClr val="dk1"/>
                </a:solidFill>
                <a:latin typeface="Figtree Black"/>
                <a:ea typeface="Figtree Black"/>
                <a:cs typeface="Figtree Black"/>
                <a:sym typeface="Figtree Black"/>
              </a:defRPr>
            </a:lvl9pPr>
          </a:lstStyle>
          <a:p>
            <a:r>
              <a:rPr lang="en-US" sz="2400" dirty="0"/>
              <a:t>Performance Evaluation</a:t>
            </a:r>
          </a:p>
        </p:txBody>
      </p:sp>
      <p:sp>
        <p:nvSpPr>
          <p:cNvPr id="8" name="Google Shape;331;p36">
            <a:extLst>
              <a:ext uri="{FF2B5EF4-FFF2-40B4-BE49-F238E27FC236}">
                <a16:creationId xmlns:a16="http://schemas.microsoft.com/office/drawing/2014/main" id="{82295662-F4E9-868D-B117-C87B48D2A093}"/>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5.4</a:t>
            </a:r>
            <a:endParaRPr lang="en" sz="3000" dirty="0"/>
          </a:p>
        </p:txBody>
      </p:sp>
      <p:sp>
        <p:nvSpPr>
          <p:cNvPr id="4" name="Subtitle 4">
            <a:extLst>
              <a:ext uri="{FF2B5EF4-FFF2-40B4-BE49-F238E27FC236}">
                <a16:creationId xmlns:a16="http://schemas.microsoft.com/office/drawing/2014/main" id="{62ED4FAB-D91A-A86D-298F-FCB6F8F0EE5E}"/>
              </a:ext>
            </a:extLst>
          </p:cNvPr>
          <p:cNvSpPr txBox="1">
            <a:spLocks/>
          </p:cNvSpPr>
          <p:nvPr/>
        </p:nvSpPr>
        <p:spPr>
          <a:xfrm>
            <a:off x="1065732" y="762719"/>
            <a:ext cx="3772800" cy="3615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2400"/>
              <a:buFont typeface="Figtree Black"/>
              <a:buNone/>
              <a:defRPr sz="1900" b="0" i="0" u="none" strike="noStrike" cap="none">
                <a:solidFill>
                  <a:schemeClr val="dk1"/>
                </a:solidFill>
                <a:latin typeface="Figtree Black"/>
                <a:ea typeface="Figtree Black"/>
                <a:cs typeface="Figtree Black"/>
                <a:sym typeface="Figtree Black"/>
              </a:defRPr>
            </a:lvl1pPr>
            <a:lvl2pPr marL="914400" marR="0" lvl="1"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2pPr>
            <a:lvl3pPr marL="1371600" marR="0" lvl="2"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3pPr>
            <a:lvl4pPr marL="1828800" marR="0" lvl="3"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4pPr>
            <a:lvl5pPr marL="2286000" marR="0" lvl="4"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5pPr>
            <a:lvl6pPr marL="2743200" marR="0" lvl="5"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6pPr>
            <a:lvl7pPr marL="3200400" marR="0" lvl="6"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7pPr>
            <a:lvl8pPr marL="3657600" marR="0" lvl="7"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8pPr>
            <a:lvl9pPr marL="4114800" marR="0" lvl="8" indent="-317500" algn="l" rtl="0">
              <a:lnSpc>
                <a:spcPct val="115000"/>
              </a:lnSpc>
              <a:spcBef>
                <a:spcPts val="0"/>
              </a:spcBef>
              <a:spcAft>
                <a:spcPts val="0"/>
              </a:spcAft>
              <a:buClr>
                <a:schemeClr val="dk1"/>
              </a:buClr>
              <a:buSzPts val="1400"/>
              <a:buFont typeface="Figtree Black"/>
              <a:buNone/>
              <a:defRPr sz="1400" b="0" i="0" u="none" strike="noStrike" cap="none">
                <a:solidFill>
                  <a:schemeClr val="dk1"/>
                </a:solidFill>
                <a:latin typeface="Figtree Black"/>
                <a:ea typeface="Figtree Black"/>
                <a:cs typeface="Figtree Black"/>
                <a:sym typeface="Figtree Black"/>
              </a:defRPr>
            </a:lvl9pPr>
          </a:lstStyle>
          <a:p>
            <a:r>
              <a:rPr lang="en-US" sz="1600" dirty="0"/>
              <a:t>Over All Model Ranking</a:t>
            </a:r>
          </a:p>
        </p:txBody>
      </p:sp>
      <p:sp>
        <p:nvSpPr>
          <p:cNvPr id="5" name="Google Shape;330;p36">
            <a:extLst>
              <a:ext uri="{FF2B5EF4-FFF2-40B4-BE49-F238E27FC236}">
                <a16:creationId xmlns:a16="http://schemas.microsoft.com/office/drawing/2014/main" id="{E28ECA2D-F1C1-1A59-2132-B374977CECA1}"/>
              </a:ext>
            </a:extLst>
          </p:cNvPr>
          <p:cNvSpPr txBox="1">
            <a:spLocks/>
          </p:cNvSpPr>
          <p:nvPr/>
        </p:nvSpPr>
        <p:spPr>
          <a:xfrm>
            <a:off x="1938265" y="4544631"/>
            <a:ext cx="6105334" cy="34791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lgn="ctr"/>
            <a:r>
              <a:rPr lang="en-US" sz="1100" i="1" dirty="0"/>
              <a:t>Table 4.2 ML and DL over all Models Ranking</a:t>
            </a:r>
          </a:p>
        </p:txBody>
      </p:sp>
      <p:sp>
        <p:nvSpPr>
          <p:cNvPr id="3" name="Google Shape;330;p36">
            <a:extLst>
              <a:ext uri="{FF2B5EF4-FFF2-40B4-BE49-F238E27FC236}">
                <a16:creationId xmlns:a16="http://schemas.microsoft.com/office/drawing/2014/main" id="{195597F6-A4D9-2F0C-2388-F0B96EB33566}"/>
              </a:ext>
            </a:extLst>
          </p:cNvPr>
          <p:cNvSpPr txBox="1">
            <a:spLocks/>
          </p:cNvSpPr>
          <p:nvPr/>
        </p:nvSpPr>
        <p:spPr>
          <a:xfrm>
            <a:off x="241332" y="4614412"/>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22 - </a:t>
            </a:r>
            <a:fld id="{1612EBDF-BBCF-4455-9CA4-C9C775D5C22A}" type="datetime1">
              <a:rPr lang="en-US" sz="1000" smtClean="0"/>
              <a:t>1/16/2026</a:t>
            </a:fld>
            <a:endParaRPr lang="en-US" sz="1000" dirty="0"/>
          </a:p>
        </p:txBody>
      </p:sp>
      <p:graphicFrame>
        <p:nvGraphicFramePr>
          <p:cNvPr id="9" name="Table 8">
            <a:extLst>
              <a:ext uri="{FF2B5EF4-FFF2-40B4-BE49-F238E27FC236}">
                <a16:creationId xmlns:a16="http://schemas.microsoft.com/office/drawing/2014/main" id="{AB4000A1-BCA4-91BA-D37F-6F5CEFF02934}"/>
              </a:ext>
            </a:extLst>
          </p:cNvPr>
          <p:cNvGraphicFramePr>
            <a:graphicFrameLocks noGrp="1"/>
          </p:cNvGraphicFramePr>
          <p:nvPr>
            <p:extLst>
              <p:ext uri="{D42A27DB-BD31-4B8C-83A1-F6EECF244321}">
                <p14:modId xmlns:p14="http://schemas.microsoft.com/office/powerpoint/2010/main" val="4109389460"/>
              </p:ext>
            </p:extLst>
          </p:nvPr>
        </p:nvGraphicFramePr>
        <p:xfrm>
          <a:off x="1289710" y="1239455"/>
          <a:ext cx="7447890" cy="3131536"/>
        </p:xfrm>
        <a:graphic>
          <a:graphicData uri="http://schemas.openxmlformats.org/drawingml/2006/table">
            <a:tbl>
              <a:tblPr>
                <a:tableStyleId>{E67C124C-4383-4433-BF00-F876295D7A82}</a:tableStyleId>
              </a:tblPr>
              <a:tblGrid>
                <a:gridCol w="755677">
                  <a:extLst>
                    <a:ext uri="{9D8B030D-6E8A-4147-A177-3AD203B41FA5}">
                      <a16:colId xmlns:a16="http://schemas.microsoft.com/office/drawing/2014/main" val="2735818190"/>
                    </a:ext>
                  </a:extLst>
                </a:gridCol>
                <a:gridCol w="1984294">
                  <a:extLst>
                    <a:ext uri="{9D8B030D-6E8A-4147-A177-3AD203B41FA5}">
                      <a16:colId xmlns:a16="http://schemas.microsoft.com/office/drawing/2014/main" val="2764305314"/>
                    </a:ext>
                  </a:extLst>
                </a:gridCol>
                <a:gridCol w="756957">
                  <a:extLst>
                    <a:ext uri="{9D8B030D-6E8A-4147-A177-3AD203B41FA5}">
                      <a16:colId xmlns:a16="http://schemas.microsoft.com/office/drawing/2014/main" val="3384468587"/>
                    </a:ext>
                  </a:extLst>
                </a:gridCol>
                <a:gridCol w="671666">
                  <a:extLst>
                    <a:ext uri="{9D8B030D-6E8A-4147-A177-3AD203B41FA5}">
                      <a16:colId xmlns:a16="http://schemas.microsoft.com/office/drawing/2014/main" val="294109404"/>
                    </a:ext>
                  </a:extLst>
                </a:gridCol>
                <a:gridCol w="1110620">
                  <a:extLst>
                    <a:ext uri="{9D8B030D-6E8A-4147-A177-3AD203B41FA5}">
                      <a16:colId xmlns:a16="http://schemas.microsoft.com/office/drawing/2014/main" val="398528308"/>
                    </a:ext>
                  </a:extLst>
                </a:gridCol>
                <a:gridCol w="1084338">
                  <a:extLst>
                    <a:ext uri="{9D8B030D-6E8A-4147-A177-3AD203B41FA5}">
                      <a16:colId xmlns:a16="http://schemas.microsoft.com/office/drawing/2014/main" val="969867101"/>
                    </a:ext>
                  </a:extLst>
                </a:gridCol>
                <a:gridCol w="1084338">
                  <a:extLst>
                    <a:ext uri="{9D8B030D-6E8A-4147-A177-3AD203B41FA5}">
                      <a16:colId xmlns:a16="http://schemas.microsoft.com/office/drawing/2014/main" val="4279879350"/>
                    </a:ext>
                  </a:extLst>
                </a:gridCol>
              </a:tblGrid>
              <a:tr h="250143">
                <a:tc>
                  <a:txBody>
                    <a:bodyPr/>
                    <a:lstStyle/>
                    <a:p>
                      <a:pPr algn="ctr"/>
                      <a:r>
                        <a:rPr lang="en-US" sz="1200" b="1" dirty="0">
                          <a:effectLst/>
                          <a:latin typeface="Hanken Grotesk" panose="020B0604020202020204" charset="0"/>
                        </a:rPr>
                        <a:t>Rank</a:t>
                      </a:r>
                    </a:p>
                  </a:txBody>
                  <a:tcPr marL="22473" marR="22473" marT="14982" marB="14982" anchor="ctr"/>
                </a:tc>
                <a:tc>
                  <a:txBody>
                    <a:bodyPr/>
                    <a:lstStyle/>
                    <a:p>
                      <a:pPr algn="ctr"/>
                      <a:r>
                        <a:rPr lang="en-US" sz="1200" b="1" dirty="0">
                          <a:effectLst/>
                          <a:latin typeface="Hanken Grotesk" panose="020B0604020202020204" charset="0"/>
                        </a:rPr>
                        <a:t>Model</a:t>
                      </a:r>
                    </a:p>
                  </a:txBody>
                  <a:tcPr marL="22473" marR="22473" marT="14982" marB="14982" anchor="ctr"/>
                </a:tc>
                <a:tc>
                  <a:txBody>
                    <a:bodyPr/>
                    <a:lstStyle/>
                    <a:p>
                      <a:pPr algn="ctr"/>
                      <a:r>
                        <a:rPr lang="en-US" sz="1200" b="1" dirty="0">
                          <a:effectLst/>
                          <a:latin typeface="Hanken Grotesk" panose="020B0604020202020204" charset="0"/>
                        </a:rPr>
                        <a:t>Type</a:t>
                      </a:r>
                    </a:p>
                  </a:txBody>
                  <a:tcPr marL="22473" marR="22473" marT="14982" marB="14982" anchor="ctr"/>
                </a:tc>
                <a:tc>
                  <a:txBody>
                    <a:bodyPr/>
                    <a:lstStyle/>
                    <a:p>
                      <a:pPr algn="ctr"/>
                      <a:r>
                        <a:rPr lang="en-US" sz="1200" b="1" dirty="0">
                          <a:effectLst/>
                          <a:latin typeface="Hanken Grotesk" panose="020B0604020202020204" charset="0"/>
                        </a:rPr>
                        <a:t>MAE</a:t>
                      </a:r>
                    </a:p>
                  </a:txBody>
                  <a:tcPr marL="22473" marR="22473" marT="14982" marB="14982" anchor="ctr"/>
                </a:tc>
                <a:tc>
                  <a:txBody>
                    <a:bodyPr/>
                    <a:lstStyle/>
                    <a:p>
                      <a:pPr algn="ctr"/>
                      <a:r>
                        <a:rPr lang="en-US" sz="1200" b="1" dirty="0">
                          <a:effectLst/>
                          <a:latin typeface="Hanken Grotesk" panose="020B0604020202020204" charset="0"/>
                        </a:rPr>
                        <a:t>RMSE</a:t>
                      </a:r>
                    </a:p>
                  </a:txBody>
                  <a:tcPr marL="22473" marR="22473" marT="14982" marB="14982" anchor="ctr"/>
                </a:tc>
                <a:tc>
                  <a:txBody>
                    <a:bodyPr/>
                    <a:lstStyle/>
                    <a:p>
                      <a:pPr algn="ctr"/>
                      <a:r>
                        <a:rPr lang="en-US" sz="1200" b="1" dirty="0">
                          <a:effectLst/>
                          <a:latin typeface="Hanken Grotesk" panose="020B0604020202020204" charset="0"/>
                        </a:rPr>
                        <a:t>MAPE (%)</a:t>
                      </a:r>
                    </a:p>
                  </a:txBody>
                  <a:tcPr marL="22473" marR="22473" marT="14982" marB="14982" anchor="ctr"/>
                </a:tc>
                <a:tc>
                  <a:txBody>
                    <a:bodyPr/>
                    <a:lstStyle/>
                    <a:p>
                      <a:pPr algn="ctr"/>
                      <a:r>
                        <a:rPr lang="en-US" sz="1200" b="1" dirty="0">
                          <a:effectLst/>
                          <a:latin typeface="Hanken Grotesk" panose="020B0604020202020204" charset="0"/>
                        </a:rPr>
                        <a:t>R²</a:t>
                      </a:r>
                    </a:p>
                  </a:txBody>
                  <a:tcPr marL="22473" marR="22473" marT="14982" marB="14982" anchor="ctr"/>
                </a:tc>
                <a:extLst>
                  <a:ext uri="{0D108BD9-81ED-4DB2-BD59-A6C34878D82A}">
                    <a16:rowId xmlns:a16="http://schemas.microsoft.com/office/drawing/2014/main" val="310638419"/>
                  </a:ext>
                </a:extLst>
              </a:tr>
              <a:tr h="250143">
                <a:tc>
                  <a:txBody>
                    <a:bodyPr/>
                    <a:lstStyle/>
                    <a:p>
                      <a:pPr algn="ctr"/>
                      <a:r>
                        <a:rPr lang="en-US" sz="1200" b="1">
                          <a:effectLst/>
                          <a:latin typeface="Hanken Grotesk" panose="020B0604020202020204" charset="0"/>
                        </a:rPr>
                        <a:t>1</a:t>
                      </a:r>
                    </a:p>
                  </a:txBody>
                  <a:tcPr marL="22473" marR="22473" marT="14982" marB="14982" anchor="ctr"/>
                </a:tc>
                <a:tc>
                  <a:txBody>
                    <a:bodyPr/>
                    <a:lstStyle/>
                    <a:p>
                      <a:pPr algn="ctr"/>
                      <a:r>
                        <a:rPr lang="en-US" sz="1200" b="1">
                          <a:effectLst/>
                          <a:latin typeface="Hanken Grotesk" panose="020B0604020202020204" charset="0"/>
                        </a:rPr>
                        <a:t>GRU</a:t>
                      </a:r>
                    </a:p>
                  </a:txBody>
                  <a:tcPr marL="22473" marR="22473" marT="14982" marB="14982" anchor="ctr"/>
                </a:tc>
                <a:tc>
                  <a:txBody>
                    <a:bodyPr/>
                    <a:lstStyle/>
                    <a:p>
                      <a:pPr algn="ctr"/>
                      <a:r>
                        <a:rPr lang="en-US" sz="1200" b="1">
                          <a:effectLst/>
                          <a:latin typeface="Hanken Grotesk" panose="020B0604020202020204" charset="0"/>
                        </a:rPr>
                        <a:t>DL</a:t>
                      </a:r>
                    </a:p>
                  </a:txBody>
                  <a:tcPr marL="22473" marR="22473" marT="14982" marB="14982" anchor="ctr"/>
                </a:tc>
                <a:tc>
                  <a:txBody>
                    <a:bodyPr/>
                    <a:lstStyle/>
                    <a:p>
                      <a:pPr algn="ctr"/>
                      <a:r>
                        <a:rPr lang="en-US" sz="1200" b="1">
                          <a:effectLst/>
                          <a:latin typeface="Hanken Grotesk" panose="020B0604020202020204" charset="0"/>
                        </a:rPr>
                        <a:t>0.192</a:t>
                      </a:r>
                    </a:p>
                  </a:txBody>
                  <a:tcPr marL="22473" marR="22473" marT="14982" marB="14982" anchor="ctr"/>
                </a:tc>
                <a:tc>
                  <a:txBody>
                    <a:bodyPr/>
                    <a:lstStyle/>
                    <a:p>
                      <a:pPr algn="ctr"/>
                      <a:r>
                        <a:rPr lang="en-US" sz="1200" b="1">
                          <a:effectLst/>
                          <a:latin typeface="Hanken Grotesk" panose="020B0604020202020204" charset="0"/>
                        </a:rPr>
                        <a:t>0.289</a:t>
                      </a:r>
                    </a:p>
                  </a:txBody>
                  <a:tcPr marL="22473" marR="22473" marT="14982" marB="14982" anchor="ctr"/>
                </a:tc>
                <a:tc>
                  <a:txBody>
                    <a:bodyPr/>
                    <a:lstStyle/>
                    <a:p>
                      <a:pPr algn="ctr"/>
                      <a:r>
                        <a:rPr lang="en-US" sz="1200" b="1">
                          <a:effectLst/>
                          <a:latin typeface="Hanken Grotesk" panose="020B0604020202020204" charset="0"/>
                        </a:rPr>
                        <a:t>7.364</a:t>
                      </a:r>
                    </a:p>
                  </a:txBody>
                  <a:tcPr marL="22473" marR="22473" marT="14982" marB="14982" anchor="ctr"/>
                </a:tc>
                <a:tc>
                  <a:txBody>
                    <a:bodyPr/>
                    <a:lstStyle/>
                    <a:p>
                      <a:pPr algn="ctr"/>
                      <a:r>
                        <a:rPr lang="en-US" sz="1200" b="1" dirty="0">
                          <a:effectLst/>
                          <a:latin typeface="Hanken Grotesk" panose="020B0604020202020204" charset="0"/>
                        </a:rPr>
                        <a:t>0.879</a:t>
                      </a:r>
                    </a:p>
                  </a:txBody>
                  <a:tcPr marL="22473" marR="22473" marT="14982" marB="14982" anchor="ctr"/>
                </a:tc>
                <a:extLst>
                  <a:ext uri="{0D108BD9-81ED-4DB2-BD59-A6C34878D82A}">
                    <a16:rowId xmlns:a16="http://schemas.microsoft.com/office/drawing/2014/main" val="4222805018"/>
                  </a:ext>
                </a:extLst>
              </a:tr>
              <a:tr h="250143">
                <a:tc>
                  <a:txBody>
                    <a:bodyPr/>
                    <a:lstStyle/>
                    <a:p>
                      <a:pPr algn="ctr"/>
                      <a:r>
                        <a:rPr lang="en-US" sz="1200" b="1" dirty="0">
                          <a:effectLst/>
                          <a:latin typeface="Hanken Grotesk" panose="020B0604020202020204" charset="0"/>
                        </a:rPr>
                        <a:t>2</a:t>
                      </a:r>
                    </a:p>
                  </a:txBody>
                  <a:tcPr marL="22473" marR="22473" marT="14982" marB="14982" anchor="ctr"/>
                </a:tc>
                <a:tc>
                  <a:txBody>
                    <a:bodyPr/>
                    <a:lstStyle/>
                    <a:p>
                      <a:pPr algn="ctr"/>
                      <a:r>
                        <a:rPr lang="en-US" sz="1200" b="1" dirty="0">
                          <a:effectLst/>
                          <a:latin typeface="Hanken Grotesk" panose="020B0604020202020204" charset="0"/>
                        </a:rPr>
                        <a:t>LSTM</a:t>
                      </a:r>
                    </a:p>
                  </a:txBody>
                  <a:tcPr marL="22473" marR="22473" marT="14982" marB="14982" anchor="ctr"/>
                </a:tc>
                <a:tc>
                  <a:txBody>
                    <a:bodyPr/>
                    <a:lstStyle/>
                    <a:p>
                      <a:pPr algn="ctr"/>
                      <a:r>
                        <a:rPr lang="en-US" sz="1200" b="1">
                          <a:effectLst/>
                          <a:latin typeface="Hanken Grotesk" panose="020B0604020202020204" charset="0"/>
                        </a:rPr>
                        <a:t>DL</a:t>
                      </a:r>
                    </a:p>
                  </a:txBody>
                  <a:tcPr marL="22473" marR="22473" marT="14982" marB="14982" anchor="ctr"/>
                </a:tc>
                <a:tc>
                  <a:txBody>
                    <a:bodyPr/>
                    <a:lstStyle/>
                    <a:p>
                      <a:pPr algn="ctr"/>
                      <a:r>
                        <a:rPr lang="en-US" sz="1200" b="1">
                          <a:effectLst/>
                          <a:latin typeface="Hanken Grotesk" panose="020B0604020202020204" charset="0"/>
                        </a:rPr>
                        <a:t>0.205</a:t>
                      </a:r>
                    </a:p>
                  </a:txBody>
                  <a:tcPr marL="22473" marR="22473" marT="14982" marB="14982" anchor="ctr"/>
                </a:tc>
                <a:tc>
                  <a:txBody>
                    <a:bodyPr/>
                    <a:lstStyle/>
                    <a:p>
                      <a:pPr algn="ctr"/>
                      <a:r>
                        <a:rPr lang="en-US" sz="1200" b="1">
                          <a:effectLst/>
                          <a:latin typeface="Hanken Grotesk" panose="020B0604020202020204" charset="0"/>
                        </a:rPr>
                        <a:t>0.314</a:t>
                      </a:r>
                    </a:p>
                  </a:txBody>
                  <a:tcPr marL="22473" marR="22473" marT="14982" marB="14982" anchor="ctr"/>
                </a:tc>
                <a:tc>
                  <a:txBody>
                    <a:bodyPr/>
                    <a:lstStyle/>
                    <a:p>
                      <a:pPr algn="ctr"/>
                      <a:r>
                        <a:rPr lang="en-US" sz="1200" b="1">
                          <a:effectLst/>
                          <a:latin typeface="Hanken Grotesk" panose="020B0604020202020204" charset="0"/>
                        </a:rPr>
                        <a:t>7.612</a:t>
                      </a:r>
                    </a:p>
                  </a:txBody>
                  <a:tcPr marL="22473" marR="22473" marT="14982" marB="14982" anchor="ctr"/>
                </a:tc>
                <a:tc>
                  <a:txBody>
                    <a:bodyPr/>
                    <a:lstStyle/>
                    <a:p>
                      <a:pPr algn="ctr"/>
                      <a:r>
                        <a:rPr lang="en-US" sz="1200" b="1" dirty="0">
                          <a:effectLst/>
                          <a:latin typeface="Hanken Grotesk" panose="020B0604020202020204" charset="0"/>
                        </a:rPr>
                        <a:t>0.857</a:t>
                      </a:r>
                    </a:p>
                  </a:txBody>
                  <a:tcPr marL="22473" marR="22473" marT="14982" marB="14982" anchor="ctr"/>
                </a:tc>
                <a:extLst>
                  <a:ext uri="{0D108BD9-81ED-4DB2-BD59-A6C34878D82A}">
                    <a16:rowId xmlns:a16="http://schemas.microsoft.com/office/drawing/2014/main" val="1040808814"/>
                  </a:ext>
                </a:extLst>
              </a:tr>
              <a:tr h="342553">
                <a:tc>
                  <a:txBody>
                    <a:bodyPr/>
                    <a:lstStyle/>
                    <a:p>
                      <a:pPr algn="ctr"/>
                      <a:r>
                        <a:rPr lang="en-US" sz="1200" b="1" dirty="0">
                          <a:effectLst/>
                          <a:latin typeface="Hanken Grotesk" panose="020B0604020202020204" charset="0"/>
                        </a:rPr>
                        <a:t>3</a:t>
                      </a:r>
                    </a:p>
                  </a:txBody>
                  <a:tcPr marL="22473" marR="22473" marT="14982" marB="14982" anchor="ctr"/>
                </a:tc>
                <a:tc>
                  <a:txBody>
                    <a:bodyPr/>
                    <a:lstStyle/>
                    <a:p>
                      <a:pPr algn="ctr"/>
                      <a:r>
                        <a:rPr lang="en-US" sz="1200" b="1" dirty="0" err="1">
                          <a:effectLst/>
                          <a:latin typeface="Hanken Grotesk" panose="020B0604020202020204" charset="0"/>
                        </a:rPr>
                        <a:t>XGBoost</a:t>
                      </a:r>
                      <a:r>
                        <a:rPr lang="en-US" sz="1200" b="1" dirty="0">
                          <a:effectLst/>
                          <a:latin typeface="Hanken Grotesk" panose="020B0604020202020204" charset="0"/>
                        </a:rPr>
                        <a:t> (Tuned)</a:t>
                      </a:r>
                    </a:p>
                  </a:txBody>
                  <a:tcPr marL="22473" marR="22473" marT="14982" marB="14982" anchor="ctr"/>
                </a:tc>
                <a:tc>
                  <a:txBody>
                    <a:bodyPr/>
                    <a:lstStyle/>
                    <a:p>
                      <a:pPr algn="ctr"/>
                      <a:r>
                        <a:rPr lang="en-US" sz="1200" b="1" dirty="0">
                          <a:effectLst/>
                          <a:latin typeface="Hanken Grotesk" panose="020B0604020202020204" charset="0"/>
                        </a:rPr>
                        <a:t>ML</a:t>
                      </a:r>
                    </a:p>
                  </a:txBody>
                  <a:tcPr marL="22473" marR="22473" marT="14982" marB="14982" anchor="ctr"/>
                </a:tc>
                <a:tc>
                  <a:txBody>
                    <a:bodyPr/>
                    <a:lstStyle/>
                    <a:p>
                      <a:pPr algn="ctr"/>
                      <a:r>
                        <a:rPr lang="en-US" sz="1200" b="1" dirty="0">
                          <a:effectLst/>
                          <a:latin typeface="Hanken Grotesk" panose="020B0604020202020204" charset="0"/>
                        </a:rPr>
                        <a:t>0.257</a:t>
                      </a:r>
                    </a:p>
                  </a:txBody>
                  <a:tcPr marL="22473" marR="22473" marT="14982" marB="14982" anchor="ctr"/>
                </a:tc>
                <a:tc>
                  <a:txBody>
                    <a:bodyPr/>
                    <a:lstStyle/>
                    <a:p>
                      <a:pPr algn="ctr"/>
                      <a:r>
                        <a:rPr lang="en-US" sz="1200" b="1" dirty="0">
                          <a:effectLst/>
                          <a:latin typeface="Hanken Grotesk" panose="020B0604020202020204" charset="0"/>
                        </a:rPr>
                        <a:t>0.384</a:t>
                      </a:r>
                    </a:p>
                  </a:txBody>
                  <a:tcPr marL="22473" marR="22473" marT="14982" marB="14982" anchor="ctr"/>
                </a:tc>
                <a:tc>
                  <a:txBody>
                    <a:bodyPr/>
                    <a:lstStyle/>
                    <a:p>
                      <a:pPr algn="ctr"/>
                      <a:r>
                        <a:rPr lang="en-US" sz="1200" b="1" dirty="0">
                          <a:effectLst/>
                          <a:latin typeface="Hanken Grotesk" panose="020B0604020202020204" charset="0"/>
                        </a:rPr>
                        <a:t>12.693</a:t>
                      </a:r>
                    </a:p>
                  </a:txBody>
                  <a:tcPr marL="22473" marR="22473" marT="14982" marB="14982" anchor="ctr"/>
                </a:tc>
                <a:tc>
                  <a:txBody>
                    <a:bodyPr/>
                    <a:lstStyle/>
                    <a:p>
                      <a:pPr algn="ctr"/>
                      <a:r>
                        <a:rPr lang="en-US" sz="1200" b="1" dirty="0">
                          <a:effectLst/>
                          <a:latin typeface="Hanken Grotesk" panose="020B0604020202020204" charset="0"/>
                        </a:rPr>
                        <a:t>0.831</a:t>
                      </a:r>
                    </a:p>
                  </a:txBody>
                  <a:tcPr marL="22473" marR="22473" marT="14982" marB="14982" anchor="ctr"/>
                </a:tc>
                <a:extLst>
                  <a:ext uri="{0D108BD9-81ED-4DB2-BD59-A6C34878D82A}">
                    <a16:rowId xmlns:a16="http://schemas.microsoft.com/office/drawing/2014/main" val="3299193002"/>
                  </a:ext>
                </a:extLst>
              </a:tr>
              <a:tr h="262690">
                <a:tc>
                  <a:txBody>
                    <a:bodyPr/>
                    <a:lstStyle/>
                    <a:p>
                      <a:pPr algn="ctr"/>
                      <a:r>
                        <a:rPr lang="en-US" sz="1200" b="1" dirty="0">
                          <a:effectLst/>
                          <a:latin typeface="Hanken Grotesk" panose="020B0604020202020204" charset="0"/>
                        </a:rPr>
                        <a:t>4</a:t>
                      </a:r>
                    </a:p>
                  </a:txBody>
                  <a:tcPr marL="22473" marR="22473" marT="14982" marB="14982" anchor="ctr"/>
                </a:tc>
                <a:tc>
                  <a:txBody>
                    <a:bodyPr/>
                    <a:lstStyle/>
                    <a:p>
                      <a:pPr algn="ctr"/>
                      <a:r>
                        <a:rPr lang="en-US" sz="1200" dirty="0">
                          <a:effectLst/>
                          <a:latin typeface="Hanken Grotesk" panose="020B0604020202020204" charset="0"/>
                        </a:rPr>
                        <a:t>Random Forest (Tuned)</a:t>
                      </a:r>
                    </a:p>
                  </a:txBody>
                  <a:tcPr marL="22473" marR="22473" marT="14982" marB="14982" anchor="ctr"/>
                </a:tc>
                <a:tc>
                  <a:txBody>
                    <a:bodyPr/>
                    <a:lstStyle/>
                    <a:p>
                      <a:pPr algn="ctr"/>
                      <a:r>
                        <a:rPr lang="en-US" sz="1200">
                          <a:effectLst/>
                          <a:latin typeface="Hanken Grotesk" panose="020B0604020202020204" charset="0"/>
                        </a:rPr>
                        <a:t>ML</a:t>
                      </a:r>
                    </a:p>
                  </a:txBody>
                  <a:tcPr marL="22473" marR="22473" marT="14982" marB="14982" anchor="ctr"/>
                </a:tc>
                <a:tc>
                  <a:txBody>
                    <a:bodyPr/>
                    <a:lstStyle/>
                    <a:p>
                      <a:pPr algn="ctr"/>
                      <a:r>
                        <a:rPr lang="en-US" sz="1200">
                          <a:effectLst/>
                          <a:latin typeface="Hanken Grotesk" panose="020B0604020202020204" charset="0"/>
                        </a:rPr>
                        <a:t>0.294</a:t>
                      </a:r>
                    </a:p>
                  </a:txBody>
                  <a:tcPr marL="22473" marR="22473" marT="14982" marB="14982" anchor="ctr"/>
                </a:tc>
                <a:tc>
                  <a:txBody>
                    <a:bodyPr/>
                    <a:lstStyle/>
                    <a:p>
                      <a:pPr algn="ctr"/>
                      <a:r>
                        <a:rPr lang="en-US" sz="1200">
                          <a:effectLst/>
                          <a:latin typeface="Hanken Grotesk" panose="020B0604020202020204" charset="0"/>
                        </a:rPr>
                        <a:t>0.435</a:t>
                      </a:r>
                    </a:p>
                  </a:txBody>
                  <a:tcPr marL="22473" marR="22473" marT="14982" marB="14982" anchor="ctr"/>
                </a:tc>
                <a:tc>
                  <a:txBody>
                    <a:bodyPr/>
                    <a:lstStyle/>
                    <a:p>
                      <a:pPr algn="ctr"/>
                      <a:r>
                        <a:rPr lang="en-US" sz="1200">
                          <a:effectLst/>
                          <a:latin typeface="Hanken Grotesk" panose="020B0604020202020204" charset="0"/>
                        </a:rPr>
                        <a:t>14.290</a:t>
                      </a:r>
                    </a:p>
                  </a:txBody>
                  <a:tcPr marL="22473" marR="22473" marT="14982" marB="14982" anchor="ctr"/>
                </a:tc>
                <a:tc>
                  <a:txBody>
                    <a:bodyPr/>
                    <a:lstStyle/>
                    <a:p>
                      <a:pPr algn="ctr"/>
                      <a:r>
                        <a:rPr lang="en-US" sz="1200">
                          <a:effectLst/>
                          <a:latin typeface="Hanken Grotesk" panose="020B0604020202020204" charset="0"/>
                        </a:rPr>
                        <a:t>0.783</a:t>
                      </a:r>
                    </a:p>
                  </a:txBody>
                  <a:tcPr marL="22473" marR="22473" marT="14982" marB="14982" anchor="ctr"/>
                </a:tc>
                <a:extLst>
                  <a:ext uri="{0D108BD9-81ED-4DB2-BD59-A6C34878D82A}">
                    <a16:rowId xmlns:a16="http://schemas.microsoft.com/office/drawing/2014/main" val="763061341"/>
                  </a:ext>
                </a:extLst>
              </a:tr>
              <a:tr h="296414">
                <a:tc>
                  <a:txBody>
                    <a:bodyPr/>
                    <a:lstStyle/>
                    <a:p>
                      <a:pPr algn="ctr"/>
                      <a:r>
                        <a:rPr lang="en-US" sz="1200" b="1" dirty="0">
                          <a:effectLst/>
                          <a:latin typeface="Hanken Grotesk" panose="020B0604020202020204" charset="0"/>
                        </a:rPr>
                        <a:t>5</a:t>
                      </a:r>
                    </a:p>
                  </a:txBody>
                  <a:tcPr marL="22473" marR="22473" marT="14982" marB="14982" anchor="ctr"/>
                </a:tc>
                <a:tc>
                  <a:txBody>
                    <a:bodyPr/>
                    <a:lstStyle/>
                    <a:p>
                      <a:pPr algn="ctr"/>
                      <a:r>
                        <a:rPr lang="en-US" sz="1200" dirty="0">
                          <a:effectLst/>
                          <a:latin typeface="Hanken Grotesk" panose="020B0604020202020204" charset="0"/>
                        </a:rPr>
                        <a:t>Random Forest</a:t>
                      </a:r>
                    </a:p>
                  </a:txBody>
                  <a:tcPr marL="22473" marR="22473" marT="14982" marB="14982" anchor="ctr"/>
                </a:tc>
                <a:tc>
                  <a:txBody>
                    <a:bodyPr/>
                    <a:lstStyle/>
                    <a:p>
                      <a:pPr algn="ctr"/>
                      <a:r>
                        <a:rPr lang="en-US" sz="1200">
                          <a:effectLst/>
                          <a:latin typeface="Hanken Grotesk" panose="020B0604020202020204" charset="0"/>
                        </a:rPr>
                        <a:t>ML</a:t>
                      </a:r>
                    </a:p>
                  </a:txBody>
                  <a:tcPr marL="22473" marR="22473" marT="14982" marB="14982" anchor="ctr"/>
                </a:tc>
                <a:tc>
                  <a:txBody>
                    <a:bodyPr/>
                    <a:lstStyle/>
                    <a:p>
                      <a:pPr algn="ctr"/>
                      <a:r>
                        <a:rPr lang="en-US" sz="1200" dirty="0">
                          <a:effectLst/>
                          <a:latin typeface="Hanken Grotesk" panose="020B0604020202020204" charset="0"/>
                        </a:rPr>
                        <a:t>0.305</a:t>
                      </a:r>
                    </a:p>
                  </a:txBody>
                  <a:tcPr marL="22473" marR="22473" marT="14982" marB="14982" anchor="ctr"/>
                </a:tc>
                <a:tc>
                  <a:txBody>
                    <a:bodyPr/>
                    <a:lstStyle/>
                    <a:p>
                      <a:pPr algn="ctr"/>
                      <a:r>
                        <a:rPr lang="en-US" sz="1200">
                          <a:effectLst/>
                          <a:latin typeface="Hanken Grotesk" panose="020B0604020202020204" charset="0"/>
                        </a:rPr>
                        <a:t>0.444</a:t>
                      </a:r>
                    </a:p>
                  </a:txBody>
                  <a:tcPr marL="22473" marR="22473" marT="14982" marB="14982" anchor="ctr"/>
                </a:tc>
                <a:tc>
                  <a:txBody>
                    <a:bodyPr/>
                    <a:lstStyle/>
                    <a:p>
                      <a:pPr algn="ctr"/>
                      <a:r>
                        <a:rPr lang="en-US" sz="1200">
                          <a:effectLst/>
                          <a:latin typeface="Hanken Grotesk" panose="020B0604020202020204" charset="0"/>
                        </a:rPr>
                        <a:t>14.825</a:t>
                      </a:r>
                    </a:p>
                  </a:txBody>
                  <a:tcPr marL="22473" marR="22473" marT="14982" marB="14982" anchor="ctr"/>
                </a:tc>
                <a:tc>
                  <a:txBody>
                    <a:bodyPr/>
                    <a:lstStyle/>
                    <a:p>
                      <a:pPr algn="ctr"/>
                      <a:r>
                        <a:rPr lang="en-US" sz="1200" dirty="0">
                          <a:effectLst/>
                          <a:latin typeface="Hanken Grotesk" panose="020B0604020202020204" charset="0"/>
                        </a:rPr>
                        <a:t>0.774</a:t>
                      </a:r>
                    </a:p>
                  </a:txBody>
                  <a:tcPr marL="22473" marR="22473" marT="14982" marB="14982" anchor="ctr"/>
                </a:tc>
                <a:extLst>
                  <a:ext uri="{0D108BD9-81ED-4DB2-BD59-A6C34878D82A}">
                    <a16:rowId xmlns:a16="http://schemas.microsoft.com/office/drawing/2014/main" val="2968636242"/>
                  </a:ext>
                </a:extLst>
              </a:tr>
              <a:tr h="250143">
                <a:tc>
                  <a:txBody>
                    <a:bodyPr/>
                    <a:lstStyle/>
                    <a:p>
                      <a:pPr algn="ctr"/>
                      <a:r>
                        <a:rPr lang="en-US" sz="1200" b="1" dirty="0">
                          <a:effectLst/>
                          <a:latin typeface="Hanken Grotesk" panose="020B0604020202020204" charset="0"/>
                        </a:rPr>
                        <a:t>6</a:t>
                      </a:r>
                    </a:p>
                  </a:txBody>
                  <a:tcPr marL="22473" marR="22473" marT="14982" marB="14982" anchor="ctr"/>
                </a:tc>
                <a:tc>
                  <a:txBody>
                    <a:bodyPr/>
                    <a:lstStyle/>
                    <a:p>
                      <a:pPr algn="ctr"/>
                      <a:r>
                        <a:rPr lang="en-US" sz="1200" dirty="0" err="1">
                          <a:effectLst/>
                          <a:latin typeface="Hanken Grotesk" panose="020B0604020202020204" charset="0"/>
                        </a:rPr>
                        <a:t>XGBoost</a:t>
                      </a:r>
                      <a:endParaRPr lang="en-US" sz="1200" dirty="0">
                        <a:effectLst/>
                        <a:latin typeface="Hanken Grotesk" panose="020B0604020202020204" charset="0"/>
                      </a:endParaRPr>
                    </a:p>
                  </a:txBody>
                  <a:tcPr marL="22473" marR="22473" marT="14982" marB="14982" anchor="ctr"/>
                </a:tc>
                <a:tc>
                  <a:txBody>
                    <a:bodyPr/>
                    <a:lstStyle/>
                    <a:p>
                      <a:pPr algn="ctr"/>
                      <a:r>
                        <a:rPr lang="en-US" sz="1200">
                          <a:effectLst/>
                          <a:latin typeface="Hanken Grotesk" panose="020B0604020202020204" charset="0"/>
                        </a:rPr>
                        <a:t>ML</a:t>
                      </a:r>
                    </a:p>
                  </a:txBody>
                  <a:tcPr marL="22473" marR="22473" marT="14982" marB="14982" anchor="ctr"/>
                </a:tc>
                <a:tc>
                  <a:txBody>
                    <a:bodyPr/>
                    <a:lstStyle/>
                    <a:p>
                      <a:pPr algn="ctr"/>
                      <a:r>
                        <a:rPr lang="en-US" sz="1200">
                          <a:effectLst/>
                          <a:latin typeface="Hanken Grotesk" panose="020B0604020202020204" charset="0"/>
                        </a:rPr>
                        <a:t>0.313</a:t>
                      </a:r>
                    </a:p>
                  </a:txBody>
                  <a:tcPr marL="22473" marR="22473" marT="14982" marB="14982" anchor="ctr"/>
                </a:tc>
                <a:tc>
                  <a:txBody>
                    <a:bodyPr/>
                    <a:lstStyle/>
                    <a:p>
                      <a:pPr algn="ctr"/>
                      <a:r>
                        <a:rPr lang="en-US" sz="1200">
                          <a:effectLst/>
                          <a:latin typeface="Hanken Grotesk" panose="020B0604020202020204" charset="0"/>
                        </a:rPr>
                        <a:t>0.449</a:t>
                      </a:r>
                    </a:p>
                  </a:txBody>
                  <a:tcPr marL="22473" marR="22473" marT="14982" marB="14982" anchor="ctr"/>
                </a:tc>
                <a:tc>
                  <a:txBody>
                    <a:bodyPr/>
                    <a:lstStyle/>
                    <a:p>
                      <a:pPr algn="ctr"/>
                      <a:r>
                        <a:rPr lang="en-US" sz="1200">
                          <a:effectLst/>
                          <a:latin typeface="Hanken Grotesk" panose="020B0604020202020204" charset="0"/>
                        </a:rPr>
                        <a:t>15.242</a:t>
                      </a:r>
                    </a:p>
                  </a:txBody>
                  <a:tcPr marL="22473" marR="22473" marT="14982" marB="14982" anchor="ctr"/>
                </a:tc>
                <a:tc>
                  <a:txBody>
                    <a:bodyPr/>
                    <a:lstStyle/>
                    <a:p>
                      <a:pPr algn="ctr"/>
                      <a:r>
                        <a:rPr lang="en-US" sz="1200">
                          <a:effectLst/>
                          <a:latin typeface="Hanken Grotesk" panose="020B0604020202020204" charset="0"/>
                        </a:rPr>
                        <a:t>0.769</a:t>
                      </a:r>
                    </a:p>
                  </a:txBody>
                  <a:tcPr marL="22473" marR="22473" marT="14982" marB="14982" anchor="ctr"/>
                </a:tc>
                <a:extLst>
                  <a:ext uri="{0D108BD9-81ED-4DB2-BD59-A6C34878D82A}">
                    <a16:rowId xmlns:a16="http://schemas.microsoft.com/office/drawing/2014/main" val="2671201614"/>
                  </a:ext>
                </a:extLst>
              </a:tr>
              <a:tr h="386336">
                <a:tc>
                  <a:txBody>
                    <a:bodyPr/>
                    <a:lstStyle/>
                    <a:p>
                      <a:pPr algn="ctr"/>
                      <a:r>
                        <a:rPr lang="en-US" sz="1200" b="1" dirty="0">
                          <a:effectLst/>
                          <a:latin typeface="Hanken Grotesk" panose="020B0604020202020204" charset="0"/>
                        </a:rPr>
                        <a:t>7</a:t>
                      </a:r>
                    </a:p>
                  </a:txBody>
                  <a:tcPr marL="22473" marR="22473" marT="14982" marB="14982" anchor="ctr"/>
                </a:tc>
                <a:tc>
                  <a:txBody>
                    <a:bodyPr/>
                    <a:lstStyle/>
                    <a:p>
                      <a:pPr algn="ctr"/>
                      <a:r>
                        <a:rPr lang="en-US" sz="1200" dirty="0">
                          <a:effectLst/>
                          <a:latin typeface="Hanken Grotesk" panose="020B0604020202020204" charset="0"/>
                        </a:rPr>
                        <a:t>Gradient Boosting</a:t>
                      </a:r>
                    </a:p>
                  </a:txBody>
                  <a:tcPr marL="22473" marR="22473" marT="14982" marB="14982" anchor="ctr"/>
                </a:tc>
                <a:tc>
                  <a:txBody>
                    <a:bodyPr/>
                    <a:lstStyle/>
                    <a:p>
                      <a:pPr algn="ctr"/>
                      <a:r>
                        <a:rPr lang="en-US" sz="1200">
                          <a:effectLst/>
                          <a:latin typeface="Hanken Grotesk" panose="020B0604020202020204" charset="0"/>
                        </a:rPr>
                        <a:t>ML</a:t>
                      </a:r>
                    </a:p>
                  </a:txBody>
                  <a:tcPr marL="22473" marR="22473" marT="14982" marB="14982" anchor="ctr"/>
                </a:tc>
                <a:tc>
                  <a:txBody>
                    <a:bodyPr/>
                    <a:lstStyle/>
                    <a:p>
                      <a:pPr algn="ctr"/>
                      <a:r>
                        <a:rPr lang="en-US" sz="1200" dirty="0">
                          <a:effectLst/>
                          <a:latin typeface="Hanken Grotesk" panose="020B0604020202020204" charset="0"/>
                        </a:rPr>
                        <a:t>0.330</a:t>
                      </a:r>
                    </a:p>
                  </a:txBody>
                  <a:tcPr marL="22473" marR="22473" marT="14982" marB="14982" anchor="ctr"/>
                </a:tc>
                <a:tc>
                  <a:txBody>
                    <a:bodyPr/>
                    <a:lstStyle/>
                    <a:p>
                      <a:pPr algn="ctr"/>
                      <a:r>
                        <a:rPr lang="en-US" sz="1200">
                          <a:effectLst/>
                          <a:latin typeface="Hanken Grotesk" panose="020B0604020202020204" charset="0"/>
                        </a:rPr>
                        <a:t>0.469</a:t>
                      </a:r>
                    </a:p>
                  </a:txBody>
                  <a:tcPr marL="22473" marR="22473" marT="14982" marB="14982" anchor="ctr"/>
                </a:tc>
                <a:tc>
                  <a:txBody>
                    <a:bodyPr/>
                    <a:lstStyle/>
                    <a:p>
                      <a:pPr algn="ctr"/>
                      <a:r>
                        <a:rPr lang="en-US" sz="1200">
                          <a:effectLst/>
                          <a:latin typeface="Hanken Grotesk" panose="020B0604020202020204" charset="0"/>
                        </a:rPr>
                        <a:t>16.062</a:t>
                      </a:r>
                    </a:p>
                  </a:txBody>
                  <a:tcPr marL="22473" marR="22473" marT="14982" marB="14982" anchor="ctr"/>
                </a:tc>
                <a:tc>
                  <a:txBody>
                    <a:bodyPr/>
                    <a:lstStyle/>
                    <a:p>
                      <a:pPr algn="ctr"/>
                      <a:r>
                        <a:rPr lang="en-US" sz="1200">
                          <a:effectLst/>
                          <a:latin typeface="Hanken Grotesk" panose="020B0604020202020204" charset="0"/>
                        </a:rPr>
                        <a:t>0.749</a:t>
                      </a:r>
                    </a:p>
                  </a:txBody>
                  <a:tcPr marL="22473" marR="22473" marT="14982" marB="14982" anchor="ctr"/>
                </a:tc>
                <a:extLst>
                  <a:ext uri="{0D108BD9-81ED-4DB2-BD59-A6C34878D82A}">
                    <a16:rowId xmlns:a16="http://schemas.microsoft.com/office/drawing/2014/main" val="2708737423"/>
                  </a:ext>
                </a:extLst>
              </a:tr>
              <a:tr h="250143">
                <a:tc>
                  <a:txBody>
                    <a:bodyPr/>
                    <a:lstStyle/>
                    <a:p>
                      <a:pPr algn="ctr"/>
                      <a:r>
                        <a:rPr lang="en-US" sz="1200" b="1" dirty="0">
                          <a:effectLst/>
                          <a:latin typeface="Hanken Grotesk" panose="020B0604020202020204" charset="0"/>
                        </a:rPr>
                        <a:t>8</a:t>
                      </a:r>
                    </a:p>
                  </a:txBody>
                  <a:tcPr marL="22473" marR="22473" marT="14982" marB="14982" anchor="ctr"/>
                </a:tc>
                <a:tc>
                  <a:txBody>
                    <a:bodyPr/>
                    <a:lstStyle/>
                    <a:p>
                      <a:pPr algn="ctr"/>
                      <a:r>
                        <a:rPr lang="en-US" sz="1200" dirty="0">
                          <a:effectLst/>
                          <a:latin typeface="Hanken Grotesk" panose="020B0604020202020204" charset="0"/>
                        </a:rPr>
                        <a:t>SVR</a:t>
                      </a:r>
                    </a:p>
                  </a:txBody>
                  <a:tcPr marL="22473" marR="22473" marT="14982" marB="14982" anchor="ctr"/>
                </a:tc>
                <a:tc>
                  <a:txBody>
                    <a:bodyPr/>
                    <a:lstStyle/>
                    <a:p>
                      <a:pPr algn="ctr"/>
                      <a:r>
                        <a:rPr lang="en-US" sz="1200" dirty="0">
                          <a:effectLst/>
                          <a:latin typeface="Hanken Grotesk" panose="020B0604020202020204" charset="0"/>
                        </a:rPr>
                        <a:t>ML</a:t>
                      </a:r>
                    </a:p>
                  </a:txBody>
                  <a:tcPr marL="22473" marR="22473" marT="14982" marB="14982" anchor="ctr"/>
                </a:tc>
                <a:tc>
                  <a:txBody>
                    <a:bodyPr/>
                    <a:lstStyle/>
                    <a:p>
                      <a:pPr algn="ctr"/>
                      <a:r>
                        <a:rPr lang="en-US" sz="1200">
                          <a:effectLst/>
                          <a:latin typeface="Hanken Grotesk" panose="020B0604020202020204" charset="0"/>
                        </a:rPr>
                        <a:t>0.318</a:t>
                      </a:r>
                    </a:p>
                  </a:txBody>
                  <a:tcPr marL="22473" marR="22473" marT="14982" marB="14982" anchor="ctr"/>
                </a:tc>
                <a:tc>
                  <a:txBody>
                    <a:bodyPr/>
                    <a:lstStyle/>
                    <a:p>
                      <a:pPr algn="ctr"/>
                      <a:r>
                        <a:rPr lang="en-US" sz="1200">
                          <a:effectLst/>
                          <a:latin typeface="Hanken Grotesk" panose="020B0604020202020204" charset="0"/>
                        </a:rPr>
                        <a:t>0.483</a:t>
                      </a:r>
                    </a:p>
                  </a:txBody>
                  <a:tcPr marL="22473" marR="22473" marT="14982" marB="14982" anchor="ctr"/>
                </a:tc>
                <a:tc>
                  <a:txBody>
                    <a:bodyPr/>
                    <a:lstStyle/>
                    <a:p>
                      <a:pPr algn="ctr"/>
                      <a:r>
                        <a:rPr lang="en-US" sz="1200">
                          <a:effectLst/>
                          <a:latin typeface="Hanken Grotesk" panose="020B0604020202020204" charset="0"/>
                        </a:rPr>
                        <a:t>15.193</a:t>
                      </a:r>
                    </a:p>
                  </a:txBody>
                  <a:tcPr marL="22473" marR="22473" marT="14982" marB="14982" anchor="ctr"/>
                </a:tc>
                <a:tc>
                  <a:txBody>
                    <a:bodyPr/>
                    <a:lstStyle/>
                    <a:p>
                      <a:pPr algn="ctr"/>
                      <a:r>
                        <a:rPr lang="en-US" sz="1200">
                          <a:effectLst/>
                          <a:latin typeface="Hanken Grotesk" panose="020B0604020202020204" charset="0"/>
                        </a:rPr>
                        <a:t>0.732</a:t>
                      </a:r>
                    </a:p>
                  </a:txBody>
                  <a:tcPr marL="22473" marR="22473" marT="14982" marB="14982" anchor="ctr"/>
                </a:tc>
                <a:extLst>
                  <a:ext uri="{0D108BD9-81ED-4DB2-BD59-A6C34878D82A}">
                    <a16:rowId xmlns:a16="http://schemas.microsoft.com/office/drawing/2014/main" val="4012391004"/>
                  </a:ext>
                </a:extLst>
              </a:tr>
              <a:tr h="296414">
                <a:tc>
                  <a:txBody>
                    <a:bodyPr/>
                    <a:lstStyle/>
                    <a:p>
                      <a:pPr algn="ctr"/>
                      <a:r>
                        <a:rPr lang="en-US" sz="1200" b="1" dirty="0">
                          <a:effectLst/>
                          <a:latin typeface="Hanken Grotesk" panose="020B0604020202020204" charset="0"/>
                        </a:rPr>
                        <a:t>9</a:t>
                      </a:r>
                    </a:p>
                  </a:txBody>
                  <a:tcPr marL="22473" marR="22473" marT="14982" marB="14982" anchor="ctr"/>
                </a:tc>
                <a:tc>
                  <a:txBody>
                    <a:bodyPr/>
                    <a:lstStyle/>
                    <a:p>
                      <a:pPr algn="ctr"/>
                      <a:r>
                        <a:rPr lang="en-US" sz="1200" dirty="0">
                          <a:effectLst/>
                          <a:latin typeface="Hanken Grotesk" panose="020B0604020202020204" charset="0"/>
                        </a:rPr>
                        <a:t>Ridge Regression</a:t>
                      </a:r>
                    </a:p>
                  </a:txBody>
                  <a:tcPr marL="22473" marR="22473" marT="14982" marB="14982" anchor="ctr"/>
                </a:tc>
                <a:tc>
                  <a:txBody>
                    <a:bodyPr/>
                    <a:lstStyle/>
                    <a:p>
                      <a:pPr algn="ctr"/>
                      <a:r>
                        <a:rPr lang="en-US" sz="1200" dirty="0">
                          <a:effectLst/>
                          <a:latin typeface="Hanken Grotesk" panose="020B0604020202020204" charset="0"/>
                        </a:rPr>
                        <a:t>ML</a:t>
                      </a:r>
                    </a:p>
                  </a:txBody>
                  <a:tcPr marL="22473" marR="22473" marT="14982" marB="14982" anchor="ctr"/>
                </a:tc>
                <a:tc>
                  <a:txBody>
                    <a:bodyPr/>
                    <a:lstStyle/>
                    <a:p>
                      <a:pPr algn="ctr"/>
                      <a:r>
                        <a:rPr lang="en-US" sz="1200" dirty="0">
                          <a:effectLst/>
                          <a:latin typeface="Hanken Grotesk" panose="020B0604020202020204" charset="0"/>
                        </a:rPr>
                        <a:t>0.502</a:t>
                      </a:r>
                    </a:p>
                  </a:txBody>
                  <a:tcPr marL="22473" marR="22473" marT="14982" marB="14982" anchor="ctr"/>
                </a:tc>
                <a:tc>
                  <a:txBody>
                    <a:bodyPr/>
                    <a:lstStyle/>
                    <a:p>
                      <a:pPr algn="ctr"/>
                      <a:r>
                        <a:rPr lang="en-US" sz="1200">
                          <a:effectLst/>
                          <a:latin typeface="Hanken Grotesk" panose="020B0604020202020204" charset="0"/>
                        </a:rPr>
                        <a:t>0.649</a:t>
                      </a:r>
                    </a:p>
                  </a:txBody>
                  <a:tcPr marL="22473" marR="22473" marT="14982" marB="14982" anchor="ctr"/>
                </a:tc>
                <a:tc>
                  <a:txBody>
                    <a:bodyPr/>
                    <a:lstStyle/>
                    <a:p>
                      <a:pPr algn="ctr"/>
                      <a:r>
                        <a:rPr lang="en-US" sz="1200">
                          <a:effectLst/>
                          <a:latin typeface="Hanken Grotesk" panose="020B0604020202020204" charset="0"/>
                        </a:rPr>
                        <a:t>25.021</a:t>
                      </a:r>
                    </a:p>
                  </a:txBody>
                  <a:tcPr marL="22473" marR="22473" marT="14982" marB="14982" anchor="ctr"/>
                </a:tc>
                <a:tc>
                  <a:txBody>
                    <a:bodyPr/>
                    <a:lstStyle/>
                    <a:p>
                      <a:pPr algn="ctr"/>
                      <a:r>
                        <a:rPr lang="en-US" sz="1200">
                          <a:effectLst/>
                          <a:latin typeface="Hanken Grotesk" panose="020B0604020202020204" charset="0"/>
                        </a:rPr>
                        <a:t>0.518</a:t>
                      </a:r>
                    </a:p>
                  </a:txBody>
                  <a:tcPr marL="22473" marR="22473" marT="14982" marB="14982" anchor="ctr"/>
                </a:tc>
                <a:extLst>
                  <a:ext uri="{0D108BD9-81ED-4DB2-BD59-A6C34878D82A}">
                    <a16:rowId xmlns:a16="http://schemas.microsoft.com/office/drawing/2014/main" val="588644306"/>
                  </a:ext>
                </a:extLst>
              </a:tr>
              <a:tr h="296414">
                <a:tc>
                  <a:txBody>
                    <a:bodyPr/>
                    <a:lstStyle/>
                    <a:p>
                      <a:pPr algn="ctr"/>
                      <a:r>
                        <a:rPr lang="en-US" sz="1200" b="1" dirty="0">
                          <a:effectLst/>
                          <a:latin typeface="Hanken Grotesk" panose="020B0604020202020204" charset="0"/>
                        </a:rPr>
                        <a:t>10</a:t>
                      </a:r>
                    </a:p>
                  </a:txBody>
                  <a:tcPr marL="22473" marR="22473" marT="14982" marB="14982" anchor="ctr"/>
                </a:tc>
                <a:tc>
                  <a:txBody>
                    <a:bodyPr/>
                    <a:lstStyle/>
                    <a:p>
                      <a:pPr algn="ctr"/>
                      <a:r>
                        <a:rPr lang="en-US" sz="1200" dirty="0">
                          <a:effectLst/>
                          <a:latin typeface="Hanken Grotesk" panose="020B0604020202020204" charset="0"/>
                        </a:rPr>
                        <a:t>Linear Regression</a:t>
                      </a:r>
                    </a:p>
                  </a:txBody>
                  <a:tcPr marL="22473" marR="22473" marT="14982" marB="14982" anchor="ctr"/>
                </a:tc>
                <a:tc>
                  <a:txBody>
                    <a:bodyPr/>
                    <a:lstStyle/>
                    <a:p>
                      <a:pPr algn="ctr"/>
                      <a:r>
                        <a:rPr lang="en-US" sz="1200">
                          <a:effectLst/>
                          <a:latin typeface="Hanken Grotesk" panose="020B0604020202020204" charset="0"/>
                        </a:rPr>
                        <a:t>ML</a:t>
                      </a:r>
                    </a:p>
                  </a:txBody>
                  <a:tcPr marL="22473" marR="22473" marT="14982" marB="14982" anchor="ctr"/>
                </a:tc>
                <a:tc>
                  <a:txBody>
                    <a:bodyPr/>
                    <a:lstStyle/>
                    <a:p>
                      <a:pPr algn="ctr"/>
                      <a:r>
                        <a:rPr lang="en-US" sz="1200">
                          <a:effectLst/>
                          <a:latin typeface="Hanken Grotesk" panose="020B0604020202020204" charset="0"/>
                        </a:rPr>
                        <a:t>0.502</a:t>
                      </a:r>
                    </a:p>
                  </a:txBody>
                  <a:tcPr marL="22473" marR="22473" marT="14982" marB="14982" anchor="ctr"/>
                </a:tc>
                <a:tc>
                  <a:txBody>
                    <a:bodyPr/>
                    <a:lstStyle/>
                    <a:p>
                      <a:pPr algn="ctr"/>
                      <a:r>
                        <a:rPr lang="en-US" sz="1200" dirty="0">
                          <a:effectLst/>
                          <a:latin typeface="Hanken Grotesk" panose="020B0604020202020204" charset="0"/>
                        </a:rPr>
                        <a:t>0.649</a:t>
                      </a:r>
                    </a:p>
                  </a:txBody>
                  <a:tcPr marL="22473" marR="22473" marT="14982" marB="14982" anchor="ctr"/>
                </a:tc>
                <a:tc>
                  <a:txBody>
                    <a:bodyPr/>
                    <a:lstStyle/>
                    <a:p>
                      <a:pPr algn="ctr"/>
                      <a:r>
                        <a:rPr lang="en-US" sz="1200" dirty="0">
                          <a:effectLst/>
                          <a:latin typeface="Hanken Grotesk" panose="020B0604020202020204" charset="0"/>
                        </a:rPr>
                        <a:t>25.021</a:t>
                      </a:r>
                    </a:p>
                  </a:txBody>
                  <a:tcPr marL="22473" marR="22473" marT="14982" marB="14982" anchor="ctr"/>
                </a:tc>
                <a:tc>
                  <a:txBody>
                    <a:bodyPr/>
                    <a:lstStyle/>
                    <a:p>
                      <a:pPr algn="ctr"/>
                      <a:r>
                        <a:rPr lang="en-US" sz="1200" dirty="0">
                          <a:effectLst/>
                          <a:latin typeface="Hanken Grotesk" panose="020B0604020202020204" charset="0"/>
                        </a:rPr>
                        <a:t>0.518</a:t>
                      </a:r>
                    </a:p>
                  </a:txBody>
                  <a:tcPr marL="22473" marR="22473" marT="14982" marB="14982" anchor="ctr"/>
                </a:tc>
                <a:extLst>
                  <a:ext uri="{0D108BD9-81ED-4DB2-BD59-A6C34878D82A}">
                    <a16:rowId xmlns:a16="http://schemas.microsoft.com/office/drawing/2014/main" val="1125035275"/>
                  </a:ext>
                </a:extLst>
              </a:tr>
            </a:tbl>
          </a:graphicData>
        </a:graphic>
      </p:graphicFrame>
    </p:spTree>
    <p:extLst>
      <p:ext uri="{BB962C8B-B14F-4D97-AF65-F5344CB8AC3E}">
        <p14:creationId xmlns:p14="http://schemas.microsoft.com/office/powerpoint/2010/main" val="343393405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7AD32-73BE-C78F-039B-F3F22842ED6D}"/>
              </a:ext>
            </a:extLst>
          </p:cNvPr>
          <p:cNvSpPr>
            <a:spLocks noGrp="1"/>
          </p:cNvSpPr>
          <p:nvPr>
            <p:ph type="title"/>
          </p:nvPr>
        </p:nvSpPr>
        <p:spPr>
          <a:xfrm>
            <a:off x="1191768" y="374385"/>
            <a:ext cx="7710900" cy="572700"/>
          </a:xfrm>
        </p:spPr>
        <p:txBody>
          <a:bodyPr/>
          <a:lstStyle/>
          <a:p>
            <a:r>
              <a:rPr lang="en-US" dirty="0"/>
              <a:t>Conclusion</a:t>
            </a:r>
          </a:p>
        </p:txBody>
      </p:sp>
      <p:sp>
        <p:nvSpPr>
          <p:cNvPr id="3" name="Subtitle 2">
            <a:extLst>
              <a:ext uri="{FF2B5EF4-FFF2-40B4-BE49-F238E27FC236}">
                <a16:creationId xmlns:a16="http://schemas.microsoft.com/office/drawing/2014/main" id="{1B83889E-40E6-E7AB-1E23-E4DFD619EBC1}"/>
              </a:ext>
            </a:extLst>
          </p:cNvPr>
          <p:cNvSpPr>
            <a:spLocks noGrp="1"/>
          </p:cNvSpPr>
          <p:nvPr>
            <p:ph type="subTitle" idx="1"/>
          </p:nvPr>
        </p:nvSpPr>
        <p:spPr>
          <a:xfrm>
            <a:off x="1191768" y="947085"/>
            <a:ext cx="6580200" cy="3441726"/>
          </a:xfrm>
        </p:spPr>
        <p:txBody>
          <a:bodyPr/>
          <a:lstStyle/>
          <a:p>
            <a:pPr>
              <a:buFont typeface="Arial" panose="020B0604020202020204" pitchFamily="34" charset="0"/>
              <a:buChar char="•"/>
            </a:pPr>
            <a:endParaRPr lang="en-US" sz="1400" dirty="0"/>
          </a:p>
          <a:p>
            <a:r>
              <a:rPr lang="en-US" sz="1400" dirty="0"/>
              <a:t>The study demonstrates that data-driven machine learning and deep learning models provide accurate short-term load forecasting at the feeder level by effectively capturing nonlinear and temporal demand patterns.</a:t>
            </a:r>
          </a:p>
          <a:p>
            <a:endParaRPr lang="en-US" sz="1400" dirty="0"/>
          </a:p>
          <a:p>
            <a:r>
              <a:rPr lang="en-US" sz="1400" dirty="0"/>
              <a:t>Recurrent neural network models outperformed traditional methods, with the GRU model achieving the best performance, followed closely by LSTM, due to their ability to learn long-term temporal dependencies.</a:t>
            </a:r>
          </a:p>
          <a:p>
            <a:endParaRPr lang="en-US" sz="1400" dirty="0"/>
          </a:p>
          <a:p>
            <a:r>
              <a:rPr lang="en-US" sz="1400" dirty="0"/>
              <a:t>Among machine learning approaches, the tuned </a:t>
            </a:r>
            <a:r>
              <a:rPr lang="en-US" sz="1400" dirty="0" err="1"/>
              <a:t>XGBoost</a:t>
            </a:r>
            <a:r>
              <a:rPr lang="en-US" sz="1400" dirty="0"/>
              <a:t> model delivered the best results, offering a strong balance between forecasting accuracy and computational efficiency.</a:t>
            </a:r>
          </a:p>
          <a:p>
            <a:endParaRPr lang="en-US" sz="1400" dirty="0"/>
          </a:p>
          <a:p>
            <a:r>
              <a:rPr lang="en-US" sz="1400" dirty="0"/>
              <a:t>The proposed forecasting framework is practical for real-world deployment and can support improved operational planning, reliability, and decision-making in power distribution systems.</a:t>
            </a:r>
          </a:p>
        </p:txBody>
      </p:sp>
      <p:sp>
        <p:nvSpPr>
          <p:cNvPr id="4" name="Google Shape;331;p36">
            <a:extLst>
              <a:ext uri="{FF2B5EF4-FFF2-40B4-BE49-F238E27FC236}">
                <a16:creationId xmlns:a16="http://schemas.microsoft.com/office/drawing/2014/main" id="{08944212-BACF-3D64-80E9-A065D9DF078C}"/>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6</a:t>
            </a:r>
            <a:endParaRPr lang="en" sz="3000" dirty="0"/>
          </a:p>
        </p:txBody>
      </p:sp>
      <p:sp>
        <p:nvSpPr>
          <p:cNvPr id="5" name="Google Shape;330;p36">
            <a:extLst>
              <a:ext uri="{FF2B5EF4-FFF2-40B4-BE49-F238E27FC236}">
                <a16:creationId xmlns:a16="http://schemas.microsoft.com/office/drawing/2014/main" id="{C07ECD99-2A9A-D776-BED1-5C7FEF6B395C}"/>
              </a:ext>
            </a:extLst>
          </p:cNvPr>
          <p:cNvSpPr txBox="1">
            <a:spLocks/>
          </p:cNvSpPr>
          <p:nvPr/>
        </p:nvSpPr>
        <p:spPr>
          <a:xfrm>
            <a:off x="241332" y="4609040"/>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23 - </a:t>
            </a:r>
            <a:fld id="{1612EBDF-BBCF-4455-9CA4-C9C775D5C22A}" type="datetime1">
              <a:rPr lang="en-US" sz="1000" smtClean="0"/>
              <a:t>1/16/2026</a:t>
            </a:fld>
            <a:endParaRPr lang="en-US" sz="1000" dirty="0"/>
          </a:p>
        </p:txBody>
      </p:sp>
    </p:spTree>
    <p:extLst>
      <p:ext uri="{BB962C8B-B14F-4D97-AF65-F5344CB8AC3E}">
        <p14:creationId xmlns:p14="http://schemas.microsoft.com/office/powerpoint/2010/main" val="4752799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7AD32-73BE-C78F-039B-F3F22842ED6D}"/>
              </a:ext>
            </a:extLst>
          </p:cNvPr>
          <p:cNvSpPr>
            <a:spLocks noGrp="1"/>
          </p:cNvSpPr>
          <p:nvPr>
            <p:ph type="title"/>
          </p:nvPr>
        </p:nvSpPr>
        <p:spPr>
          <a:xfrm>
            <a:off x="1191768" y="374385"/>
            <a:ext cx="7710900" cy="572700"/>
          </a:xfrm>
        </p:spPr>
        <p:txBody>
          <a:bodyPr/>
          <a:lstStyle/>
          <a:p>
            <a:r>
              <a:rPr lang="en-US" dirty="0"/>
              <a:t>Future Work</a:t>
            </a:r>
          </a:p>
        </p:txBody>
      </p:sp>
      <p:sp>
        <p:nvSpPr>
          <p:cNvPr id="4" name="Google Shape;331;p36">
            <a:extLst>
              <a:ext uri="{FF2B5EF4-FFF2-40B4-BE49-F238E27FC236}">
                <a16:creationId xmlns:a16="http://schemas.microsoft.com/office/drawing/2014/main" id="{08944212-BACF-3D64-80E9-A065D9DF078C}"/>
              </a:ext>
            </a:extLst>
          </p:cNvPr>
          <p:cNvSpPr txBox="1">
            <a:spLocks/>
          </p:cNvSpPr>
          <p:nvPr/>
        </p:nvSpPr>
        <p:spPr>
          <a:xfrm>
            <a:off x="241332" y="242085"/>
            <a:ext cx="824400" cy="705000"/>
          </a:xfrm>
          <a:prstGeom prst="rect">
            <a:avLst/>
          </a:prstGeom>
          <a:solidFill>
            <a:schemeClr val="tx1"/>
          </a:solidFill>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 sz="3000" dirty="0">
                <a:solidFill>
                  <a:schemeClr val="lt1"/>
                </a:solidFill>
                <a:latin typeface="Figtree Black"/>
                <a:sym typeface="Figtree Black"/>
              </a:rPr>
              <a:t>7</a:t>
            </a:r>
            <a:endParaRPr lang="en" sz="3000" dirty="0"/>
          </a:p>
        </p:txBody>
      </p:sp>
      <p:sp>
        <p:nvSpPr>
          <p:cNvPr id="5" name="Google Shape;330;p36">
            <a:extLst>
              <a:ext uri="{FF2B5EF4-FFF2-40B4-BE49-F238E27FC236}">
                <a16:creationId xmlns:a16="http://schemas.microsoft.com/office/drawing/2014/main" id="{C07ECD99-2A9A-D776-BED1-5C7FEF6B395C}"/>
              </a:ext>
            </a:extLst>
          </p:cNvPr>
          <p:cNvSpPr txBox="1">
            <a:spLocks/>
          </p:cNvSpPr>
          <p:nvPr/>
        </p:nvSpPr>
        <p:spPr>
          <a:xfrm>
            <a:off x="241332" y="4609040"/>
            <a:ext cx="3764403" cy="27813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1pPr>
            <a:lvl2pPr marL="914400" marR="0" lvl="1"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2pPr>
            <a:lvl3pPr marL="1371600" marR="0" lvl="2"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3pPr>
            <a:lvl4pPr marL="1828800" marR="0" lvl="3"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4pPr>
            <a:lvl5pPr marL="2286000" marR="0" lvl="4"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5pPr>
            <a:lvl6pPr marL="2743200" marR="0" lvl="5"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6pPr>
            <a:lvl7pPr marL="3200400" marR="0" lvl="6"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7pPr>
            <a:lvl8pPr marL="3657600" marR="0" lvl="7"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8pPr>
            <a:lvl9pPr marL="4114800" marR="0" lvl="8" indent="-317500" algn="ctr" rtl="0">
              <a:lnSpc>
                <a:spcPct val="100000"/>
              </a:lnSpc>
              <a:spcBef>
                <a:spcPts val="0"/>
              </a:spcBef>
              <a:spcAft>
                <a:spcPts val="0"/>
              </a:spcAft>
              <a:buClr>
                <a:schemeClr val="dk1"/>
              </a:buClr>
              <a:buSzPts val="1400"/>
              <a:buFont typeface="Hanken Grotesk"/>
              <a:buNone/>
              <a:defRPr sz="1400" b="0" i="0" u="none" strike="noStrike" cap="none">
                <a:solidFill>
                  <a:schemeClr val="dk1"/>
                </a:solidFill>
                <a:latin typeface="Hanken Grotesk"/>
                <a:ea typeface="Hanken Grotesk"/>
                <a:cs typeface="Hanken Grotesk"/>
                <a:sym typeface="Hanken Grotesk"/>
              </a:defRPr>
            </a:lvl9pPr>
          </a:lstStyle>
          <a:p>
            <a:pPr marL="0" indent="0"/>
            <a:r>
              <a:rPr lang="en-US" sz="1000" dirty="0"/>
              <a:t>Slide 24 - </a:t>
            </a:r>
            <a:fld id="{1612EBDF-BBCF-4455-9CA4-C9C775D5C22A}" type="datetime1">
              <a:rPr lang="en-US" sz="1000" smtClean="0"/>
              <a:t>1/16/2026</a:t>
            </a:fld>
            <a:endParaRPr lang="en-US" sz="1000" dirty="0"/>
          </a:p>
        </p:txBody>
      </p:sp>
      <p:sp>
        <p:nvSpPr>
          <p:cNvPr id="6" name="Rectangle 1">
            <a:extLst>
              <a:ext uri="{FF2B5EF4-FFF2-40B4-BE49-F238E27FC236}">
                <a16:creationId xmlns:a16="http://schemas.microsoft.com/office/drawing/2014/main" id="{2C174B16-6BD4-C28A-201C-F9733A996667}"/>
              </a:ext>
            </a:extLst>
          </p:cNvPr>
          <p:cNvSpPr>
            <a:spLocks noGrp="1" noChangeArrowheads="1"/>
          </p:cNvSpPr>
          <p:nvPr>
            <p:ph type="subTitle" idx="1"/>
          </p:nvPr>
        </p:nvSpPr>
        <p:spPr bwMode="auto">
          <a:xfrm>
            <a:off x="1191768" y="1043597"/>
            <a:ext cx="7174547"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fontAlgn="base">
              <a:buFont typeface="Arial" panose="020B0604020202020204" pitchFamily="34" charset="0"/>
              <a:buChar char="•"/>
            </a:pPr>
            <a:r>
              <a:rPr lang="en-US" altLang="en-US" dirty="0"/>
              <a:t>The proposed forecasting framework can be extended to multiple feeders beyond the </a:t>
            </a:r>
            <a:r>
              <a:rPr lang="en-US" altLang="en-US" dirty="0" err="1"/>
              <a:t>Baneshwor</a:t>
            </a:r>
            <a:r>
              <a:rPr lang="en-US" altLang="en-US" dirty="0"/>
              <a:t> feeder to evaluate its scalability and wider applicability.</a:t>
            </a:r>
          </a:p>
          <a:p>
            <a:pPr fontAlgn="base">
              <a:buFont typeface="Arial" panose="020B0604020202020204" pitchFamily="34" charset="0"/>
              <a:buChar char="•"/>
            </a:pPr>
            <a:endParaRPr lang="en-US" altLang="en-US" dirty="0"/>
          </a:p>
          <a:p>
            <a:pPr fontAlgn="base">
              <a:buFont typeface="Arial" panose="020B0604020202020204" pitchFamily="34" charset="0"/>
              <a:buChar char="•"/>
            </a:pPr>
            <a:r>
              <a:rPr lang="en-US" altLang="en-US" dirty="0"/>
              <a:t>While this study focuses on short-term load forecasting, future work can explore medium- and long-term load prediction for better planning and decision-making.</a:t>
            </a:r>
          </a:p>
          <a:p>
            <a:pPr fontAlgn="base">
              <a:buFont typeface="Arial" panose="020B0604020202020204" pitchFamily="34" charset="0"/>
              <a:buChar char="•"/>
            </a:pPr>
            <a:endParaRPr lang="en-US" altLang="en-US" dirty="0"/>
          </a:p>
          <a:p>
            <a:pPr fontAlgn="base">
              <a:buFont typeface="Arial" panose="020B0604020202020204" pitchFamily="34" charset="0"/>
              <a:buChar char="•"/>
            </a:pPr>
            <a:r>
              <a:rPr lang="en-US" altLang="en-US" dirty="0"/>
              <a:t>The model performance can be further improved by using a longer historical dataset covering more years of load and weather data.</a:t>
            </a:r>
          </a:p>
        </p:txBody>
      </p:sp>
    </p:spTree>
    <p:extLst>
      <p:ext uri="{BB962C8B-B14F-4D97-AF65-F5344CB8AC3E}">
        <p14:creationId xmlns:p14="http://schemas.microsoft.com/office/powerpoint/2010/main" val="81555388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856;p60">
            <a:extLst>
              <a:ext uri="{FF2B5EF4-FFF2-40B4-BE49-F238E27FC236}">
                <a16:creationId xmlns:a16="http://schemas.microsoft.com/office/drawing/2014/main" id="{F8A6C340-75AE-EE35-2E40-C1E36612A167}"/>
              </a:ext>
            </a:extLst>
          </p:cNvPr>
          <p:cNvSpPr txBox="1">
            <a:spLocks/>
          </p:cNvSpPr>
          <p:nvPr/>
        </p:nvSpPr>
        <p:spPr>
          <a:xfrm>
            <a:off x="1082688" y="523682"/>
            <a:ext cx="4448100" cy="1058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Figtree Black"/>
              <a:buNone/>
              <a:defRPr sz="3800" b="0" i="0" u="none" strike="noStrike" cap="none">
                <a:solidFill>
                  <a:schemeClr val="dk1"/>
                </a:solidFill>
                <a:latin typeface="Figtree Black"/>
                <a:ea typeface="Figtree Black"/>
                <a:cs typeface="Figtree Black"/>
                <a:sym typeface="Figtree Black"/>
              </a:defRPr>
            </a:lvl1pPr>
            <a:lvl2pPr marR="0" lvl="1"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2pPr>
            <a:lvl3pPr marR="0" lvl="2"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3pPr>
            <a:lvl4pPr marR="0" lvl="3"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4pPr>
            <a:lvl5pPr marR="0" lvl="4"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5pPr>
            <a:lvl6pPr marR="0" lvl="5"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6pPr>
            <a:lvl7pPr marR="0" lvl="6"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7pPr>
            <a:lvl8pPr marR="0" lvl="7"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8pPr>
            <a:lvl9pPr marR="0" lvl="8" algn="ctr" rtl="0">
              <a:lnSpc>
                <a:spcPct val="100000"/>
              </a:lnSpc>
              <a:spcBef>
                <a:spcPts val="0"/>
              </a:spcBef>
              <a:spcAft>
                <a:spcPts val="0"/>
              </a:spcAft>
              <a:buClr>
                <a:schemeClr val="dk1"/>
              </a:buClr>
              <a:buSzPts val="5200"/>
              <a:buFont typeface="Figtree Black"/>
              <a:buNone/>
              <a:defRPr sz="5200" b="0" i="0" u="none" strike="noStrike" cap="none">
                <a:solidFill>
                  <a:schemeClr val="dk1"/>
                </a:solidFill>
                <a:latin typeface="Figtree Black"/>
                <a:ea typeface="Figtree Black"/>
                <a:cs typeface="Figtree Black"/>
                <a:sym typeface="Figtree Black"/>
              </a:defRPr>
            </a:lvl9pPr>
          </a:lstStyle>
          <a:p>
            <a:r>
              <a:rPr lang="en-US" sz="4800" dirty="0"/>
              <a:t>Thanks</a:t>
            </a:r>
            <a:r>
              <a:rPr lang="en-US" sz="3200" dirty="0"/>
              <a:t>!</a:t>
            </a:r>
          </a:p>
        </p:txBody>
      </p:sp>
      <p:sp>
        <p:nvSpPr>
          <p:cNvPr id="5" name="Google Shape;857;p60">
            <a:extLst>
              <a:ext uri="{FF2B5EF4-FFF2-40B4-BE49-F238E27FC236}">
                <a16:creationId xmlns:a16="http://schemas.microsoft.com/office/drawing/2014/main" id="{7DB76A5F-F4A8-3A6C-EF76-F5C6457BB41C}"/>
              </a:ext>
            </a:extLst>
          </p:cNvPr>
          <p:cNvSpPr txBox="1">
            <a:spLocks noGrp="1"/>
          </p:cNvSpPr>
          <p:nvPr>
            <p:ph type="subTitle" idx="1"/>
          </p:nvPr>
        </p:nvSpPr>
        <p:spPr>
          <a:xfrm>
            <a:off x="1082688" y="1381629"/>
            <a:ext cx="4448100" cy="2562348"/>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Do you have any questions?</a:t>
            </a:r>
          </a:p>
          <a:p>
            <a:pPr marL="0" lvl="0" indent="0" algn="l" rtl="0">
              <a:spcBef>
                <a:spcPts val="0"/>
              </a:spcBef>
              <a:spcAft>
                <a:spcPts val="0"/>
              </a:spcAft>
              <a:buNone/>
            </a:pPr>
            <a:endParaRPr lang="en" b="1" dirty="0"/>
          </a:p>
          <a:p>
            <a:pPr marL="0" lvl="0" indent="0" algn="l" rtl="0">
              <a:spcBef>
                <a:spcPts val="0"/>
              </a:spcBef>
              <a:spcAft>
                <a:spcPts val="0"/>
              </a:spcAft>
              <a:buNone/>
            </a:pPr>
            <a:r>
              <a:rPr lang="en-US" b="1" dirty="0"/>
              <a:t>Presenter,</a:t>
            </a:r>
          </a:p>
          <a:p>
            <a:pPr marL="0" lvl="0" indent="0" algn="l" rtl="0">
              <a:spcBef>
                <a:spcPts val="0"/>
              </a:spcBef>
              <a:spcAft>
                <a:spcPts val="0"/>
              </a:spcAft>
              <a:buNone/>
            </a:pPr>
            <a:r>
              <a:rPr lang="en-US" b="1" dirty="0"/>
              <a:t>Sujit Koirala </a:t>
            </a:r>
          </a:p>
          <a:p>
            <a:pPr marL="0" lvl="0" indent="0" algn="l" rtl="0">
              <a:spcBef>
                <a:spcPts val="0"/>
              </a:spcBef>
              <a:spcAft>
                <a:spcPts val="0"/>
              </a:spcAft>
              <a:buNone/>
            </a:pPr>
            <a:endParaRPr lang="en-US" b="1" dirty="0"/>
          </a:p>
          <a:p>
            <a:pPr marL="0" lvl="0" indent="0" algn="l" rtl="0">
              <a:spcBef>
                <a:spcPts val="0"/>
              </a:spcBef>
              <a:spcAft>
                <a:spcPts val="0"/>
              </a:spcAft>
              <a:buNone/>
            </a:pPr>
            <a:r>
              <a:rPr lang="en-US" dirty="0"/>
              <a:t>The Department Of Electrical Engineering </a:t>
            </a:r>
          </a:p>
          <a:p>
            <a:pPr marL="0" lvl="0" indent="0" algn="l" rtl="0">
              <a:spcBef>
                <a:spcPts val="0"/>
              </a:spcBef>
              <a:spcAft>
                <a:spcPts val="0"/>
              </a:spcAft>
              <a:buNone/>
            </a:pPr>
            <a:r>
              <a:rPr lang="en-US" dirty="0"/>
              <a:t>Masters Of Science In Power System Engineering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Tribhuvan University</a:t>
            </a:r>
          </a:p>
          <a:p>
            <a:pPr marL="0" lvl="0" indent="0" algn="l" rtl="0">
              <a:spcBef>
                <a:spcPts val="0"/>
              </a:spcBef>
              <a:spcAft>
                <a:spcPts val="0"/>
              </a:spcAft>
              <a:buNone/>
            </a:pPr>
            <a:r>
              <a:rPr lang="en-US" dirty="0"/>
              <a:t>Institute of Engineering</a:t>
            </a:r>
          </a:p>
          <a:p>
            <a:pPr marL="0" lvl="0" indent="0" algn="l" rtl="0">
              <a:spcBef>
                <a:spcPts val="0"/>
              </a:spcBef>
              <a:spcAft>
                <a:spcPts val="0"/>
              </a:spcAft>
              <a:buNone/>
            </a:pPr>
            <a:r>
              <a:rPr lang="en-US" dirty="0" err="1"/>
              <a:t>Pulchowk</a:t>
            </a:r>
            <a:r>
              <a:rPr lang="en-US" dirty="0"/>
              <a:t> Campus</a:t>
            </a:r>
          </a:p>
          <a:p>
            <a:pPr marL="0" lvl="0" indent="0" algn="l" rtl="0">
              <a:spcBef>
                <a:spcPts val="0"/>
              </a:spcBef>
              <a:spcAft>
                <a:spcPts val="0"/>
              </a:spcAft>
              <a:buNone/>
            </a:pPr>
            <a:endParaRPr b="1" dirty="0"/>
          </a:p>
        </p:txBody>
      </p:sp>
    </p:spTree>
    <p:extLst>
      <p:ext uri="{BB962C8B-B14F-4D97-AF65-F5344CB8AC3E}">
        <p14:creationId xmlns:p14="http://schemas.microsoft.com/office/powerpoint/2010/main" val="27992306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48"/>
          <p:cNvSpPr txBox="1">
            <a:spLocks noGrp="1"/>
          </p:cNvSpPr>
          <p:nvPr>
            <p:ph type="title"/>
          </p:nvPr>
        </p:nvSpPr>
        <p:spPr>
          <a:xfrm>
            <a:off x="546380" y="364002"/>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References</a:t>
            </a:r>
            <a:endParaRPr dirty="0"/>
          </a:p>
        </p:txBody>
      </p:sp>
      <p:sp>
        <p:nvSpPr>
          <p:cNvPr id="596" name="Google Shape;596;p48"/>
          <p:cNvSpPr txBox="1">
            <a:spLocks noGrp="1"/>
          </p:cNvSpPr>
          <p:nvPr>
            <p:ph type="body" idx="1"/>
          </p:nvPr>
        </p:nvSpPr>
        <p:spPr>
          <a:xfrm>
            <a:off x="546380" y="874176"/>
            <a:ext cx="7704000" cy="3876995"/>
          </a:xfrm>
          <a:prstGeom prst="rect">
            <a:avLst/>
          </a:prstGeom>
        </p:spPr>
        <p:txBody>
          <a:bodyPr spcFirstLastPara="1" wrap="square" lIns="91425" tIns="91425" rIns="91425" bIns="91425" anchor="t" anchorCtr="0">
            <a:noAutofit/>
          </a:bodyPr>
          <a:lstStyle/>
          <a:p>
            <a:pPr marL="457200" lvl="0" indent="-317500" algn="l" rtl="0">
              <a:spcBef>
                <a:spcPts val="1000"/>
              </a:spcBef>
              <a:spcAft>
                <a:spcPts val="0"/>
              </a:spcAft>
              <a:buSzPts val="1400"/>
              <a:buFont typeface="Hanken Grotesk"/>
              <a:buChar char="●"/>
            </a:pPr>
            <a:r>
              <a:rPr lang="en-US" sz="1050" dirty="0"/>
              <a:t>Acharya, S., </a:t>
            </a:r>
            <a:r>
              <a:rPr lang="en-US" sz="1050" dirty="0" err="1"/>
              <a:t>Luintel</a:t>
            </a:r>
            <a:r>
              <a:rPr lang="en-US" sz="1050" dirty="0"/>
              <a:t>, M. C., &amp; </a:t>
            </a:r>
            <a:r>
              <a:rPr lang="en-US" sz="1050" dirty="0" err="1"/>
              <a:t>Badrudoza</a:t>
            </a:r>
            <a:r>
              <a:rPr lang="en-US" sz="1050" dirty="0"/>
              <a:t>, M. (n.d.). Short-term load forecasting of </a:t>
            </a:r>
            <a:r>
              <a:rPr lang="en-US" sz="1050" dirty="0" err="1"/>
              <a:t>Gothatar</a:t>
            </a:r>
            <a:r>
              <a:rPr lang="en-US" sz="1050" dirty="0"/>
              <a:t> feeder of Nepal Electricity Authority using Recurrent Neural Network. Publisher not specified.</a:t>
            </a:r>
          </a:p>
          <a:p>
            <a:pPr marL="457200" lvl="0" indent="-317500" algn="l" rtl="0">
              <a:spcBef>
                <a:spcPts val="1000"/>
              </a:spcBef>
              <a:spcAft>
                <a:spcPts val="0"/>
              </a:spcAft>
              <a:buSzPts val="1400"/>
              <a:buFont typeface="Hanken Grotesk"/>
              <a:buChar char="●"/>
            </a:pPr>
            <a:r>
              <a:rPr lang="en-US" sz="1050" dirty="0"/>
              <a:t>Desai, S., Dalal, T., Kadam, S., &amp; Mishra, S. (2021). Electrical load forecasting using machine learning. IEEE (ICSCAN 2021).</a:t>
            </a:r>
          </a:p>
          <a:p>
            <a:pPr marL="457200" lvl="0" indent="-317500" algn="l" rtl="0">
              <a:spcBef>
                <a:spcPts val="1000"/>
              </a:spcBef>
              <a:spcAft>
                <a:spcPts val="0"/>
              </a:spcAft>
              <a:buSzPts val="1400"/>
              <a:buFont typeface="Hanken Grotesk"/>
              <a:buChar char="●"/>
            </a:pPr>
            <a:r>
              <a:rPr lang="en-US" sz="1050" dirty="0"/>
              <a:t>Singla, M. K., Gupta, J., Nijhawan, P., &amp; Oberoi, A. S. (2019). Electrical load forecasting using machine learning. International Journal.</a:t>
            </a:r>
          </a:p>
          <a:p>
            <a:pPr marL="457200" lvl="0" indent="-317500" algn="l" rtl="0">
              <a:spcBef>
                <a:spcPts val="1000"/>
              </a:spcBef>
              <a:spcAft>
                <a:spcPts val="0"/>
              </a:spcAft>
              <a:buSzPts val="1400"/>
              <a:buFont typeface="Hanken Grotesk"/>
              <a:buChar char="●"/>
            </a:pPr>
            <a:r>
              <a:rPr lang="en-US" sz="1050" dirty="0"/>
              <a:t>Saglam, M., </a:t>
            </a:r>
            <a:r>
              <a:rPr lang="en-US" sz="1050" dirty="0" err="1"/>
              <a:t>Lv</a:t>
            </a:r>
            <a:r>
              <a:rPr lang="en-US" sz="1050" dirty="0"/>
              <a:t>, X., </a:t>
            </a:r>
            <a:r>
              <a:rPr lang="en-US" sz="1050" dirty="0" err="1"/>
              <a:t>Spataru</a:t>
            </a:r>
            <a:r>
              <a:rPr lang="en-US" sz="1050" dirty="0"/>
              <a:t>, C., &amp; </a:t>
            </a:r>
            <a:r>
              <a:rPr lang="en-US" sz="1050" dirty="0" err="1"/>
              <a:t>Karaman</a:t>
            </a:r>
            <a:r>
              <a:rPr lang="en-US" sz="1050" dirty="0"/>
              <a:t>, O. A. (2024). Instantaneous electricity peak load forecasting using optimization and machine learning. Energies.</a:t>
            </a:r>
          </a:p>
          <a:p>
            <a:pPr marL="457200" lvl="0" indent="-317500" algn="l" rtl="0">
              <a:spcBef>
                <a:spcPts val="1000"/>
              </a:spcBef>
              <a:spcAft>
                <a:spcPts val="0"/>
              </a:spcAft>
              <a:buSzPts val="1400"/>
              <a:buFont typeface="Hanken Grotesk"/>
              <a:buChar char="●"/>
            </a:pPr>
            <a:r>
              <a:rPr lang="en-US" sz="1050" dirty="0" err="1"/>
              <a:t>Matrenin</a:t>
            </a:r>
            <a:r>
              <a:rPr lang="en-US" sz="1050" dirty="0"/>
              <a:t>, P., </a:t>
            </a:r>
            <a:r>
              <a:rPr lang="en-US" sz="1050" dirty="0" err="1"/>
              <a:t>Safaraliev</a:t>
            </a:r>
            <a:r>
              <a:rPr lang="en-US" sz="1050" dirty="0"/>
              <a:t>, M., Dmitriev, S., Kokin, S., </a:t>
            </a:r>
            <a:r>
              <a:rPr lang="en-US" sz="1050" dirty="0" err="1"/>
              <a:t>Ghulomzoda</a:t>
            </a:r>
            <a:r>
              <a:rPr lang="en-US" sz="1050" dirty="0"/>
              <a:t>, A., &amp; </a:t>
            </a:r>
            <a:r>
              <a:rPr lang="en-US" sz="1050" dirty="0" err="1"/>
              <a:t>Mitrofanov</a:t>
            </a:r>
            <a:r>
              <a:rPr lang="en-US" sz="1050" dirty="0"/>
              <a:t>, S. (2022). Medium-term load forecasting in isolated power systems based on ensemble machine learning models. Energy Reports.</a:t>
            </a:r>
          </a:p>
          <a:p>
            <a:pPr marL="457200" lvl="0" indent="-317500" algn="l" rtl="0">
              <a:spcBef>
                <a:spcPts val="1000"/>
              </a:spcBef>
              <a:spcAft>
                <a:spcPts val="0"/>
              </a:spcAft>
              <a:buSzPts val="1400"/>
              <a:buFont typeface="Hanken Grotesk"/>
              <a:buChar char="●"/>
            </a:pPr>
            <a:r>
              <a:rPr lang="en-US" sz="1050" dirty="0"/>
              <a:t>Aguilar Madrid, E., &amp; Antonio, N. (2021). Short-term electricity load forecasting with machine learning. Information.</a:t>
            </a:r>
          </a:p>
          <a:p>
            <a:pPr marL="457200" lvl="0" indent="-317500" algn="l" rtl="0">
              <a:spcBef>
                <a:spcPts val="1000"/>
              </a:spcBef>
              <a:spcAft>
                <a:spcPts val="0"/>
              </a:spcAft>
              <a:buSzPts val="1400"/>
              <a:buFont typeface="Hanken Grotesk"/>
              <a:buChar char="●"/>
            </a:pPr>
            <a:r>
              <a:rPr lang="en-US" sz="1050" dirty="0"/>
              <a:t>Cordeiro-Costas, M., Villanueva, D., </a:t>
            </a:r>
            <a:r>
              <a:rPr lang="en-US" sz="1050" dirty="0" err="1"/>
              <a:t>Eguía-Oller</a:t>
            </a:r>
            <a:r>
              <a:rPr lang="en-US" sz="1050" dirty="0"/>
              <a:t>, P., Martínez-</a:t>
            </a:r>
            <a:r>
              <a:rPr lang="en-US" sz="1050" dirty="0" err="1"/>
              <a:t>Comesaña</a:t>
            </a:r>
            <a:r>
              <a:rPr lang="en-US" sz="1050" dirty="0"/>
              <a:t>, M., &amp; Ramos, S. (2023). Load forecasting with machine learning and deep learning methods. Applied Sciences.</a:t>
            </a:r>
          </a:p>
          <a:p>
            <a:pPr marL="457200" lvl="0" indent="-317500" algn="l" rtl="0">
              <a:spcBef>
                <a:spcPts val="1000"/>
              </a:spcBef>
              <a:spcAft>
                <a:spcPts val="0"/>
              </a:spcAft>
              <a:buSzPts val="1400"/>
              <a:buFont typeface="Hanken Grotesk"/>
              <a:buChar char="●"/>
            </a:pPr>
            <a:r>
              <a:rPr lang="en-US" sz="1050" dirty="0"/>
              <a:t>Guo, W., Che, L., </a:t>
            </a:r>
            <a:r>
              <a:rPr lang="en-US" sz="1050" dirty="0" err="1"/>
              <a:t>Shahidehpour</a:t>
            </a:r>
            <a:r>
              <a:rPr lang="en-US" sz="1050" dirty="0"/>
              <a:t>, M., &amp; Wan, X. (2021). Machine-learning-based methods in short-term load forecasting. The Electricity Journal.</a:t>
            </a:r>
          </a:p>
          <a:p>
            <a:pPr marL="457200" lvl="0" indent="-317500" algn="l" rtl="0">
              <a:spcBef>
                <a:spcPts val="1000"/>
              </a:spcBef>
              <a:spcAft>
                <a:spcPts val="0"/>
              </a:spcAft>
              <a:buSzPts val="1400"/>
              <a:buFont typeface="Hanken Grotesk"/>
              <a:buChar char="●"/>
            </a:pPr>
            <a:r>
              <a:rPr lang="en-US" sz="1050" dirty="0" err="1"/>
              <a:t>Chapagain</a:t>
            </a:r>
            <a:r>
              <a:rPr lang="en-US" sz="1050" dirty="0"/>
              <a:t>, K., Acharya, S., </a:t>
            </a:r>
            <a:r>
              <a:rPr lang="en-US" sz="1050" dirty="0" err="1"/>
              <a:t>Bhusal</a:t>
            </a:r>
            <a:r>
              <a:rPr lang="en-US" sz="1050" dirty="0"/>
              <a:t>, H., </a:t>
            </a:r>
            <a:r>
              <a:rPr lang="en-US" sz="1050" dirty="0" err="1"/>
              <a:t>Katuwal</a:t>
            </a:r>
            <a:r>
              <a:rPr lang="en-US" sz="1050" dirty="0"/>
              <a:t>, S., </a:t>
            </a:r>
            <a:r>
              <a:rPr lang="en-US" sz="1050" dirty="0" err="1"/>
              <a:t>Lakhey</a:t>
            </a:r>
            <a:r>
              <a:rPr lang="en-US" sz="1050" dirty="0"/>
              <a:t>, O., Neupane, P., Sah, R. K., Tamang, B., &amp; </a:t>
            </a:r>
            <a:r>
              <a:rPr lang="en-US" sz="1050" dirty="0" err="1"/>
              <a:t>Rajbhandari</a:t>
            </a:r>
            <a:r>
              <a:rPr lang="en-US" sz="1050" dirty="0"/>
              <a:t>, Y. (2021). Short-term electricity demand forecasting for Kathmandu Valley, Nepal. Kathmandu University Journal of Science, Engineering and Technology.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489</TotalTime>
  <Words>2068</Words>
  <Application>Microsoft Office PowerPoint</Application>
  <PresentationFormat>On-screen Show (16:9)</PresentationFormat>
  <Paragraphs>455</Paragraphs>
  <Slides>29</Slides>
  <Notes>10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29</vt:i4>
      </vt:variant>
    </vt:vector>
  </HeadingPairs>
  <TitlesOfParts>
    <vt:vector size="39" baseType="lpstr">
      <vt:lpstr>Figtree Black</vt:lpstr>
      <vt:lpstr>Cambria Math</vt:lpstr>
      <vt:lpstr>Nunito Light</vt:lpstr>
      <vt:lpstr>Arial</vt:lpstr>
      <vt:lpstr>Aptos Display</vt:lpstr>
      <vt:lpstr>Hanken Grotesk</vt:lpstr>
      <vt:lpstr>Aptos</vt:lpstr>
      <vt:lpstr>Google Sans Text</vt:lpstr>
      <vt:lpstr>Lato</vt:lpstr>
      <vt:lpstr>Office Theme</vt:lpstr>
      <vt:lpstr>SHORT-TERM ELECTRICAL LOAD FORECASTING FOR BANESHWOR FEEDER USING MACHINE AND DEEP LEARNING MODELS</vt:lpstr>
      <vt:lpstr>Table of contents</vt:lpstr>
      <vt:lpstr>Introduction</vt:lpstr>
      <vt:lpstr>PowerPoint Presentation</vt:lpstr>
      <vt:lpstr>Problem Statement</vt:lpstr>
      <vt:lpstr>Objectives</vt:lpstr>
      <vt:lpstr>Literature Review</vt:lpstr>
      <vt:lpstr>Literature Review</vt:lpstr>
      <vt:lpstr>Methodology</vt:lpstr>
      <vt:lpstr>Data Acquisition &amp; Preprocessing</vt:lpstr>
      <vt:lpstr>Data Acquisition &amp; Preprocessing</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Future Work</vt:lpstr>
      <vt:lpstr>PowerPoint Presentation</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Ashish Gupta</cp:lastModifiedBy>
  <cp:revision>54</cp:revision>
  <dcterms:modified xsi:type="dcterms:W3CDTF">2026-01-16T02:20:04Z</dcterms:modified>
</cp:coreProperties>
</file>